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Expected ordering is a hypothesis. Rhiza includes reusable code; all three arms may retain their own work. One follow-up cannot establish recursive improvement or community-scale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Sandbox probes passed in all three environments: approved HTTPS worked; direct egress, unapproved libraries/data and write requests were blocked. Public ECDS access is not proof of authenticated S2S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judge cannot override failed numerical checks. The main report shows completion, scientific quality, tokens/cost/time, and follow-up performance. Borderline judgments receive human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Exploratory uncertainty intervals include no improvement. Private evaluation years have not been inspected. Source: results/development-scores.json and results/other-arms-feasibility.json.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PAUSED before model calls. Next: choose model and budget; freeze the chosen reference/data policy; resolve case-specific scientific issues; agree to launch one six-attempt suite. The full three-case pilot is 18 attempts per access mode. No fabricated result ordering.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57C77"/>
                </a:solidFill>
                <a:latin typeface="Aptos"/>
              </a:defRPr>
            </a:pPr>
            <a:r>
              <a:t>THE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100" b="1">
                <a:solidFill>
                  <a:srgbClr val="17313B"/>
                </a:solidFill>
                <a:latin typeface="Aptos"/>
              </a:defRPr>
            </a:pPr>
            <a:r>
              <a:t>Give coding agents a substrate that lasts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0">
                <a:solidFill>
                  <a:srgbClr val="58666B"/>
                </a:solidFill>
                <a:latin typeface="Aptos"/>
              </a:defRPr>
            </a:pPr>
            <a:r>
              <a:t>The agent does the work in every arm. We test what helps that work accumulate.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31720"/>
            <a:ext cx="3630168" cy="2651760"/>
          </a:xfrm>
          <a:prstGeom prst="roundRect">
            <a:avLst/>
          </a:prstGeom>
          <a:solidFill>
            <a:srgbClr val="E2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487168"/>
            <a:ext cx="3300984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000" b="1">
                <a:solidFill>
                  <a:srgbClr val="157C77"/>
                </a:solidFill>
                <a:latin typeface="Aptos"/>
              </a:defRPr>
            </a:pPr>
            <a:r>
              <a:t>Claude from scratch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118103"/>
            <a:ext cx="3300984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0">
                <a:solidFill>
                  <a:srgbClr val="17313B"/>
                </a:solidFill>
                <a:latin typeface="Aptos"/>
              </a:defRPr>
            </a:pPr>
            <a:r>
              <a:t>Generic scientific Python and internet access. The agent discovers data and builds its own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2331720"/>
            <a:ext cx="3630168" cy="2651760"/>
          </a:xfrm>
          <a:prstGeom prst="roundRect">
            <a:avLst/>
          </a:prstGeom>
          <a:solidFill>
            <a:srgbClr val="E2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2487168"/>
            <a:ext cx="3300984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000" b="1">
                <a:solidFill>
                  <a:srgbClr val="157C77"/>
                </a:solidFill>
                <a:latin typeface="Aptos"/>
              </a:defRPr>
            </a:pPr>
            <a:r>
              <a:t>Claude + Rhiza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118103"/>
            <a:ext cx="3300984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0">
                <a:solidFill>
                  <a:srgbClr val="17313B"/>
                </a:solidFill>
                <a:latin typeface="Aptos"/>
              </a:defRPr>
            </a:pPr>
            <a:r>
              <a:t>Pinned skills, scripts and documentation. The agent composes an existing procedure into a solution.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2331720"/>
            <a:ext cx="3630168" cy="2651760"/>
          </a:xfrm>
          <a:prstGeom prst="roundRect">
            <a:avLst/>
          </a:prstGeom>
          <a:solidFill>
            <a:srgbClr val="E2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2487168"/>
            <a:ext cx="3300984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000" b="1">
                <a:solidFill>
                  <a:srgbClr val="157C77"/>
                </a:solidFill>
                <a:latin typeface="Aptos"/>
              </a:defRPr>
            </a:pPr>
            <a:r>
              <a:t>Claude + ACCORD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3118103"/>
            <a:ext cx="3300984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0">
                <a:solidFill>
                  <a:srgbClr val="17313B"/>
                </a:solidFill>
                <a:latin typeface="Aptos"/>
              </a:defRPr>
            </a:pPr>
            <a:r>
              <a:t>Pinned DeepScale and Rosetta. The agent can build on data adapters, scientific methods and fitted models.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66360"/>
            <a:ext cx="11201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000" b="1">
                <a:solidFill>
                  <a:srgbClr val="157C77"/>
                </a:solidFill>
                <a:latin typeface="Aptos"/>
              </a:defRPr>
            </a:pPr>
            <a:r>
              <a:t>Hypothesis: maintained scientific capabilities reduce repeated work and improve results across iterations.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53328"/>
            <a:ext cx="1088136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58666B"/>
                </a:solidFill>
                <a:latin typeface="Aptos"/>
              </a:defRPr>
            </a:pPr>
            <a:r>
              <a:t>Expected ordering is a hypothesis. Rhiza includes reusable code; all three arms may retain their own work. One follow-up cannot establish recursive improvement or community-scale effects.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519672"/>
            <a:ext cx="2743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 b="0">
                <a:solidFill>
                  <a:srgbClr val="58666B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57C77"/>
                </a:solidFill>
                <a:latin typeface="Aptos"/>
              </a:defRPr>
            </a:pPr>
            <a:r>
              <a:t>A FAIR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100" b="1">
                <a:solidFill>
                  <a:srgbClr val="17313B"/>
                </a:solidFill>
                <a:latin typeface="Aptos"/>
              </a:defRPr>
            </a:pPr>
            <a:r>
              <a:t>Change the tools. Hold the opportunity constant.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0">
                <a:solidFill>
                  <a:srgbClr val="58666B"/>
                </a:solidFill>
                <a:latin typeface="Aptos"/>
              </a:defRPr>
            </a:pPr>
            <a:r>
              <a:t>Same model, task, token/spend limits, compute resources, source permissions and data credentials.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31720"/>
            <a:ext cx="3630168" cy="2651760"/>
          </a:xfrm>
          <a:prstGeom prst="roundRect">
            <a:avLst/>
          </a:prstGeom>
          <a:solidFill>
            <a:srgbClr val="E2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487168"/>
            <a:ext cx="3300984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000" b="1">
                <a:solidFill>
                  <a:srgbClr val="157C77"/>
                </a:solidFill>
                <a:latin typeface="Aptos"/>
              </a:defRPr>
            </a:pPr>
            <a:r>
              <a:t>1  Initial attempt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118103"/>
            <a:ext cx="3300984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0">
                <a:solidFill>
                  <a:srgbClr val="17313B"/>
                </a:solidFill>
                <a:latin typeface="Aptos"/>
              </a:defRPr>
            </a:pPr>
            <a:r>
              <a:t>An isolated workspace. Scratch cannot import the other toolkits. Rhiza receives its catalog; ACCORD receives its libraries and documentation.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2331720"/>
            <a:ext cx="3630168" cy="2651760"/>
          </a:xfrm>
          <a:prstGeom prst="roundRect">
            <a:avLst/>
          </a:prstGeom>
          <a:solidFill>
            <a:srgbClr val="E2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2487168"/>
            <a:ext cx="3300984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000" b="1">
                <a:solidFill>
                  <a:srgbClr val="157C77"/>
                </a:solidFill>
                <a:latin typeface="Aptos"/>
              </a:defRPr>
            </a:pPr>
            <a:r>
              <a:t>2  Freeze and evaluate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118103"/>
            <a:ext cx="3300984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0">
                <a:solidFill>
                  <a:srgbClr val="17313B"/>
                </a:solidFill>
                <a:latin typeface="Aptos"/>
              </a:defRPr>
            </a:pPr>
            <a:r>
              <a:t>Save code, outputs and provenance. Check numbers independently, rerun offline, then use one evidence-citing LLM judge.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2331720"/>
            <a:ext cx="3630168" cy="2651760"/>
          </a:xfrm>
          <a:prstGeom prst="roundRect">
            <a:avLst/>
          </a:prstGeom>
          <a:solidFill>
            <a:srgbClr val="E2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2487168"/>
            <a:ext cx="3300984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000" b="1">
                <a:solidFill>
                  <a:srgbClr val="157C77"/>
                </a:solidFill>
                <a:latin typeface="Aptos"/>
              </a:defRPr>
            </a:pPr>
            <a:r>
              <a:t>3  Related follow-up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3118103"/>
            <a:ext cx="3300984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0">
                <a:solidFill>
                  <a:srgbClr val="17313B"/>
                </a:solidFill>
                <a:latin typeface="Aptos"/>
              </a:defRPr>
            </a:pPr>
            <a:r>
              <a:t>Fresh conversation, same arm’s saved code, models, data and notes. Measure correctness, cost, time and repairs again.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66360"/>
            <a:ext cx="11201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000" b="1">
                <a:solidFill>
                  <a:srgbClr val="157C77"/>
                </a:solidFill>
                <a:latin typeface="Aptos"/>
              </a:defRPr>
            </a:pPr>
            <a:r>
              <a:t>Controlled access first. Open-web replication is separate and requires an audit of downloaded tools.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53328"/>
            <a:ext cx="1088136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58666B"/>
                </a:solidFill>
                <a:latin typeface="Aptos"/>
              </a:defRPr>
            </a:pPr>
            <a:r>
              <a:t>Sandbox probes passed in all three environments: approved HTTPS worked; direct egress, unapproved libraries/data and write requests were blocked. Public ECDS access is not proof of authenticated S2S retrieval.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519672"/>
            <a:ext cx="2743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 b="0">
                <a:solidFill>
                  <a:srgbClr val="58666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57C77"/>
                </a:solidFill>
                <a:latin typeface="Aptos"/>
              </a:defRPr>
            </a:pPr>
            <a:r>
              <a:t>THREE CASES, ONE EVALUATION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100" b="1">
                <a:solidFill>
                  <a:srgbClr val="17313B"/>
                </a:solidFill>
                <a:latin typeface="Aptos"/>
              </a:defRPr>
            </a:pPr>
            <a:r>
              <a:t>Numerical evidence underneath. A readable scorecard on top.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0">
                <a:solidFill>
                  <a:srgbClr val="58666B"/>
                </a:solidFill>
                <a:latin typeface="Aptos"/>
              </a:defRPr>
            </a:pPr>
            <a:r>
              <a:t>No weighted leaderboard. A scientifically valid negative result can complete the task.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33172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480560"/>
                <a:gridCol w="4617720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Case</a:t>
                      </a:r>
                    </a:p>
                  </a:txBody>
                  <a:tcPr marL="109728" marT="91440">
                    <a:solidFill>
                      <a:srgbClr val="157C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Independent numerical checks</a:t>
                      </a:r>
                    </a:p>
                  </a:txBody>
                  <a:tcPr marL="109728" marT="91440">
                    <a:solidFill>
                      <a:srgbClr val="157C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Scientific measurement</a:t>
                      </a:r>
                    </a:p>
                  </a:txBody>
                  <a:tcPr marL="109728" marT="91440">
                    <a:solidFill>
                      <a:srgbClr val="157C7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13B"/>
                          </a:solidFill>
                          <a:latin typeface="Aptos"/>
                        </a:defRPr>
                      </a:pPr>
                      <a:r>
                        <a:t>Seasonal rainfall</a:t>
                      </a:r>
                    </a:p>
                  </a:txBody>
                  <a:tcPr marL="109728" marT="91440">
                    <a:solidFill>
                      <a:srgbClr val="E2E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13B"/>
                          </a:solidFill>
                          <a:latin typeface="Aptos"/>
                        </a:defRPr>
                      </a:pPr>
                      <a:r>
                        <a:t>Aggregation, training separation, coverage, probabilities</a:t>
                      </a:r>
                    </a:p>
                  </a:txBody>
                  <a:tcPr marL="109728" marT="91440">
                    <a:solidFill>
                      <a:srgbClr val="E2E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13B"/>
                          </a:solidFill>
                          <a:latin typeface="Aptos"/>
                        </a:defRPr>
                      </a:pPr>
                      <a:r>
                        <a:t>RPS skill + rainfall RMSE + reliability</a:t>
                      </a:r>
                    </a:p>
                  </a:txBody>
                  <a:tcPr marL="109728" marT="91440">
                    <a:solidFill>
                      <a:srgbClr val="E2ECE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13B"/>
                          </a:solidFill>
                          <a:latin typeface="Aptos"/>
                        </a:defRPr>
                      </a:pPr>
                      <a:r>
                        <a:t>Forecast IOD</a:t>
                      </a:r>
                    </a:p>
                  </a:txBody>
                  <a:tcPr marL="109728" marT="91440">
                    <a:solidFill>
                      <a:srgbClr val="E2E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13B"/>
                          </a:solidFill>
                          <a:latin typeface="Aptos"/>
                        </a:defRPr>
                      </a:pPr>
                      <a:r>
                        <a:t>Climatology, weighted index, ensemble spread, dates</a:t>
                      </a:r>
                    </a:p>
                  </a:txBody>
                  <a:tcPr marL="109728" marT="91440">
                    <a:solidFill>
                      <a:srgbClr val="E2E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13B"/>
                          </a:solidFill>
                          <a:latin typeface="Aptos"/>
                        </a:defRPr>
                      </a:pPr>
                      <a:r>
                        <a:t>Error against OISST; too few windows for calibration</a:t>
                      </a:r>
                    </a:p>
                  </a:txBody>
                  <a:tcPr marL="109728" marT="91440">
                    <a:solidFill>
                      <a:srgbClr val="E2ECE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13B"/>
                          </a:solidFill>
                          <a:latin typeface="Aptos"/>
                        </a:defRPr>
                      </a:pPr>
                      <a:r>
                        <a:t>Kenya rainfall outlook</a:t>
                      </a:r>
                    </a:p>
                  </a:txBody>
                  <a:tcPr marL="109728" marT="91440">
                    <a:solidFill>
                      <a:srgbClr val="E2E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13B"/>
                          </a:solidFill>
                          <a:latin typeface="Aptos"/>
                        </a:defRPr>
                      </a:pPr>
                      <a:r>
                        <a:t>Six weekly maps and regional member statistics</a:t>
                      </a:r>
                    </a:p>
                  </a:txBody>
                  <a:tcPr marL="109728" marT="91440">
                    <a:solidFill>
                      <a:srgbClr val="E2E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13B"/>
                          </a:solidFill>
                          <a:latin typeface="Aptos"/>
                        </a:defRPr>
                      </a:pPr>
                      <a:r>
                        <a:t>Calculation correctness; no observed forecast verification</a:t>
                      </a:r>
                    </a:p>
                  </a:txBody>
                  <a:tcPr marL="109728" marT="91440">
                    <a:solidFill>
                      <a:srgbClr val="E2ECE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66360"/>
            <a:ext cx="11201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000" b="1">
                <a:solidFill>
                  <a:srgbClr val="157C77"/>
                </a:solidFill>
                <a:latin typeface="Aptos"/>
              </a:defRPr>
            </a:pPr>
            <a:r>
              <a:t>Judge: data/provenance · scientific processing · results/uncertainty · communication · reproduction/reuse. Each rated 0–2 with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53328"/>
            <a:ext cx="1088136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58666B"/>
                </a:solidFill>
                <a:latin typeface="Aptos"/>
              </a:defRPr>
            </a:pPr>
            <a:r>
              <a:t>The judge cannot override failed numerical checks. The main report shows completion, scientific quality, tokens/cost/time, and follow-up performance. Borderline judgments receive human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9672"/>
            <a:ext cx="2743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 b="0">
                <a:solidFill>
                  <a:srgbClr val="58666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57C77"/>
                </a:solidFill>
                <a:latin typeface="Aptos"/>
              </a:defRPr>
            </a:pPr>
            <a:r>
              <a:t>EXISTING FEASIBILITY EVIDENCE — NOT AN ARM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100" b="1">
                <a:solidFill>
                  <a:srgbClr val="17313B"/>
                </a:solidFill>
                <a:latin typeface="Aptos"/>
              </a:defRPr>
            </a:pPr>
            <a:r>
              <a:t>A real seasonal problem, with an honest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0">
                <a:solidFill>
                  <a:srgbClr val="58666B"/>
                </a:solidFill>
                <a:latin typeface="Aptos"/>
              </a:defRPr>
            </a:pPr>
            <a:r>
              <a:t>September-issued OND rainfall · Kenyan study box · 1993–2008 development years · leave-one-year-out</a:t>
            </a:r>
          </a:p>
        </p:txBody>
      </p:sp>
      <p:pic>
        <p:nvPicPr>
          <p:cNvPr id="5" name="Picture 4" descr="develop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40280"/>
            <a:ext cx="7223760" cy="288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2286000"/>
            <a:ext cx="38404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000" b="1">
                <a:solidFill>
                  <a:srgbClr val="157C77"/>
                </a:solidFill>
                <a:latin typeface="Aptos"/>
              </a:defRPr>
            </a:pPr>
            <a:r>
              <a:t>What the reference calculation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816352"/>
            <a:ext cx="3794760" cy="2331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0">
                <a:solidFill>
                  <a:srgbClr val="17313B"/>
                </a:solidFill>
                <a:latin typeface="Aptos"/>
              </a:defRPr>
            </a:pPr>
            <a:r>
              <a:t>RPS: raw 0.391; model-climate 0.335; calibrated 0.330.</a:t>
            </a:r>
          </a:p>
          <a:p>
            <a:pPr>
              <a:defRPr sz="1800" b="0">
                <a:solidFill>
                  <a:srgbClr val="17313B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17313B"/>
                </a:solidFill>
                <a:latin typeface="Aptos"/>
              </a:defRPr>
            </a:pPr>
            <a:r>
              <a:t>15.5% better than raw, but only 1.5% better than model-climate probabilities. Calibration does not uniformly improve.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66360"/>
            <a:ext cx="11201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000" b="1">
                <a:solidFill>
                  <a:srgbClr val="157C77"/>
                </a:solidFill>
                <a:latin typeface="Aptos"/>
              </a:defRPr>
            </a:pPr>
            <a:r>
              <a:t>All three arms can in principle solve this task. The experiment tests how reliably and efficiently they do 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53328"/>
            <a:ext cx="1088136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58666B"/>
                </a:solidFill>
                <a:latin typeface="Aptos"/>
              </a:defRPr>
            </a:pPr>
            <a:r>
              <a:t>These are expert-written feasibility calculations, not agent results. Independent Python reproduced the numerics without ACCORD. We have not measured comparative token cost, speed or reuse.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9672"/>
            <a:ext cx="2743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 b="0">
                <a:solidFill>
                  <a:srgbClr val="58666B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57C77"/>
                </a:solidFill>
                <a:latin typeface="Aptos"/>
              </a:defRPr>
            </a:pPr>
            <a:r>
              <a:t>TODAY’S DELIVERABLE AND REVIEW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100" b="1">
                <a:solidFill>
                  <a:srgbClr val="17313B"/>
                </a:solidFill>
                <a:latin typeface="Aptos"/>
              </a:defRPr>
            </a:pPr>
            <a:r>
              <a:t>One illustrative suite: three arms, two attempts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0">
                <a:solidFill>
                  <a:srgbClr val="58666B"/>
                </a:solidFill>
                <a:latin typeface="Aptos"/>
              </a:defRPr>
            </a:pPr>
            <a:r>
              <a:t>Prefer the seasonal case to test scientific skill. Kenya is a simpler workflow-efficiency fallback.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33172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480560"/>
                <a:gridCol w="4617720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Arm</a:t>
                      </a:r>
                    </a:p>
                  </a:txBody>
                  <a:tcPr marL="109728" marT="91440">
                    <a:solidFill>
                      <a:srgbClr val="157C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Initial: correctness / cost / time</a:t>
                      </a:r>
                    </a:p>
                  </a:txBody>
                  <a:tcPr marL="109728" marT="91440">
                    <a:solidFill>
                      <a:srgbClr val="157C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Follow-up: correctness / cost / time</a:t>
                      </a:r>
                    </a:p>
                  </a:txBody>
                  <a:tcPr marL="109728" marT="91440">
                    <a:solidFill>
                      <a:srgbClr val="157C7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13B"/>
                          </a:solidFill>
                          <a:latin typeface="Aptos"/>
                        </a:defRPr>
                      </a:pPr>
                      <a:r>
                        <a:t>Scratch</a:t>
                      </a:r>
                    </a:p>
                  </a:txBody>
                  <a:tcPr marL="109728" marT="91440">
                    <a:solidFill>
                      <a:srgbClr val="E2E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13B"/>
                          </a:solidFill>
                          <a:latin typeface="Aptos"/>
                        </a:defRPr>
                      </a:pPr>
                      <a:r>
                        <a:t>Not run</a:t>
                      </a:r>
                    </a:p>
                  </a:txBody>
                  <a:tcPr marL="109728" marT="91440">
                    <a:solidFill>
                      <a:srgbClr val="E2E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13B"/>
                          </a:solidFill>
                          <a:latin typeface="Aptos"/>
                        </a:defRPr>
                      </a:pPr>
                      <a:r>
                        <a:t>Not run</a:t>
                      </a:r>
                    </a:p>
                  </a:txBody>
                  <a:tcPr marL="109728" marT="91440">
                    <a:solidFill>
                      <a:srgbClr val="E2ECE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13B"/>
                          </a:solidFill>
                          <a:latin typeface="Aptos"/>
                        </a:defRPr>
                      </a:pPr>
                      <a:r>
                        <a:t>Rhiza</a:t>
                      </a:r>
                    </a:p>
                  </a:txBody>
                  <a:tcPr marL="109728" marT="91440">
                    <a:solidFill>
                      <a:srgbClr val="E2E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13B"/>
                          </a:solidFill>
                          <a:latin typeface="Aptos"/>
                        </a:defRPr>
                      </a:pPr>
                      <a:r>
                        <a:t>Not run</a:t>
                      </a:r>
                    </a:p>
                  </a:txBody>
                  <a:tcPr marL="109728" marT="91440">
                    <a:solidFill>
                      <a:srgbClr val="E2E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13B"/>
                          </a:solidFill>
                          <a:latin typeface="Aptos"/>
                        </a:defRPr>
                      </a:pPr>
                      <a:r>
                        <a:t>Not run</a:t>
                      </a:r>
                    </a:p>
                  </a:txBody>
                  <a:tcPr marL="109728" marT="91440">
                    <a:solidFill>
                      <a:srgbClr val="E2ECE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13B"/>
                          </a:solidFill>
                          <a:latin typeface="Aptos"/>
                        </a:defRPr>
                      </a:pPr>
                      <a:r>
                        <a:t>ACCORD</a:t>
                      </a:r>
                    </a:p>
                  </a:txBody>
                  <a:tcPr marL="109728" marT="91440">
                    <a:solidFill>
                      <a:srgbClr val="E2E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13B"/>
                          </a:solidFill>
                          <a:latin typeface="Aptos"/>
                        </a:defRPr>
                      </a:pPr>
                      <a:r>
                        <a:t>Not run</a:t>
                      </a:r>
                    </a:p>
                  </a:txBody>
                  <a:tcPr marL="109728" marT="91440">
                    <a:solidFill>
                      <a:srgbClr val="E2E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313B"/>
                          </a:solidFill>
                          <a:latin typeface="Aptos"/>
                        </a:defRPr>
                      </a:pPr>
                      <a:r>
                        <a:t>Not run</a:t>
                      </a:r>
                    </a:p>
                  </a:txBody>
                  <a:tcPr marL="109728" marT="91440">
                    <a:solidFill>
                      <a:srgbClr val="E2ECE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66360"/>
            <a:ext cx="11201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000" b="1">
                <a:solidFill>
                  <a:srgbClr val="157C77"/>
                </a:solidFill>
                <a:latin typeface="Aptos"/>
              </a:defRPr>
            </a:pPr>
            <a:r>
              <a:t>Ready for review: isolated environments, three task contracts, numerical checkers, shared judge rubric and this slide deck.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53328"/>
            <a:ext cx="1088136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58666B"/>
                </a:solidFill>
                <a:latin typeface="Aptos"/>
              </a:defRPr>
            </a:pPr>
            <a:r>
              <a:t>PAUSED before model calls. Next: choose model and budget; freeze the chosen reference/data policy; resolve case-specific scientific issues; agree to launch one six-attempt suite. The full three-case pilot is 18 attempts per access mode. No fabricated result ordering.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9672"/>
            <a:ext cx="2743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 b="0">
                <a:solidFill>
                  <a:srgbClr val="58666B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