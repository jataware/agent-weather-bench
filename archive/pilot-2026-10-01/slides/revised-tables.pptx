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1" r:id="rId22"/>
    <p:sldId id="272" r:id="rId23"/>
    <p:sldId id="273" r:id="rId24"/>
    <p:sldId id="274" r:id="rId25"/>
    <p:sldId id="275" r:id="rId2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Kenya locator places the shaded study box beside its probability grid. Natural Earth generalized boundary, source/hash in slides/assets/kenya-study-area.json. Forecast map source and hash: slides/assets/tercile-example.json. Above-normal rainfall is above the observed 1993–2004 upper-tercile threshold; this is one of three probabilities, not a map of skill. The 12 cells cover south=-3, north=1, west=36, east=39, not a national forecast. Monthly rates are converted to seasonal totals; CHIRPS observations are spatially aggregated with cosine-latitude weights. Leave-one-year-out validation fits both thresholds and calibration within each fold. Forecast-only frozen inference receives no verification observations. Twelve independent artifact, calculation and replay checks plus five LLM-judge criteria; accuracy uses RPS/RMSE separately from completion and cost. These are previously inspected development years, two per batch, so general skill and calibration are not established. Same per-attempt caps: $5.50, 900 seconds, 800k tokens, 60 turns, 16,384 output tokens. Data are supplied; acquisition is not tested.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Colors are arm-specific on all comparison charts: scratch gray, Rhiza blue, ACCORD red. Rows are grouped Haiku / Sonnet / Fable, always scratch / Rhiza / ACCORD within each group. Haiku + ACCORD and Sonnet + ACCORD are separately authorized extensions with identical task, model settings, pinned sandbox image, tool guidance and inputs. No retries or alternate prompts. All attempts retained. Sonnet scratch missed three units-metadata checks despite correct array values. Fable Rhiza has a read-only replay defect. Rhiza conditions did not call scripts or read individual SKILL.md files. ACCORD agents use the installed scientific API. Checks and exact RPS/RMSE, model versions, prompts, traces, tokens and USD are in report.html and results/revision-summary.json. Sonnet + Rhiza matched Fable scratch’s 12/12 checks with 49% fewer tokens, 67% less elapsed time and 89% lower agent API cost. This does not mean skills improve every model or that libraries universally improve accuracy.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Extension task: with the same 12 cells and training data, prepare the saved predictor for the September-issued October–December forecasts for 2007 and 2008, instead of the initial 2005 and 2006. Each Fable arm starts a fresh conversation with its own retained files. No refitting; repairs may be documented. Verification observations remain private. The locator on slide 16 marks the same study box for both phases. Follow-up uses 2007–08, two previously inspected development years. All three Fable arms retained unchanged fitted-state hashes and cached inputs. Direct predictors execute in approximately 1–2 seconds without LLM calls. Bars instead measure conversational follow-up including validation and reporting. ACCORD initial + follow-up cost $6.27595 versus scratch $7.13088. No causal reuse estimate without fresh-workspace controls. Sonnet has initial comparisons only; follow-ups remain Fable only.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results/revision-summary.json, metrics.RPS for Fable scratch, Rhiza and ACCORD initial and follow-up attempts. All scores come from frozen predictors evaluated against private-to-agent CHIRPS observations on the same 12 cells. Training years 1993–2004; initial 2005–06; follow-up 2007–08. Raw baseline counts ECMWF members in observed-training terciles. The model-climatology baseline counts members against terciles from the model’s own historical ensemble distribution; it accounts for distribution differences without the agent-fitted regression. Lower RPS is better. Initial RPS: raw 0.368546598, model-climatology 0.295942372, scratch 0.279028737, Rhiza 0.281017925, ACCORD 0.279452220. Follow-up: raw 0.439242635, model-climatology 0.353362053, scratch 0.396182983, Rhiza 0.403827736, ACCORD 0.412328401. Rainfall-amount RMSE, initial/follow-up mm: raw 214.898/80.597, scratch 178.094/70.096, Rhiza 178.485/73.325, ACCORD 175.870/69.915. Those amount-error reductions do not establish an ACCORD advantage over scratch. Only two development years per batch; spatial cells are not independent years, and verification years had previously been inspected by the designer. Reliability diagnostics are descriptive, not evidence of generally calibrated probabilities. Rhiza’s frozen predictor produced scoreable outputs even though solve.py failed the separate full-workflow replay gate. No submissions were repaired, no new forecasts run, and no new model calls were made for this slide. The next scientific evaluation should apply saved predictors to more untouched years and compare against the same baselines.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Simplified from /Users/ezekielbarnett/Developer/ACCORD/docs/presentations/toward-auto-science.html and assets/slide-autoscience-loop.svg. The source describes retrieve/reason/experiment workers submitting to a shared evaluator, curating findings, dead ends, wiki pages and writeups, and using that record for the next hypothesis. This slide is the intended research direction; the weather pilot does not yet demonstrate recursive improvement, a shared scientific leaderboard, or community-contributed discoveries. No illustrative skill curve is presented as measured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The task: a reusable seasonal rainfall forecast</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Same data and budgets; scratch, Rhiza skills, or ACCORD libraries (DeepScale / Rosetta).</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16</a:t>
            </a:r>
          </a:p>
        </p:txBody>
      </p:sp>
      <p:sp>
        <p:nvSpPr>
          <p:cNvPr id="5" name="TextBox 4"/>
          <p:cNvSpPr txBox="1"/>
          <p:nvPr/>
        </p:nvSpPr>
        <p:spPr>
          <a:xfrm>
            <a:off x="548640" y="1965960"/>
            <a:ext cx="5577840" cy="868680"/>
          </a:xfrm>
          <a:prstGeom prst="rect">
            <a:avLst/>
          </a:prstGeom>
          <a:noFill/>
        </p:spPr>
        <p:txBody>
          <a:bodyPr wrap="square" lIns="0" rIns="0">
            <a:spAutoFit/>
          </a:bodyPr>
          <a:lstStyle/>
          <a:p>
            <a:pPr>
              <a:spcAft>
                <a:spcPts val="1000"/>
              </a:spcAft>
              <a:defRPr sz="2000" b="0">
                <a:solidFill>
                  <a:srgbClr val="111111"/>
                </a:solidFill>
                <a:latin typeface="Calibri"/>
              </a:defRPr>
            </a:pPr>
            <a:r>
              <a:t>Turn September-issued ECMWF forecasts and CHIRPS observations into Oct–Dec rainfall probabilities for a 12-cell Kenyan study box.</a:t>
            </a:r>
          </a:p>
        </p:txBody>
      </p:sp>
      <p:sp>
        <p:nvSpPr>
          <p:cNvPr id="6" name="TextBox 5"/>
          <p:cNvSpPr txBox="1"/>
          <p:nvPr/>
        </p:nvSpPr>
        <p:spPr>
          <a:xfrm>
            <a:off x="548640" y="3108960"/>
            <a:ext cx="5577840" cy="822960"/>
          </a:xfrm>
          <a:prstGeom prst="rect">
            <a:avLst/>
          </a:prstGeom>
          <a:noFill/>
        </p:spPr>
        <p:txBody>
          <a:bodyPr wrap="square" lIns="0" rIns="0">
            <a:spAutoFit/>
          </a:bodyPr>
          <a:lstStyle/>
          <a:p>
            <a:pPr>
              <a:spcAft>
                <a:spcPts val="1000"/>
              </a:spcAft>
              <a:defRPr sz="2000" b="0">
                <a:solidFill>
                  <a:srgbClr val="111111"/>
                </a:solidFill>
                <a:latin typeface="Calibri"/>
              </a:defRPr>
            </a:pPr>
            <a:r>
              <a:t>Train on 1993–2004; predict 2005–06. Save the code and fitted model, then forecast 2007–08 in a fresh conversation.</a:t>
            </a:r>
          </a:p>
        </p:txBody>
      </p:sp>
      <p:sp>
        <p:nvSpPr>
          <p:cNvPr id="7" name="TextBox 6"/>
          <p:cNvSpPr txBox="1"/>
          <p:nvPr/>
        </p:nvSpPr>
        <p:spPr>
          <a:xfrm>
            <a:off x="548640" y="4251960"/>
            <a:ext cx="5577840" cy="822960"/>
          </a:xfrm>
          <a:prstGeom prst="rect">
            <a:avLst/>
          </a:prstGeom>
          <a:noFill/>
        </p:spPr>
        <p:txBody>
          <a:bodyPr wrap="square" lIns="0" rIns="0">
            <a:spAutoFit/>
          </a:bodyPr>
          <a:lstStyle/>
          <a:p>
            <a:pPr>
              <a:spcAft>
                <a:spcPts val="1000"/>
              </a:spcAft>
              <a:defRPr sz="2000" b="0">
                <a:solidFill>
                  <a:srgbClr val="111111"/>
                </a:solidFill>
                <a:latin typeface="Calibri"/>
              </a:defRPr>
            </a:pPr>
            <a:r>
              <a:t>Check completion and replay, scientific quality with an LLM judge, forecast error, tokens, time and cost.</a:t>
            </a:r>
          </a:p>
        </p:txBody>
      </p:sp>
      <p:sp>
        <p:nvSpPr>
          <p:cNvPr id="8" name="TextBox 7"/>
          <p:cNvSpPr txBox="1"/>
          <p:nvPr/>
        </p:nvSpPr>
        <p:spPr>
          <a:xfrm>
            <a:off x="548640" y="5440680"/>
            <a:ext cx="5577840" cy="777240"/>
          </a:xfrm>
          <a:prstGeom prst="rect">
            <a:avLst/>
          </a:prstGeom>
          <a:noFill/>
        </p:spPr>
        <p:txBody>
          <a:bodyPr wrap="square" lIns="0" rIns="0">
            <a:spAutoFit/>
          </a:bodyPr>
          <a:lstStyle/>
          <a:p>
            <a:pPr>
              <a:spcAft>
                <a:spcPts val="1000"/>
              </a:spcAft>
              <a:defRPr sz="1900" b="1">
                <a:solidFill>
                  <a:srgbClr val="111111"/>
                </a:solidFill>
                <a:latin typeface="Calibri"/>
              </a:defRPr>
            </a:pPr>
            <a:r>
              <a:t>Can stronger agents finish? Do tools save effort? Does saved work help next time?</a:t>
            </a:r>
          </a:p>
        </p:txBody>
      </p:sp>
      <p:pic>
        <p:nvPicPr>
          <p:cNvPr id="9" name="Picture 8" descr="tercile-example.png"/>
          <p:cNvPicPr>
            <a:picLocks noChangeAspect="1"/>
          </p:cNvPicPr>
          <p:nvPr/>
        </p:nvPicPr>
        <p:blipFill>
          <a:blip r:embed="rId2"/>
          <a:stretch>
            <a:fillRect/>
          </a:stretch>
        </p:blipFill>
        <p:spPr>
          <a:xfrm>
            <a:off x="6217920" y="1965960"/>
            <a:ext cx="5532120" cy="3793454"/>
          </a:xfrm>
          <a:prstGeom prst="rect">
            <a:avLst/>
          </a:prstGeom>
        </p:spPr>
      </p:pic>
      <p:sp>
        <p:nvSpPr>
          <p:cNvPr id="10" name="TextBox 9"/>
          <p:cNvSpPr txBox="1"/>
          <p:nvPr/>
        </p:nvSpPr>
        <p:spPr>
          <a:xfrm>
            <a:off x="6492240" y="6080760"/>
            <a:ext cx="5029200" cy="219456"/>
          </a:xfrm>
          <a:prstGeom prst="rect">
            <a:avLst/>
          </a:prstGeom>
          <a:noFill/>
        </p:spPr>
        <p:txBody>
          <a:bodyPr wrap="square" lIns="0" rIns="0">
            <a:spAutoFit/>
          </a:bodyPr>
          <a:lstStyle/>
          <a:p>
            <a:pPr>
              <a:spcAft>
                <a:spcPts val="1000"/>
              </a:spcAft>
              <a:defRPr sz="1000" b="0">
                <a:solidFill>
                  <a:srgbClr val="6B6B6B"/>
                </a:solidFill>
                <a:latin typeface="Calibri"/>
              </a:defRPr>
            </a:pPr>
            <a:r>
              <a:t>Example: Fable + ACCORD, historical 2005 forecast; 33% is climatology.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Model capability and tools</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Nine initial attempts: three models × three tool environments, with the same task, data and limits.</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17</a:t>
            </a:r>
          </a:p>
        </p:txBody>
      </p:sp>
      <p:sp>
        <p:nvSpPr>
          <p:cNvPr id="5" name="Rectangle 4"/>
          <p:cNvSpPr/>
          <p:nvPr/>
        </p:nvSpPr>
        <p:spPr>
          <a:xfrm>
            <a:off x="548640" y="1874519"/>
            <a:ext cx="164592" cy="164592"/>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801368"/>
            <a:ext cx="1280160" cy="274320"/>
          </a:xfrm>
          <a:prstGeom prst="rect">
            <a:avLst/>
          </a:prstGeom>
          <a:noFill/>
        </p:spPr>
        <p:txBody>
          <a:bodyPr wrap="square" lIns="0" rIns="0">
            <a:spAutoFit/>
          </a:bodyPr>
          <a:lstStyle/>
          <a:p>
            <a:pPr>
              <a:spcAft>
                <a:spcPts val="1000"/>
              </a:spcAft>
              <a:defRPr sz="1400" b="0">
                <a:solidFill>
                  <a:srgbClr val="111111"/>
                </a:solidFill>
                <a:latin typeface="Calibri"/>
              </a:defRPr>
            </a:pPr>
            <a:r>
              <a:t>Scratch</a:t>
            </a:r>
          </a:p>
        </p:txBody>
      </p:sp>
      <p:sp>
        <p:nvSpPr>
          <p:cNvPr id="7" name="Rectangle 6"/>
          <p:cNvSpPr/>
          <p:nvPr/>
        </p:nvSpPr>
        <p:spPr>
          <a:xfrm>
            <a:off x="2194560" y="1874519"/>
            <a:ext cx="164592" cy="164592"/>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41448" y="1801368"/>
            <a:ext cx="1280160" cy="274320"/>
          </a:xfrm>
          <a:prstGeom prst="rect">
            <a:avLst/>
          </a:prstGeom>
          <a:noFill/>
        </p:spPr>
        <p:txBody>
          <a:bodyPr wrap="square" lIns="0" rIns="0">
            <a:spAutoFit/>
          </a:bodyPr>
          <a:lstStyle/>
          <a:p>
            <a:pPr>
              <a:spcAft>
                <a:spcPts val="1000"/>
              </a:spcAft>
              <a:defRPr sz="1400" b="0">
                <a:solidFill>
                  <a:srgbClr val="111111"/>
                </a:solidFill>
                <a:latin typeface="Calibri"/>
              </a:defRPr>
            </a:pPr>
            <a:r>
              <a:t>Rhiza</a:t>
            </a:r>
          </a:p>
        </p:txBody>
      </p:sp>
      <p:sp>
        <p:nvSpPr>
          <p:cNvPr id="9" name="Rectangle 8"/>
          <p:cNvSpPr/>
          <p:nvPr/>
        </p:nvSpPr>
        <p:spPr>
          <a:xfrm>
            <a:off x="3657600" y="1874519"/>
            <a:ext cx="164592" cy="164592"/>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04487" y="1801368"/>
            <a:ext cx="1280160" cy="274320"/>
          </a:xfrm>
          <a:prstGeom prst="rect">
            <a:avLst/>
          </a:prstGeom>
          <a:noFill/>
        </p:spPr>
        <p:txBody>
          <a:bodyPr wrap="square" lIns="0" rIns="0">
            <a:spAutoFit/>
          </a:bodyPr>
          <a:lstStyle/>
          <a:p>
            <a:pPr>
              <a:spcAft>
                <a:spcPts val="1000"/>
              </a:spcAft>
              <a:defRPr sz="1400" b="0">
                <a:solidFill>
                  <a:srgbClr val="111111"/>
                </a:solidFill>
                <a:latin typeface="Calibri"/>
              </a:defRPr>
            </a:pPr>
            <a:r>
              <a:t>ACCORD</a:t>
            </a:r>
          </a:p>
        </p:txBody>
      </p:sp>
      <p:graphicFrame>
        <p:nvGraphicFramePr>
          <p:cNvPr id="11" name="Table 10"/>
          <p:cNvGraphicFramePr>
            <a:graphicFrameLocks noGrp="1"/>
          </p:cNvGraphicFramePr>
          <p:nvPr/>
        </p:nvGraphicFramePr>
        <p:xfrm>
          <a:off x="548640" y="2148840"/>
          <a:ext cx="11064240" cy="3200400"/>
        </p:xfrm>
        <a:graphic>
          <a:graphicData uri="http://schemas.openxmlformats.org/drawingml/2006/table">
            <a:tbl>
              <a:tblPr firstRow="1" bandRow="1">
                <a:tableStyleId>{5C22544A-7EE6-4342-B048-85BDC9FD1C3A}</a:tableStyleId>
              </a:tblPr>
              <a:tblGrid>
                <a:gridCol w="2743200"/>
                <a:gridCol w="1097280"/>
                <a:gridCol w="2011680"/>
                <a:gridCol w="1371600"/>
                <a:gridCol w="1463040"/>
                <a:gridCol w="2377440"/>
              </a:tblGrid>
              <a:tr h="320040">
                <a:tc>
                  <a:txBody>
                    <a:bodyPr/>
                    <a:lstStyle/>
                    <a:p>
                      <a:pPr>
                        <a:defRPr sz="1400" b="1">
                          <a:solidFill>
                            <a:srgbClr val="111111"/>
                          </a:solidFill>
                          <a:latin typeface="Calibri"/>
                        </a:defRPr>
                      </a:pPr>
                      <a:r>
                        <a:t>Model / tools</a:t>
                      </a:r>
                    </a:p>
                  </a:txBody>
                  <a:tcPr marL="82296" marT="45720" marB="36576">
                    <a:solidFill>
                      <a:srgbClr val="EEEEEE"/>
                    </a:solidFill>
                  </a:tcPr>
                </a:tc>
                <a:tc>
                  <a:txBody>
                    <a:bodyPr/>
                    <a:lstStyle/>
                    <a:p>
                      <a:pPr>
                        <a:defRPr sz="1400" b="1">
                          <a:solidFill>
                            <a:srgbClr val="111111"/>
                          </a:solidFill>
                          <a:latin typeface="Calibri"/>
                        </a:defRPr>
                      </a:pPr>
                      <a:r>
                        <a:t>Checks</a:t>
                      </a:r>
                    </a:p>
                  </a:txBody>
                  <a:tcPr marL="82296" marT="45720" marB="36576">
                    <a:solidFill>
                      <a:srgbClr val="EEEEEE"/>
                    </a:solidFill>
                  </a:tcPr>
                </a:tc>
                <a:tc>
                  <a:txBody>
                    <a:bodyPr/>
                    <a:lstStyle/>
                    <a:p>
                      <a:pPr>
                        <a:defRPr sz="1400" b="1">
                          <a:solidFill>
                            <a:srgbClr val="111111"/>
                          </a:solidFill>
                          <a:latin typeface="Calibri"/>
                        </a:defRPr>
                      </a:pPr>
                      <a:r>
                        <a:t>Tokens</a:t>
                      </a:r>
                    </a:p>
                  </a:txBody>
                  <a:tcPr marL="82296" marT="45720" marB="36576">
                    <a:solidFill>
                      <a:srgbClr val="EEEEEE"/>
                    </a:solidFill>
                  </a:tcPr>
                </a:tc>
                <a:tc>
                  <a:txBody>
                    <a:bodyPr/>
                    <a:lstStyle/>
                    <a:p>
                      <a:pPr>
                        <a:defRPr sz="1400" b="1">
                          <a:solidFill>
                            <a:srgbClr val="111111"/>
                          </a:solidFill>
                          <a:latin typeface="Calibri"/>
                        </a:defRPr>
                      </a:pPr>
                      <a:r>
                        <a:t>Minutes</a:t>
                      </a:r>
                    </a:p>
                  </a:txBody>
                  <a:tcPr marL="82296" marT="45720" marB="36576">
                    <a:solidFill>
                      <a:srgbClr val="EEEEEE"/>
                    </a:solidFill>
                  </a:tcPr>
                </a:tc>
                <a:tc>
                  <a:txBody>
                    <a:bodyPr/>
                    <a:lstStyle/>
                    <a:p>
                      <a:pPr>
                        <a:defRPr sz="1400" b="1">
                          <a:solidFill>
                            <a:srgbClr val="111111"/>
                          </a:solidFill>
                          <a:latin typeface="Calibri"/>
                        </a:defRPr>
                      </a:pPr>
                      <a:r>
                        <a:t>API cost</a:t>
                      </a:r>
                    </a:p>
                  </a:txBody>
                  <a:tcPr marL="82296" marT="45720" marB="36576">
                    <a:solidFill>
                      <a:srgbClr val="EEEEEE"/>
                    </a:solidFill>
                  </a:tcPr>
                </a:tc>
                <a:tc>
                  <a:txBody>
                    <a:bodyPr/>
                    <a:lstStyle/>
                    <a:p>
                      <a:pPr>
                        <a:defRPr sz="1400" b="1">
                          <a:solidFill>
                            <a:srgbClr val="111111"/>
                          </a:solidFill>
                          <a:latin typeface="Calibri"/>
                        </a:defRPr>
                      </a:pPr>
                      <a:r>
                        <a:t>RPS ↓</a:t>
                      </a:r>
                    </a:p>
                  </a:txBody>
                  <a:tcPr marL="82296" marT="45720" marB="36576">
                    <a:solidFill>
                      <a:srgbClr val="EEEEEE"/>
                    </a:solidFill>
                  </a:tcPr>
                </a:tc>
              </a:tr>
              <a:tr h="320040">
                <a:tc>
                  <a:txBody>
                    <a:bodyPr/>
                    <a:lstStyle/>
                    <a:p>
                      <a:pPr>
                        <a:defRPr sz="1400" b="1">
                          <a:solidFill>
                            <a:srgbClr val="777777"/>
                          </a:solidFill>
                          <a:latin typeface="Calibri"/>
                        </a:defRPr>
                      </a:pPr>
                      <a:r>
                        <a:t>Haiku / scratch</a:t>
                      </a:r>
                    </a:p>
                  </a:txBody>
                  <a:tcPr marL="82296" marT="45720" marB="36576">
                    <a:solidFill>
                      <a:srgbClr val="FFFFFF"/>
                    </a:solidFill>
                  </a:tcPr>
                </a:tc>
                <a:tc>
                  <a:txBody>
                    <a:bodyPr/>
                    <a:lstStyle/>
                    <a:p>
                      <a:pPr>
                        <a:defRPr sz="1400" b="0">
                          <a:solidFill>
                            <a:srgbClr val="111111"/>
                          </a:solidFill>
                          <a:latin typeface="Calibri"/>
                        </a:defRPr>
                      </a:pPr>
                      <a:r>
                        <a:t>3/12</a:t>
                      </a:r>
                    </a:p>
                  </a:txBody>
                  <a:tcPr marL="82296" marT="45720" marB="36576">
                    <a:solidFill>
                      <a:srgbClr val="FFFFFF"/>
                    </a:solidFill>
                  </a:tcPr>
                </a:tc>
                <a:tc>
                  <a:txBody>
                    <a:bodyPr/>
                    <a:lstStyle/>
                    <a:p>
                      <a:pPr>
                        <a:defRPr sz="1400" b="0">
                          <a:solidFill>
                            <a:srgbClr val="111111"/>
                          </a:solidFill>
                          <a:latin typeface="Calibri"/>
                        </a:defRPr>
                      </a:pPr>
                      <a:r>
                        <a:t>776,678</a:t>
                      </a:r>
                    </a:p>
                  </a:txBody>
                  <a:tcPr marL="82296" marT="45720" marB="36576">
                    <a:solidFill>
                      <a:srgbClr val="FFFFFF"/>
                    </a:solidFill>
                  </a:tcPr>
                </a:tc>
                <a:tc>
                  <a:txBody>
                    <a:bodyPr/>
                    <a:lstStyle/>
                    <a:p>
                      <a:pPr>
                        <a:defRPr sz="1400" b="0">
                          <a:solidFill>
                            <a:srgbClr val="111111"/>
                          </a:solidFill>
                          <a:latin typeface="Calibri"/>
                        </a:defRPr>
                      </a:pPr>
                      <a:r>
                        <a:t>4.54</a:t>
                      </a:r>
                    </a:p>
                  </a:txBody>
                  <a:tcPr marL="82296" marT="45720" marB="36576">
                    <a:solidFill>
                      <a:srgbClr val="FFFFFF"/>
                    </a:solidFill>
                  </a:tcPr>
                </a:tc>
                <a:tc>
                  <a:txBody>
                    <a:bodyPr/>
                    <a:lstStyle/>
                    <a:p>
                      <a:pPr>
                        <a:defRPr sz="1400" b="0">
                          <a:solidFill>
                            <a:srgbClr val="111111"/>
                          </a:solidFill>
                          <a:latin typeface="Calibri"/>
                        </a:defRPr>
                      </a:pPr>
                      <a:r>
                        <a:t>$0.92</a:t>
                      </a:r>
                    </a:p>
                  </a:txBody>
                  <a:tcPr marL="82296" marT="45720" marB="36576">
                    <a:solidFill>
                      <a:srgbClr val="FFFFFF"/>
                    </a:solidFill>
                  </a:tcPr>
                </a:tc>
                <a:tc>
                  <a:txBody>
                    <a:bodyPr/>
                    <a:lstStyle/>
                    <a:p>
                      <a:pPr>
                        <a:defRPr sz="1400" b="0">
                          <a:solidFill>
                            <a:srgbClr val="111111"/>
                          </a:solidFill>
                          <a:latin typeface="Calibri"/>
                        </a:defRPr>
                      </a:pPr>
                      <a:r>
                        <a:t>—</a:t>
                      </a:r>
                    </a:p>
                  </a:txBody>
                  <a:tcPr marL="82296" marT="45720" marB="36576">
                    <a:solidFill>
                      <a:srgbClr val="FFFFFF"/>
                    </a:solidFill>
                  </a:tcPr>
                </a:tc>
              </a:tr>
              <a:tr h="320040">
                <a:tc>
                  <a:txBody>
                    <a:bodyPr/>
                    <a:lstStyle/>
                    <a:p>
                      <a:pPr>
                        <a:defRPr sz="1400" b="1">
                          <a:solidFill>
                            <a:srgbClr val="2F6B8A"/>
                          </a:solidFill>
                          <a:latin typeface="Calibri"/>
                        </a:defRPr>
                      </a:pPr>
                      <a:r>
                        <a:t>Haiku / Rhiza</a:t>
                      </a:r>
                    </a:p>
                  </a:txBody>
                  <a:tcPr marL="82296" marT="45720" marB="36576">
                    <a:solidFill>
                      <a:srgbClr val="FFFFFF"/>
                    </a:solidFill>
                  </a:tcPr>
                </a:tc>
                <a:tc>
                  <a:txBody>
                    <a:bodyPr/>
                    <a:lstStyle/>
                    <a:p>
                      <a:pPr>
                        <a:defRPr sz="1400" b="0">
                          <a:solidFill>
                            <a:srgbClr val="111111"/>
                          </a:solidFill>
                          <a:latin typeface="Calibri"/>
                        </a:defRPr>
                      </a:pPr>
                      <a:r>
                        <a:t>7/12</a:t>
                      </a:r>
                    </a:p>
                  </a:txBody>
                  <a:tcPr marL="82296" marT="45720" marB="36576">
                    <a:solidFill>
                      <a:srgbClr val="FFFFFF"/>
                    </a:solidFill>
                  </a:tcPr>
                </a:tc>
                <a:tc>
                  <a:txBody>
                    <a:bodyPr/>
                    <a:lstStyle/>
                    <a:p>
                      <a:pPr>
                        <a:defRPr sz="1400" b="0">
                          <a:solidFill>
                            <a:srgbClr val="111111"/>
                          </a:solidFill>
                          <a:latin typeface="Calibri"/>
                        </a:defRPr>
                      </a:pPr>
                      <a:r>
                        <a:t>748,020</a:t>
                      </a:r>
                    </a:p>
                  </a:txBody>
                  <a:tcPr marL="82296" marT="45720" marB="36576">
                    <a:solidFill>
                      <a:srgbClr val="FFFFFF"/>
                    </a:solidFill>
                  </a:tcPr>
                </a:tc>
                <a:tc>
                  <a:txBody>
                    <a:bodyPr/>
                    <a:lstStyle/>
                    <a:p>
                      <a:pPr>
                        <a:defRPr sz="1400" b="0">
                          <a:solidFill>
                            <a:srgbClr val="111111"/>
                          </a:solidFill>
                          <a:latin typeface="Calibri"/>
                        </a:defRPr>
                      </a:pPr>
                      <a:r>
                        <a:t>3.76</a:t>
                      </a:r>
                    </a:p>
                  </a:txBody>
                  <a:tcPr marL="82296" marT="45720" marB="36576">
                    <a:solidFill>
                      <a:srgbClr val="FFFFFF"/>
                    </a:solidFill>
                  </a:tcPr>
                </a:tc>
                <a:tc>
                  <a:txBody>
                    <a:bodyPr/>
                    <a:lstStyle/>
                    <a:p>
                      <a:pPr>
                        <a:defRPr sz="1400" b="0">
                          <a:solidFill>
                            <a:srgbClr val="111111"/>
                          </a:solidFill>
                          <a:latin typeface="Calibri"/>
                        </a:defRPr>
                      </a:pPr>
                      <a:r>
                        <a:t>$0.86</a:t>
                      </a:r>
                    </a:p>
                  </a:txBody>
                  <a:tcPr marL="82296" marT="45720" marB="36576">
                    <a:solidFill>
                      <a:srgbClr val="FFFFFF"/>
                    </a:solidFill>
                  </a:tcPr>
                </a:tc>
                <a:tc>
                  <a:txBody>
                    <a:bodyPr/>
                    <a:lstStyle/>
                    <a:p>
                      <a:pPr>
                        <a:defRPr sz="1400" b="0">
                          <a:solidFill>
                            <a:srgbClr val="111111"/>
                          </a:solidFill>
                          <a:latin typeface="Calibri"/>
                        </a:defRPr>
                      </a:pPr>
                      <a:r>
                        <a:t>—</a:t>
                      </a:r>
                    </a:p>
                  </a:txBody>
                  <a:tcPr marL="82296" marT="45720" marB="36576">
                    <a:solidFill>
                      <a:srgbClr val="FFFFFF"/>
                    </a:solidFill>
                  </a:tcPr>
                </a:tc>
              </a:tr>
              <a:tr h="320040">
                <a:tc>
                  <a:txBody>
                    <a:bodyPr/>
                    <a:lstStyle/>
                    <a:p>
                      <a:pPr>
                        <a:defRPr sz="1400" b="1">
                          <a:solidFill>
                            <a:srgbClr val="8A1C1C"/>
                          </a:solidFill>
                          <a:latin typeface="Calibri"/>
                        </a:defRPr>
                      </a:pPr>
                      <a:r>
                        <a:t>Haiku / ACCORD</a:t>
                      </a:r>
                    </a:p>
                  </a:txBody>
                  <a:tcPr marL="82296" marT="45720" marB="36576">
                    <a:solidFill>
                      <a:srgbClr val="FFFFFF"/>
                    </a:solidFill>
                  </a:tcPr>
                </a:tc>
                <a:tc>
                  <a:txBody>
                    <a:bodyPr/>
                    <a:lstStyle/>
                    <a:p>
                      <a:pPr>
                        <a:defRPr sz="1400" b="0">
                          <a:solidFill>
                            <a:srgbClr val="111111"/>
                          </a:solidFill>
                          <a:latin typeface="Calibri"/>
                        </a:defRPr>
                      </a:pPr>
                      <a:r>
                        <a:t>5/12</a:t>
                      </a:r>
                    </a:p>
                  </a:txBody>
                  <a:tcPr marL="82296" marT="45720" marB="36576">
                    <a:solidFill>
                      <a:srgbClr val="FFFFFF"/>
                    </a:solidFill>
                  </a:tcPr>
                </a:tc>
                <a:tc>
                  <a:txBody>
                    <a:bodyPr/>
                    <a:lstStyle/>
                    <a:p>
                      <a:pPr>
                        <a:defRPr sz="1400" b="0">
                          <a:solidFill>
                            <a:srgbClr val="111111"/>
                          </a:solidFill>
                          <a:latin typeface="Calibri"/>
                        </a:defRPr>
                      </a:pPr>
                      <a:r>
                        <a:t>764,137</a:t>
                      </a:r>
                    </a:p>
                  </a:txBody>
                  <a:tcPr marL="82296" marT="45720" marB="36576">
                    <a:solidFill>
                      <a:srgbClr val="FFFFFF"/>
                    </a:solidFill>
                  </a:tcPr>
                </a:tc>
                <a:tc>
                  <a:txBody>
                    <a:bodyPr/>
                    <a:lstStyle/>
                    <a:p>
                      <a:pPr>
                        <a:defRPr sz="1400" b="0">
                          <a:solidFill>
                            <a:srgbClr val="111111"/>
                          </a:solidFill>
                          <a:latin typeface="Calibri"/>
                        </a:defRPr>
                      </a:pPr>
                      <a:r>
                        <a:t>4.09</a:t>
                      </a:r>
                    </a:p>
                  </a:txBody>
                  <a:tcPr marL="82296" marT="45720" marB="36576">
                    <a:solidFill>
                      <a:srgbClr val="FFFFFF"/>
                    </a:solidFill>
                  </a:tcPr>
                </a:tc>
                <a:tc>
                  <a:txBody>
                    <a:bodyPr/>
                    <a:lstStyle/>
                    <a:p>
                      <a:pPr>
                        <a:defRPr sz="1400" b="0">
                          <a:solidFill>
                            <a:srgbClr val="111111"/>
                          </a:solidFill>
                          <a:latin typeface="Calibri"/>
                        </a:defRPr>
                      </a:pPr>
                      <a:r>
                        <a:t>$0.88</a:t>
                      </a:r>
                    </a:p>
                  </a:txBody>
                  <a:tcPr marL="82296" marT="45720" marB="36576">
                    <a:solidFill>
                      <a:srgbClr val="FFFFFF"/>
                    </a:solidFill>
                  </a:tcPr>
                </a:tc>
                <a:tc>
                  <a:txBody>
                    <a:bodyPr/>
                    <a:lstStyle/>
                    <a:p>
                      <a:pPr>
                        <a:defRPr sz="1400" b="0">
                          <a:solidFill>
                            <a:srgbClr val="111111"/>
                          </a:solidFill>
                          <a:latin typeface="Calibri"/>
                        </a:defRPr>
                      </a:pPr>
                      <a:r>
                        <a:t>—</a:t>
                      </a:r>
                    </a:p>
                  </a:txBody>
                  <a:tcPr marL="82296" marT="45720" marB="36576">
                    <a:solidFill>
                      <a:srgbClr val="FFFFFF"/>
                    </a:solidFill>
                  </a:tcPr>
                </a:tc>
              </a:tr>
              <a:tr h="320040">
                <a:tc>
                  <a:txBody>
                    <a:bodyPr/>
                    <a:lstStyle/>
                    <a:p>
                      <a:pPr>
                        <a:defRPr sz="1400" b="1">
                          <a:solidFill>
                            <a:srgbClr val="777777"/>
                          </a:solidFill>
                          <a:latin typeface="Calibri"/>
                        </a:defRPr>
                      </a:pPr>
                      <a:r>
                        <a:t>Sonnet / scratch</a:t>
                      </a:r>
                    </a:p>
                  </a:txBody>
                  <a:tcPr marL="82296" marT="45720" marB="36576">
                    <a:solidFill>
                      <a:srgbClr val="FFFFFF"/>
                    </a:solidFill>
                  </a:tcPr>
                </a:tc>
                <a:tc>
                  <a:txBody>
                    <a:bodyPr/>
                    <a:lstStyle/>
                    <a:p>
                      <a:pPr>
                        <a:defRPr sz="1400" b="0">
                          <a:solidFill>
                            <a:srgbClr val="111111"/>
                          </a:solidFill>
                          <a:latin typeface="Calibri"/>
                        </a:defRPr>
                      </a:pPr>
                      <a:r>
                        <a:t>9/12</a:t>
                      </a:r>
                    </a:p>
                  </a:txBody>
                  <a:tcPr marL="82296" marT="45720" marB="36576">
                    <a:solidFill>
                      <a:srgbClr val="FFFFFF"/>
                    </a:solidFill>
                  </a:tcPr>
                </a:tc>
                <a:tc>
                  <a:txBody>
                    <a:bodyPr/>
                    <a:lstStyle/>
                    <a:p>
                      <a:pPr>
                        <a:defRPr sz="1400" b="0">
                          <a:solidFill>
                            <a:srgbClr val="111111"/>
                          </a:solidFill>
                          <a:latin typeface="Calibri"/>
                        </a:defRPr>
                      </a:pPr>
                      <a:r>
                        <a:t>86,410</a:t>
                      </a:r>
                    </a:p>
                  </a:txBody>
                  <a:tcPr marL="82296" marT="45720" marB="36576">
                    <a:solidFill>
                      <a:srgbClr val="FFFFFF"/>
                    </a:solidFill>
                  </a:tcPr>
                </a:tc>
                <a:tc>
                  <a:txBody>
                    <a:bodyPr/>
                    <a:lstStyle/>
                    <a:p>
                      <a:pPr>
                        <a:defRPr sz="1400" b="0">
                          <a:solidFill>
                            <a:srgbClr val="111111"/>
                          </a:solidFill>
                          <a:latin typeface="Calibri"/>
                        </a:defRPr>
                      </a:pPr>
                      <a:r>
                        <a:t>1.56</a:t>
                      </a:r>
                    </a:p>
                  </a:txBody>
                  <a:tcPr marL="82296" marT="45720" marB="36576">
                    <a:solidFill>
                      <a:srgbClr val="FFFFFF"/>
                    </a:solidFill>
                  </a:tcPr>
                </a:tc>
                <a:tc>
                  <a:txBody>
                    <a:bodyPr/>
                    <a:lstStyle/>
                    <a:p>
                      <a:pPr>
                        <a:defRPr sz="1400" b="0">
                          <a:solidFill>
                            <a:srgbClr val="111111"/>
                          </a:solidFill>
                          <a:latin typeface="Calibri"/>
                        </a:defRPr>
                      </a:pPr>
                      <a:r>
                        <a:t>$0.26</a:t>
                      </a:r>
                    </a:p>
                  </a:txBody>
                  <a:tcPr marL="82296" marT="45720" marB="36576">
                    <a:solidFill>
                      <a:srgbClr val="FFFFFF"/>
                    </a:solidFill>
                  </a:tcPr>
                </a:tc>
                <a:tc>
                  <a:txBody>
                    <a:bodyPr/>
                    <a:lstStyle/>
                    <a:p>
                      <a:pPr>
                        <a:defRPr sz="1400" b="0">
                          <a:solidFill>
                            <a:srgbClr val="111111"/>
                          </a:solidFill>
                          <a:latin typeface="Calibri"/>
                        </a:defRPr>
                      </a:pPr>
                      <a:r>
                        <a:t>—</a:t>
                      </a:r>
                    </a:p>
                  </a:txBody>
                  <a:tcPr marL="82296" marT="45720" marB="36576">
                    <a:solidFill>
                      <a:srgbClr val="FFFFFF"/>
                    </a:solidFill>
                  </a:tcPr>
                </a:tc>
              </a:tr>
              <a:tr h="320040">
                <a:tc>
                  <a:txBody>
                    <a:bodyPr/>
                    <a:lstStyle/>
                    <a:p>
                      <a:pPr>
                        <a:defRPr sz="1400" b="1">
                          <a:solidFill>
                            <a:srgbClr val="2F6B8A"/>
                          </a:solidFill>
                          <a:latin typeface="Calibri"/>
                        </a:defRPr>
                      </a:pPr>
                      <a:r>
                        <a:t>Sonnet / Rhiza</a:t>
                      </a:r>
                    </a:p>
                  </a:txBody>
                  <a:tcPr marL="82296" marT="45720" marB="36576">
                    <a:solidFill>
                      <a:srgbClr val="FFFFFF"/>
                    </a:solidFill>
                  </a:tcPr>
                </a:tc>
                <a:tc>
                  <a:txBody>
                    <a:bodyPr/>
                    <a:lstStyle/>
                    <a:p>
                      <a:pPr>
                        <a:defRPr sz="1400" b="0">
                          <a:solidFill>
                            <a:srgbClr val="111111"/>
                          </a:solidFill>
                          <a:latin typeface="Calibri"/>
                        </a:defRPr>
                      </a:pPr>
                      <a:r>
                        <a:t>12/12</a:t>
                      </a:r>
                    </a:p>
                  </a:txBody>
                  <a:tcPr marL="82296" marT="45720" marB="36576">
                    <a:solidFill>
                      <a:srgbClr val="FFFFFF"/>
                    </a:solidFill>
                  </a:tcPr>
                </a:tc>
                <a:tc>
                  <a:txBody>
                    <a:bodyPr/>
                    <a:lstStyle/>
                    <a:p>
                      <a:pPr>
                        <a:defRPr sz="1400" b="0">
                          <a:solidFill>
                            <a:srgbClr val="111111"/>
                          </a:solidFill>
                          <a:latin typeface="Calibri"/>
                        </a:defRPr>
                      </a:pPr>
                      <a:r>
                        <a:t>132,946</a:t>
                      </a:r>
                    </a:p>
                  </a:txBody>
                  <a:tcPr marL="82296" marT="45720" marB="36576">
                    <a:solidFill>
                      <a:srgbClr val="FFFFFF"/>
                    </a:solidFill>
                  </a:tcPr>
                </a:tc>
                <a:tc>
                  <a:txBody>
                    <a:bodyPr/>
                    <a:lstStyle/>
                    <a:p>
                      <a:pPr>
                        <a:defRPr sz="1400" b="0">
                          <a:solidFill>
                            <a:srgbClr val="111111"/>
                          </a:solidFill>
                          <a:latin typeface="Calibri"/>
                        </a:defRPr>
                      </a:pPr>
                      <a:r>
                        <a:t>1.64</a:t>
                      </a:r>
                    </a:p>
                  </a:txBody>
                  <a:tcPr marL="82296" marT="45720" marB="36576">
                    <a:solidFill>
                      <a:srgbClr val="FFFFFF"/>
                    </a:solidFill>
                  </a:tcPr>
                </a:tc>
                <a:tc>
                  <a:txBody>
                    <a:bodyPr/>
                    <a:lstStyle/>
                    <a:p>
                      <a:pPr>
                        <a:defRPr sz="1400" b="0">
                          <a:solidFill>
                            <a:srgbClr val="111111"/>
                          </a:solidFill>
                          <a:latin typeface="Calibri"/>
                        </a:defRPr>
                      </a:pPr>
                      <a:r>
                        <a:t>$0.36</a:t>
                      </a:r>
                    </a:p>
                  </a:txBody>
                  <a:tcPr marL="82296" marT="45720" marB="36576">
                    <a:solidFill>
                      <a:srgbClr val="FFFFFF"/>
                    </a:solidFill>
                  </a:tcPr>
                </a:tc>
                <a:tc>
                  <a:txBody>
                    <a:bodyPr/>
                    <a:lstStyle/>
                    <a:p>
                      <a:pPr>
                        <a:defRPr sz="1400" b="0">
                          <a:solidFill>
                            <a:srgbClr val="111111"/>
                          </a:solidFill>
                          <a:latin typeface="Calibri"/>
                        </a:defRPr>
                      </a:pPr>
                      <a:r>
                        <a:t>0.279</a:t>
                      </a:r>
                    </a:p>
                  </a:txBody>
                  <a:tcPr marL="82296" marT="45720" marB="36576">
                    <a:solidFill>
                      <a:srgbClr val="FFFFFF"/>
                    </a:solidFill>
                  </a:tcPr>
                </a:tc>
              </a:tr>
              <a:tr h="320040">
                <a:tc>
                  <a:txBody>
                    <a:bodyPr/>
                    <a:lstStyle/>
                    <a:p>
                      <a:pPr>
                        <a:defRPr sz="1400" b="1">
                          <a:solidFill>
                            <a:srgbClr val="8A1C1C"/>
                          </a:solidFill>
                          <a:latin typeface="Calibri"/>
                        </a:defRPr>
                      </a:pPr>
                      <a:r>
                        <a:t>Sonnet / ACCORD</a:t>
                      </a:r>
                    </a:p>
                  </a:txBody>
                  <a:tcPr marL="82296" marT="45720" marB="36576">
                    <a:solidFill>
                      <a:srgbClr val="FFFFFF"/>
                    </a:solidFill>
                  </a:tcPr>
                </a:tc>
                <a:tc>
                  <a:txBody>
                    <a:bodyPr/>
                    <a:lstStyle/>
                    <a:p>
                      <a:pPr>
                        <a:defRPr sz="1400" b="0">
                          <a:solidFill>
                            <a:srgbClr val="111111"/>
                          </a:solidFill>
                          <a:latin typeface="Calibri"/>
                        </a:defRPr>
                      </a:pPr>
                      <a:r>
                        <a:t>9/12</a:t>
                      </a:r>
                    </a:p>
                  </a:txBody>
                  <a:tcPr marL="82296" marT="45720" marB="36576">
                    <a:solidFill>
                      <a:srgbClr val="FFFFFF"/>
                    </a:solidFill>
                  </a:tcPr>
                </a:tc>
                <a:tc>
                  <a:txBody>
                    <a:bodyPr/>
                    <a:lstStyle/>
                    <a:p>
                      <a:pPr>
                        <a:defRPr sz="1400" b="0">
                          <a:solidFill>
                            <a:srgbClr val="111111"/>
                          </a:solidFill>
                          <a:latin typeface="Calibri"/>
                        </a:defRPr>
                      </a:pPr>
                      <a:r>
                        <a:t>213,754</a:t>
                      </a:r>
                    </a:p>
                  </a:txBody>
                  <a:tcPr marL="82296" marT="45720" marB="36576">
                    <a:solidFill>
                      <a:srgbClr val="FFFFFF"/>
                    </a:solidFill>
                  </a:tcPr>
                </a:tc>
                <a:tc>
                  <a:txBody>
                    <a:bodyPr/>
                    <a:lstStyle/>
                    <a:p>
                      <a:pPr>
                        <a:defRPr sz="1400" b="0">
                          <a:solidFill>
                            <a:srgbClr val="111111"/>
                          </a:solidFill>
                          <a:latin typeface="Calibri"/>
                        </a:defRPr>
                      </a:pPr>
                      <a:r>
                        <a:t>2.57</a:t>
                      </a:r>
                    </a:p>
                  </a:txBody>
                  <a:tcPr marL="82296" marT="45720" marB="36576">
                    <a:solidFill>
                      <a:srgbClr val="FFFFFF"/>
                    </a:solidFill>
                  </a:tcPr>
                </a:tc>
                <a:tc>
                  <a:txBody>
                    <a:bodyPr/>
                    <a:lstStyle/>
                    <a:p>
                      <a:pPr>
                        <a:defRPr sz="1400" b="0">
                          <a:solidFill>
                            <a:srgbClr val="111111"/>
                          </a:solidFill>
                          <a:latin typeface="Calibri"/>
                        </a:defRPr>
                      </a:pPr>
                      <a:r>
                        <a:t>$0.55</a:t>
                      </a:r>
                    </a:p>
                  </a:txBody>
                  <a:tcPr marL="82296" marT="45720" marB="36576">
                    <a:solidFill>
                      <a:srgbClr val="FFFFFF"/>
                    </a:solidFill>
                  </a:tcPr>
                </a:tc>
                <a:tc>
                  <a:txBody>
                    <a:bodyPr/>
                    <a:lstStyle/>
                    <a:p>
                      <a:pPr>
                        <a:defRPr sz="1400" b="0">
                          <a:solidFill>
                            <a:srgbClr val="111111"/>
                          </a:solidFill>
                          <a:latin typeface="Calibri"/>
                        </a:defRPr>
                      </a:pPr>
                      <a:r>
                        <a:t>—</a:t>
                      </a:r>
                    </a:p>
                  </a:txBody>
                  <a:tcPr marL="82296" marT="45720" marB="36576">
                    <a:solidFill>
                      <a:srgbClr val="FFFFFF"/>
                    </a:solidFill>
                  </a:tcPr>
                </a:tc>
              </a:tr>
              <a:tr h="320040">
                <a:tc>
                  <a:txBody>
                    <a:bodyPr/>
                    <a:lstStyle/>
                    <a:p>
                      <a:pPr>
                        <a:defRPr sz="1400" b="1">
                          <a:solidFill>
                            <a:srgbClr val="777777"/>
                          </a:solidFill>
                          <a:latin typeface="Calibri"/>
                        </a:defRPr>
                      </a:pPr>
                      <a:r>
                        <a:t>Fable / scratch</a:t>
                      </a:r>
                    </a:p>
                  </a:txBody>
                  <a:tcPr marL="82296" marT="45720" marB="36576">
                    <a:solidFill>
                      <a:srgbClr val="FFFFFF"/>
                    </a:solidFill>
                  </a:tcPr>
                </a:tc>
                <a:tc>
                  <a:txBody>
                    <a:bodyPr/>
                    <a:lstStyle/>
                    <a:p>
                      <a:pPr>
                        <a:defRPr sz="1400" b="0">
                          <a:solidFill>
                            <a:srgbClr val="111111"/>
                          </a:solidFill>
                          <a:latin typeface="Calibri"/>
                        </a:defRPr>
                      </a:pPr>
                      <a:r>
                        <a:t>12/12</a:t>
                      </a:r>
                    </a:p>
                  </a:txBody>
                  <a:tcPr marL="82296" marT="45720" marB="36576">
                    <a:solidFill>
                      <a:srgbClr val="FFFFFF"/>
                    </a:solidFill>
                  </a:tcPr>
                </a:tc>
                <a:tc>
                  <a:txBody>
                    <a:bodyPr/>
                    <a:lstStyle/>
                    <a:p>
                      <a:pPr>
                        <a:defRPr sz="1400" b="0">
                          <a:solidFill>
                            <a:srgbClr val="111111"/>
                          </a:solidFill>
                          <a:latin typeface="Calibri"/>
                        </a:defRPr>
                      </a:pPr>
                      <a:r>
                        <a:t>260,515</a:t>
                      </a:r>
                    </a:p>
                  </a:txBody>
                  <a:tcPr marL="82296" marT="45720" marB="36576">
                    <a:solidFill>
                      <a:srgbClr val="FFFFFF"/>
                    </a:solidFill>
                  </a:tcPr>
                </a:tc>
                <a:tc>
                  <a:txBody>
                    <a:bodyPr/>
                    <a:lstStyle/>
                    <a:p>
                      <a:pPr>
                        <a:defRPr sz="1400" b="0">
                          <a:solidFill>
                            <a:srgbClr val="111111"/>
                          </a:solidFill>
                          <a:latin typeface="Calibri"/>
                        </a:defRPr>
                      </a:pPr>
                      <a:r>
                        <a:t>4.92</a:t>
                      </a:r>
                    </a:p>
                  </a:txBody>
                  <a:tcPr marL="82296" marT="45720" marB="36576">
                    <a:solidFill>
                      <a:srgbClr val="FFFFFF"/>
                    </a:solidFill>
                  </a:tcPr>
                </a:tc>
                <a:tc>
                  <a:txBody>
                    <a:bodyPr/>
                    <a:lstStyle/>
                    <a:p>
                      <a:pPr>
                        <a:defRPr sz="1400" b="0">
                          <a:solidFill>
                            <a:srgbClr val="111111"/>
                          </a:solidFill>
                          <a:latin typeface="Calibri"/>
                        </a:defRPr>
                      </a:pPr>
                      <a:r>
                        <a:t>$3.36</a:t>
                      </a:r>
                    </a:p>
                  </a:txBody>
                  <a:tcPr marL="82296" marT="45720" marB="36576">
                    <a:solidFill>
                      <a:srgbClr val="FFFFFF"/>
                    </a:solidFill>
                  </a:tcPr>
                </a:tc>
                <a:tc>
                  <a:txBody>
                    <a:bodyPr/>
                    <a:lstStyle/>
                    <a:p>
                      <a:pPr>
                        <a:defRPr sz="1400" b="0">
                          <a:solidFill>
                            <a:srgbClr val="111111"/>
                          </a:solidFill>
                          <a:latin typeface="Calibri"/>
                        </a:defRPr>
                      </a:pPr>
                      <a:r>
                        <a:t>0.279</a:t>
                      </a:r>
                    </a:p>
                  </a:txBody>
                  <a:tcPr marL="82296" marT="45720" marB="36576">
                    <a:solidFill>
                      <a:srgbClr val="FFFFFF"/>
                    </a:solidFill>
                  </a:tcPr>
                </a:tc>
              </a:tr>
              <a:tr h="320040">
                <a:tc>
                  <a:txBody>
                    <a:bodyPr/>
                    <a:lstStyle/>
                    <a:p>
                      <a:pPr>
                        <a:defRPr sz="1400" b="1">
                          <a:solidFill>
                            <a:srgbClr val="2F6B8A"/>
                          </a:solidFill>
                          <a:latin typeface="Calibri"/>
                        </a:defRPr>
                      </a:pPr>
                      <a:r>
                        <a:t>Fable / Rhiza</a:t>
                      </a:r>
                    </a:p>
                  </a:txBody>
                  <a:tcPr marL="82296" marT="45720" marB="36576">
                    <a:solidFill>
                      <a:srgbClr val="FFFFFF"/>
                    </a:solidFill>
                  </a:tcPr>
                </a:tc>
                <a:tc>
                  <a:txBody>
                    <a:bodyPr/>
                    <a:lstStyle/>
                    <a:p>
                      <a:pPr>
                        <a:defRPr sz="1400" b="0">
                          <a:solidFill>
                            <a:srgbClr val="111111"/>
                          </a:solidFill>
                          <a:latin typeface="Calibri"/>
                        </a:defRPr>
                      </a:pPr>
                      <a:r>
                        <a:t>11/12</a:t>
                      </a:r>
                    </a:p>
                  </a:txBody>
                  <a:tcPr marL="82296" marT="45720" marB="36576">
                    <a:solidFill>
                      <a:srgbClr val="FFFFFF"/>
                    </a:solidFill>
                  </a:tcPr>
                </a:tc>
                <a:tc>
                  <a:txBody>
                    <a:bodyPr/>
                    <a:lstStyle/>
                    <a:p>
                      <a:pPr>
                        <a:defRPr sz="1400" b="0">
                          <a:solidFill>
                            <a:srgbClr val="111111"/>
                          </a:solidFill>
                          <a:latin typeface="Calibri"/>
                        </a:defRPr>
                      </a:pPr>
                      <a:r>
                        <a:t>360,047</a:t>
                      </a:r>
                    </a:p>
                  </a:txBody>
                  <a:tcPr marL="82296" marT="45720" marB="36576">
                    <a:solidFill>
                      <a:srgbClr val="FFFFFF"/>
                    </a:solidFill>
                  </a:tcPr>
                </a:tc>
                <a:tc>
                  <a:txBody>
                    <a:bodyPr/>
                    <a:lstStyle/>
                    <a:p>
                      <a:pPr>
                        <a:defRPr sz="1400" b="0">
                          <a:solidFill>
                            <a:srgbClr val="111111"/>
                          </a:solidFill>
                          <a:latin typeface="Calibri"/>
                        </a:defRPr>
                      </a:pPr>
                      <a:r>
                        <a:t>4.88</a:t>
                      </a:r>
                    </a:p>
                  </a:txBody>
                  <a:tcPr marL="82296" marT="45720" marB="36576">
                    <a:solidFill>
                      <a:srgbClr val="FFFFFF"/>
                    </a:solidFill>
                  </a:tcPr>
                </a:tc>
                <a:tc>
                  <a:txBody>
                    <a:bodyPr/>
                    <a:lstStyle/>
                    <a:p>
                      <a:pPr>
                        <a:defRPr sz="1400" b="0">
                          <a:solidFill>
                            <a:srgbClr val="111111"/>
                          </a:solidFill>
                          <a:latin typeface="Calibri"/>
                        </a:defRPr>
                      </a:pPr>
                      <a:r>
                        <a:t>$4.42</a:t>
                      </a:r>
                    </a:p>
                  </a:txBody>
                  <a:tcPr marL="82296" marT="45720" marB="36576">
                    <a:solidFill>
                      <a:srgbClr val="FFFFFF"/>
                    </a:solidFill>
                  </a:tcPr>
                </a:tc>
                <a:tc>
                  <a:txBody>
                    <a:bodyPr/>
                    <a:lstStyle/>
                    <a:p>
                      <a:pPr>
                        <a:defRPr sz="1400" b="0">
                          <a:solidFill>
                            <a:srgbClr val="111111"/>
                          </a:solidFill>
                          <a:latin typeface="Calibri"/>
                        </a:defRPr>
                      </a:pPr>
                      <a:r>
                        <a:t>0.281</a:t>
                      </a:r>
                    </a:p>
                  </a:txBody>
                  <a:tcPr marL="82296" marT="45720" marB="36576">
                    <a:solidFill>
                      <a:srgbClr val="FFFFFF"/>
                    </a:solidFill>
                  </a:tcPr>
                </a:tc>
              </a:tr>
              <a:tr h="320040">
                <a:tc>
                  <a:txBody>
                    <a:bodyPr/>
                    <a:lstStyle/>
                    <a:p>
                      <a:pPr>
                        <a:defRPr sz="1400" b="1">
                          <a:solidFill>
                            <a:srgbClr val="8A1C1C"/>
                          </a:solidFill>
                          <a:latin typeface="Calibri"/>
                        </a:defRPr>
                      </a:pPr>
                      <a:r>
                        <a:t>Fable / ACCORD</a:t>
                      </a:r>
                    </a:p>
                  </a:txBody>
                  <a:tcPr marL="82296" marT="45720" marB="36576">
                    <a:solidFill>
                      <a:srgbClr val="FFFFFF"/>
                    </a:solidFill>
                  </a:tcPr>
                </a:tc>
                <a:tc>
                  <a:txBody>
                    <a:bodyPr/>
                    <a:lstStyle/>
                    <a:p>
                      <a:pPr>
                        <a:defRPr sz="1400" b="0">
                          <a:solidFill>
                            <a:srgbClr val="111111"/>
                          </a:solidFill>
                          <a:latin typeface="Calibri"/>
                        </a:defRPr>
                      </a:pPr>
                      <a:r>
                        <a:t>12/12</a:t>
                      </a:r>
                    </a:p>
                  </a:txBody>
                  <a:tcPr marL="82296" marT="45720" marB="36576">
                    <a:solidFill>
                      <a:srgbClr val="FFFFFF"/>
                    </a:solidFill>
                  </a:tcPr>
                </a:tc>
                <a:tc>
                  <a:txBody>
                    <a:bodyPr/>
                    <a:lstStyle/>
                    <a:p>
                      <a:pPr>
                        <a:defRPr sz="1400" b="0">
                          <a:solidFill>
                            <a:srgbClr val="111111"/>
                          </a:solidFill>
                          <a:latin typeface="Calibri"/>
                        </a:defRPr>
                      </a:pPr>
                      <a:r>
                        <a:t>365,355</a:t>
                      </a:r>
                    </a:p>
                  </a:txBody>
                  <a:tcPr marL="82296" marT="45720" marB="36576">
                    <a:solidFill>
                      <a:srgbClr val="FFFFFF"/>
                    </a:solidFill>
                  </a:tcPr>
                </a:tc>
                <a:tc>
                  <a:txBody>
                    <a:bodyPr/>
                    <a:lstStyle/>
                    <a:p>
                      <a:pPr>
                        <a:defRPr sz="1400" b="0">
                          <a:solidFill>
                            <a:srgbClr val="111111"/>
                          </a:solidFill>
                          <a:latin typeface="Calibri"/>
                        </a:defRPr>
                      </a:pPr>
                      <a:r>
                        <a:t>4.10</a:t>
                      </a:r>
                    </a:p>
                  </a:txBody>
                  <a:tcPr marL="82296" marT="45720" marB="36576">
                    <a:solidFill>
                      <a:srgbClr val="FFFFFF"/>
                    </a:solidFill>
                  </a:tcPr>
                </a:tc>
                <a:tc>
                  <a:txBody>
                    <a:bodyPr/>
                    <a:lstStyle/>
                    <a:p>
                      <a:pPr>
                        <a:defRPr sz="1400" b="0">
                          <a:solidFill>
                            <a:srgbClr val="111111"/>
                          </a:solidFill>
                          <a:latin typeface="Calibri"/>
                        </a:defRPr>
                      </a:pPr>
                      <a:r>
                        <a:t>$4.39</a:t>
                      </a:r>
                    </a:p>
                  </a:txBody>
                  <a:tcPr marL="82296" marT="45720" marB="36576">
                    <a:solidFill>
                      <a:srgbClr val="FFFFFF"/>
                    </a:solidFill>
                  </a:tcPr>
                </a:tc>
                <a:tc>
                  <a:txBody>
                    <a:bodyPr/>
                    <a:lstStyle/>
                    <a:p>
                      <a:pPr>
                        <a:defRPr sz="1400" b="0">
                          <a:solidFill>
                            <a:srgbClr val="111111"/>
                          </a:solidFill>
                          <a:latin typeface="Calibri"/>
                        </a:defRPr>
                      </a:pPr>
                      <a:r>
                        <a:t>0.279</a:t>
                      </a:r>
                    </a:p>
                  </a:txBody>
                  <a:tcPr marL="82296" marT="45720" marB="36576">
                    <a:solidFill>
                      <a:srgbClr val="FFFFFF"/>
                    </a:solidFill>
                  </a:tcPr>
                </a:tc>
              </a:tr>
            </a:tbl>
          </a:graphicData>
        </a:graphic>
      </p:graphicFrame>
      <p:sp>
        <p:nvSpPr>
          <p:cNvPr id="12" name="TextBox 11"/>
          <p:cNvSpPr txBox="1"/>
          <p:nvPr/>
        </p:nvSpPr>
        <p:spPr>
          <a:xfrm>
            <a:off x="548640" y="5532120"/>
            <a:ext cx="11064240" cy="457200"/>
          </a:xfrm>
          <a:prstGeom prst="rect">
            <a:avLst/>
          </a:prstGeom>
          <a:noFill/>
        </p:spPr>
        <p:txBody>
          <a:bodyPr wrap="square" lIns="0" rIns="0">
            <a:spAutoFit/>
          </a:bodyPr>
          <a:lstStyle/>
          <a:p>
            <a:pPr>
              <a:spcAft>
                <a:spcPts val="1000"/>
              </a:spcAft>
              <a:defRPr sz="1700" b="0">
                <a:solidFill>
                  <a:srgbClr val="111111"/>
                </a:solidFill>
                <a:latin typeface="Calibri"/>
              </a:defRPr>
            </a:pPr>
            <a:r>
              <a:t>Sonnet + Rhiza matched Fable scratch’s 12/12 checks at 89% lower API cost. Haiku stayed incomplete in all arms.</a:t>
            </a:r>
          </a:p>
        </p:txBody>
      </p:sp>
      <p:sp>
        <p:nvSpPr>
          <p:cNvPr id="13" name="TextBox 12"/>
          <p:cNvSpPr txBox="1"/>
          <p:nvPr/>
        </p:nvSpPr>
        <p:spPr>
          <a:xfrm>
            <a:off x="548640" y="6080760"/>
            <a:ext cx="11064240" cy="228600"/>
          </a:xfrm>
          <a:prstGeom prst="rect">
            <a:avLst/>
          </a:prstGeom>
          <a:noFill/>
        </p:spPr>
        <p:txBody>
          <a:bodyPr wrap="square" lIns="0" rIns="0">
            <a:spAutoFit/>
          </a:bodyPr>
          <a:lstStyle/>
          <a:p>
            <a:pPr>
              <a:spcAft>
                <a:spcPts val="1000"/>
              </a:spcAft>
              <a:defRPr sz="1100" b="0">
                <a:solidFill>
                  <a:srgbClr val="6B6B6B"/>
                </a:solidFill>
                <a:latin typeface="Calibri"/>
              </a:defRPr>
            </a:pPr>
            <a:r>
              <a:t>One attempt per condition. Cost bars: $0–$5. Haiku 4.5 / Sonnet 5.5 / Fable 5.1. Rhiza supplied catalog context; scripts were not called.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Follow-up task: forecast the next two years</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Produce Oct–Dec rainfall probabilities for 2007–08 in the same Kenyan study area (initial: 2005–06).</a:t>
            </a:r>
          </a:p>
          <a:p>
            <a:pPr>
              <a:spcAft>
                <a:spcPts val="1000"/>
              </a:spcAft>
              <a:defRPr sz="1800" b="0">
                <a:solidFill>
                  <a:srgbClr val="111111"/>
                </a:solidFill>
                <a:latin typeface="Calibri"/>
              </a:defRPr>
            </a:pPr>
            <a:r>
              <a:t>Fable, fresh conversation: reuse the saved model without refitting; validate the workflow and record repairs.</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18</a:t>
            </a:r>
          </a:p>
        </p:txBody>
      </p:sp>
      <p:graphicFrame>
        <p:nvGraphicFramePr>
          <p:cNvPr id="5" name="Table 4"/>
          <p:cNvGraphicFramePr>
            <a:graphicFrameLocks noGrp="1"/>
          </p:cNvGraphicFramePr>
          <p:nvPr/>
        </p:nvGraphicFramePr>
        <p:xfrm>
          <a:off x="548640" y="2423160"/>
          <a:ext cx="11064240" cy="1938528"/>
        </p:xfrm>
        <a:graphic>
          <a:graphicData uri="http://schemas.openxmlformats.org/drawingml/2006/table">
            <a:tbl>
              <a:tblPr firstRow="1" bandRow="1">
                <a:tableStyleId>{5C22544A-7EE6-4342-B048-85BDC9FD1C3A}</a:tableStyleId>
              </a:tblPr>
              <a:tblGrid>
                <a:gridCol w="2011680"/>
                <a:gridCol w="2926080"/>
                <a:gridCol w="2377440"/>
                <a:gridCol w="2103120"/>
                <a:gridCol w="1645920"/>
              </a:tblGrid>
              <a:tr h="484632">
                <a:tc>
                  <a:txBody>
                    <a:bodyPr/>
                    <a:lstStyle/>
                    <a:p>
                      <a:pPr>
                        <a:defRPr sz="1600" b="1">
                          <a:solidFill>
                            <a:srgbClr val="111111"/>
                          </a:solidFill>
                          <a:latin typeface="Calibri"/>
                        </a:defRPr>
                      </a:pPr>
                      <a:r>
                        <a:t>Fable arm</a:t>
                      </a:r>
                    </a:p>
                  </a:txBody>
                  <a:tcPr marL="82296" marT="73152" marB="36576">
                    <a:solidFill>
                      <a:srgbClr val="EEEEEE"/>
                    </a:solidFill>
                  </a:tcPr>
                </a:tc>
                <a:tc>
                  <a:txBody>
                    <a:bodyPr/>
                    <a:lstStyle/>
                    <a:p>
                      <a:pPr>
                        <a:defRPr sz="1600" b="1">
                          <a:solidFill>
                            <a:srgbClr val="111111"/>
                          </a:solidFill>
                          <a:latin typeface="Calibri"/>
                        </a:defRPr>
                      </a:pPr>
                      <a:r>
                        <a:t>Initial → follow-up $</a:t>
                      </a:r>
                    </a:p>
                  </a:txBody>
                  <a:tcPr marL="82296" marT="73152" marB="36576">
                    <a:solidFill>
                      <a:srgbClr val="EEEEEE"/>
                    </a:solidFill>
                  </a:tcPr>
                </a:tc>
                <a:tc>
                  <a:txBody>
                    <a:bodyPr/>
                    <a:lstStyle/>
                    <a:p>
                      <a:pPr>
                        <a:defRPr sz="1600" b="1">
                          <a:solidFill>
                            <a:srgbClr val="111111"/>
                          </a:solidFill>
                          <a:latin typeface="Calibri"/>
                        </a:defRPr>
                      </a:pPr>
                      <a:r>
                        <a:t>Follow-up tokens</a:t>
                      </a:r>
                    </a:p>
                  </a:txBody>
                  <a:tcPr marL="82296" marT="73152" marB="36576">
                    <a:solidFill>
                      <a:srgbClr val="EEEEEE"/>
                    </a:solidFill>
                  </a:tcPr>
                </a:tc>
                <a:tc>
                  <a:txBody>
                    <a:bodyPr/>
                    <a:lstStyle/>
                    <a:p>
                      <a:pPr>
                        <a:defRPr sz="1600" b="1">
                          <a:solidFill>
                            <a:srgbClr val="111111"/>
                          </a:solidFill>
                          <a:latin typeface="Calibri"/>
                        </a:defRPr>
                      </a:pPr>
                      <a:r>
                        <a:t>Minutes</a:t>
                      </a:r>
                    </a:p>
                  </a:txBody>
                  <a:tcPr marL="82296" marT="73152" marB="36576">
                    <a:solidFill>
                      <a:srgbClr val="EEEEEE"/>
                    </a:solidFill>
                  </a:tcPr>
                </a:tc>
                <a:tc>
                  <a:txBody>
                    <a:bodyPr/>
                    <a:lstStyle/>
                    <a:p>
                      <a:pPr>
                        <a:defRPr sz="1600" b="1">
                          <a:solidFill>
                            <a:srgbClr val="111111"/>
                          </a:solidFill>
                          <a:latin typeface="Calibri"/>
                        </a:defRPr>
                      </a:pPr>
                      <a:r>
                        <a:t>Checks</a:t>
                      </a:r>
                    </a:p>
                  </a:txBody>
                  <a:tcPr marL="82296" marT="73152" marB="36576">
                    <a:solidFill>
                      <a:srgbClr val="EEEEEE"/>
                    </a:solidFill>
                  </a:tcPr>
                </a:tc>
              </a:tr>
              <a:tr h="484632">
                <a:tc>
                  <a:txBody>
                    <a:bodyPr/>
                    <a:lstStyle/>
                    <a:p>
                      <a:pPr>
                        <a:defRPr sz="1600" b="1">
                          <a:solidFill>
                            <a:srgbClr val="777777"/>
                          </a:solidFill>
                          <a:latin typeface="Calibri"/>
                        </a:defRPr>
                      </a:pPr>
                      <a:r>
                        <a:t>Scratch</a:t>
                      </a:r>
                    </a:p>
                  </a:txBody>
                  <a:tcPr marL="82296" marT="73152" marB="36576">
                    <a:solidFill>
                      <a:srgbClr val="FFFFFF"/>
                    </a:solidFill>
                  </a:tcPr>
                </a:tc>
                <a:tc>
                  <a:txBody>
                    <a:bodyPr/>
                    <a:lstStyle/>
                    <a:p>
                      <a:pPr>
                        <a:defRPr sz="1600" b="0">
                          <a:solidFill>
                            <a:srgbClr val="111111"/>
                          </a:solidFill>
                          <a:latin typeface="Calibri"/>
                        </a:defRPr>
                      </a:pPr>
                      <a:r>
                        <a:t>$3.36 → $3.77</a:t>
                      </a:r>
                    </a:p>
                  </a:txBody>
                  <a:tcPr marL="82296" marT="73152" marB="36576">
                    <a:solidFill>
                      <a:srgbClr val="FFFFFF"/>
                    </a:solidFill>
                  </a:tcPr>
                </a:tc>
                <a:tc>
                  <a:txBody>
                    <a:bodyPr/>
                    <a:lstStyle/>
                    <a:p>
                      <a:pPr>
                        <a:defRPr sz="1600" b="0">
                          <a:solidFill>
                            <a:srgbClr val="111111"/>
                          </a:solidFill>
                          <a:latin typeface="Calibri"/>
                        </a:defRPr>
                      </a:pPr>
                      <a:r>
                        <a:t>334,053</a:t>
                      </a:r>
                    </a:p>
                  </a:txBody>
                  <a:tcPr marL="82296" marT="73152" marB="36576">
                    <a:solidFill>
                      <a:srgbClr val="FFFFFF"/>
                    </a:solidFill>
                  </a:tcPr>
                </a:tc>
                <a:tc>
                  <a:txBody>
                    <a:bodyPr/>
                    <a:lstStyle/>
                    <a:p>
                      <a:pPr>
                        <a:defRPr sz="1600" b="0">
                          <a:solidFill>
                            <a:srgbClr val="111111"/>
                          </a:solidFill>
                          <a:latin typeface="Calibri"/>
                        </a:defRPr>
                      </a:pPr>
                      <a:r>
                        <a:t>3.76</a:t>
                      </a:r>
                    </a:p>
                  </a:txBody>
                  <a:tcPr marL="82296" marT="73152" marB="36576">
                    <a:solidFill>
                      <a:srgbClr val="FFFFFF"/>
                    </a:solidFill>
                  </a:tcPr>
                </a:tc>
                <a:tc>
                  <a:txBody>
                    <a:bodyPr/>
                    <a:lstStyle/>
                    <a:p>
                      <a:pPr>
                        <a:defRPr sz="1600" b="0">
                          <a:solidFill>
                            <a:srgbClr val="111111"/>
                          </a:solidFill>
                          <a:latin typeface="Calibri"/>
                        </a:defRPr>
                      </a:pPr>
                      <a:r>
                        <a:t>12/12</a:t>
                      </a:r>
                    </a:p>
                  </a:txBody>
                  <a:tcPr marL="82296" marT="73152" marB="36576">
                    <a:solidFill>
                      <a:srgbClr val="FFFFFF"/>
                    </a:solidFill>
                  </a:tcPr>
                </a:tc>
              </a:tr>
              <a:tr h="484632">
                <a:tc>
                  <a:txBody>
                    <a:bodyPr/>
                    <a:lstStyle/>
                    <a:p>
                      <a:pPr>
                        <a:defRPr sz="1600" b="1">
                          <a:solidFill>
                            <a:srgbClr val="2F6B8A"/>
                          </a:solidFill>
                          <a:latin typeface="Calibri"/>
                        </a:defRPr>
                      </a:pPr>
                      <a:r>
                        <a:t>Rhiza</a:t>
                      </a:r>
                    </a:p>
                  </a:txBody>
                  <a:tcPr marL="82296" marT="73152" marB="36576">
                    <a:solidFill>
                      <a:srgbClr val="FFFFFF"/>
                    </a:solidFill>
                  </a:tcPr>
                </a:tc>
                <a:tc>
                  <a:txBody>
                    <a:bodyPr/>
                    <a:lstStyle/>
                    <a:p>
                      <a:pPr>
                        <a:defRPr sz="1600" b="0">
                          <a:solidFill>
                            <a:srgbClr val="111111"/>
                          </a:solidFill>
                          <a:latin typeface="Calibri"/>
                        </a:defRPr>
                      </a:pPr>
                      <a:r>
                        <a:t>$4.42 → $2.39</a:t>
                      </a:r>
                    </a:p>
                  </a:txBody>
                  <a:tcPr marL="82296" marT="73152" marB="36576">
                    <a:solidFill>
                      <a:srgbClr val="FFFFFF"/>
                    </a:solidFill>
                  </a:tcPr>
                </a:tc>
                <a:tc>
                  <a:txBody>
                    <a:bodyPr/>
                    <a:lstStyle/>
                    <a:p>
                      <a:pPr>
                        <a:defRPr sz="1600" b="0">
                          <a:solidFill>
                            <a:srgbClr val="111111"/>
                          </a:solidFill>
                          <a:latin typeface="Calibri"/>
                        </a:defRPr>
                      </a:pPr>
                      <a:r>
                        <a:t>213,139</a:t>
                      </a:r>
                    </a:p>
                  </a:txBody>
                  <a:tcPr marL="82296" marT="73152" marB="36576">
                    <a:solidFill>
                      <a:srgbClr val="FFFFFF"/>
                    </a:solidFill>
                  </a:tcPr>
                </a:tc>
                <a:tc>
                  <a:txBody>
                    <a:bodyPr/>
                    <a:lstStyle/>
                    <a:p>
                      <a:pPr>
                        <a:defRPr sz="1600" b="0">
                          <a:solidFill>
                            <a:srgbClr val="111111"/>
                          </a:solidFill>
                          <a:latin typeface="Calibri"/>
                        </a:defRPr>
                      </a:pPr>
                      <a:r>
                        <a:t>2.52</a:t>
                      </a:r>
                    </a:p>
                  </a:txBody>
                  <a:tcPr marL="82296" marT="73152" marB="36576">
                    <a:solidFill>
                      <a:srgbClr val="FFFFFF"/>
                    </a:solidFill>
                  </a:tcPr>
                </a:tc>
                <a:tc>
                  <a:txBody>
                    <a:bodyPr/>
                    <a:lstStyle/>
                    <a:p>
                      <a:pPr>
                        <a:defRPr sz="1600" b="0">
                          <a:solidFill>
                            <a:srgbClr val="111111"/>
                          </a:solidFill>
                          <a:latin typeface="Calibri"/>
                        </a:defRPr>
                      </a:pPr>
                      <a:r>
                        <a:t>11/12</a:t>
                      </a:r>
                    </a:p>
                  </a:txBody>
                  <a:tcPr marL="82296" marT="73152" marB="36576">
                    <a:solidFill>
                      <a:srgbClr val="FFFFFF"/>
                    </a:solidFill>
                  </a:tcPr>
                </a:tc>
              </a:tr>
              <a:tr h="484632">
                <a:tc>
                  <a:txBody>
                    <a:bodyPr/>
                    <a:lstStyle/>
                    <a:p>
                      <a:pPr>
                        <a:defRPr sz="1600" b="1">
                          <a:solidFill>
                            <a:srgbClr val="8A1C1C"/>
                          </a:solidFill>
                          <a:latin typeface="Calibri"/>
                        </a:defRPr>
                      </a:pPr>
                      <a:r>
                        <a:t>ACCORD</a:t>
                      </a:r>
                    </a:p>
                  </a:txBody>
                  <a:tcPr marL="82296" marT="73152" marB="36576">
                    <a:solidFill>
                      <a:srgbClr val="FFFFFF"/>
                    </a:solidFill>
                  </a:tcPr>
                </a:tc>
                <a:tc>
                  <a:txBody>
                    <a:bodyPr/>
                    <a:lstStyle/>
                    <a:p>
                      <a:pPr>
                        <a:defRPr sz="1600" b="0">
                          <a:solidFill>
                            <a:srgbClr val="111111"/>
                          </a:solidFill>
                          <a:latin typeface="Calibri"/>
                        </a:defRPr>
                      </a:pPr>
                      <a:r>
                        <a:t>$4.39 → $1.89</a:t>
                      </a:r>
                    </a:p>
                  </a:txBody>
                  <a:tcPr marL="82296" marT="73152" marB="36576">
                    <a:solidFill>
                      <a:srgbClr val="FFFFFF"/>
                    </a:solidFill>
                  </a:tcPr>
                </a:tc>
                <a:tc>
                  <a:txBody>
                    <a:bodyPr/>
                    <a:lstStyle/>
                    <a:p>
                      <a:pPr>
                        <a:defRPr sz="1600" b="0">
                          <a:solidFill>
                            <a:srgbClr val="111111"/>
                          </a:solidFill>
                          <a:latin typeface="Calibri"/>
                        </a:defRPr>
                      </a:pPr>
                      <a:r>
                        <a:t>165,576</a:t>
                      </a:r>
                    </a:p>
                  </a:txBody>
                  <a:tcPr marL="82296" marT="73152" marB="36576">
                    <a:solidFill>
                      <a:srgbClr val="FFFFFF"/>
                    </a:solidFill>
                  </a:tcPr>
                </a:tc>
                <a:tc>
                  <a:txBody>
                    <a:bodyPr/>
                    <a:lstStyle/>
                    <a:p>
                      <a:pPr>
                        <a:defRPr sz="1600" b="0">
                          <a:solidFill>
                            <a:srgbClr val="111111"/>
                          </a:solidFill>
                          <a:latin typeface="Calibri"/>
                        </a:defRPr>
                      </a:pPr>
                      <a:r>
                        <a:t>2.59</a:t>
                      </a:r>
                    </a:p>
                  </a:txBody>
                  <a:tcPr marL="82296" marT="73152" marB="36576">
                    <a:solidFill>
                      <a:srgbClr val="FFFFFF"/>
                    </a:solidFill>
                  </a:tcPr>
                </a:tc>
                <a:tc>
                  <a:txBody>
                    <a:bodyPr/>
                    <a:lstStyle/>
                    <a:p>
                      <a:pPr>
                        <a:defRPr sz="1600" b="0">
                          <a:solidFill>
                            <a:srgbClr val="111111"/>
                          </a:solidFill>
                          <a:latin typeface="Calibri"/>
                        </a:defRPr>
                      </a:pPr>
                      <a:r>
                        <a:t>12/12</a:t>
                      </a:r>
                    </a:p>
                  </a:txBody>
                  <a:tcPr marL="82296" marT="73152" marB="36576">
                    <a:solidFill>
                      <a:srgbClr val="FFFFFF"/>
                    </a:solidFill>
                  </a:tcPr>
                </a:tc>
              </a:tr>
            </a:tbl>
          </a:graphicData>
        </a:graphic>
      </p:graphicFrame>
      <p:sp>
        <p:nvSpPr>
          <p:cNvPr id="6" name="TextBox 5"/>
          <p:cNvSpPr txBox="1"/>
          <p:nvPr/>
        </p:nvSpPr>
        <p:spPr>
          <a:xfrm>
            <a:off x="548640" y="5394960"/>
            <a:ext cx="11064240" cy="457200"/>
          </a:xfrm>
          <a:prstGeom prst="rect">
            <a:avLst/>
          </a:prstGeom>
          <a:noFill/>
        </p:spPr>
        <p:txBody>
          <a:bodyPr wrap="square" lIns="0" rIns="0">
            <a:spAutoFit/>
          </a:bodyPr>
          <a:lstStyle/>
          <a:p>
            <a:pPr>
              <a:spcAft>
                <a:spcPts val="1000"/>
              </a:spcAft>
              <a:defRPr sz="1700" b="0">
                <a:solidFill>
                  <a:srgbClr val="111111"/>
                </a:solidFill>
                <a:latin typeface="Calibri"/>
              </a:defRPr>
            </a:pPr>
            <a:r>
              <a:t>ACCORD’s follow-up: 50% fewer tokens, 50% lower cost and 31% less time than scratch.</a:t>
            </a:r>
          </a:p>
          <a:p>
            <a:pPr>
              <a:spcAft>
                <a:spcPts val="1000"/>
              </a:spcAft>
              <a:defRPr sz="1700" b="0">
                <a:solidFill>
                  <a:srgbClr val="111111"/>
                </a:solidFill>
                <a:latin typeface="Calibri"/>
              </a:defRPr>
            </a:pPr>
            <a:r>
              <a:t>Both passed 12/12 checks. Across both attempts, ACCORD cost 12% less.</a:t>
            </a:r>
          </a:p>
        </p:txBody>
      </p:sp>
      <p:sp>
        <p:nvSpPr>
          <p:cNvPr id="7" name="TextBox 6"/>
          <p:cNvSpPr txBox="1"/>
          <p:nvPr/>
        </p:nvSpPr>
        <p:spPr>
          <a:xfrm>
            <a:off x="548640" y="6080760"/>
            <a:ext cx="11064240" cy="228600"/>
          </a:xfrm>
          <a:prstGeom prst="rect">
            <a:avLst/>
          </a:prstGeom>
          <a:noFill/>
        </p:spPr>
        <p:txBody>
          <a:bodyPr wrap="square" lIns="0" rIns="0">
            <a:spAutoFit/>
          </a:bodyPr>
          <a:lstStyle/>
          <a:p>
            <a:pPr>
              <a:spcAft>
                <a:spcPts val="1000"/>
              </a:spcAft>
              <a:defRPr sz="1100" b="0">
                <a:solidFill>
                  <a:srgbClr val="6B6B6B"/>
                </a:solidFill>
                <a:latin typeface="Calibri"/>
              </a:defRPr>
            </a:pPr>
            <a:r>
              <a:t>RPS ↓: scratch 0.396; Rhiza 0.404; ACCORD 0.412. No accuracy advantage established. No fresh-workspace controls or download savings.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How good were the forecasts?</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Fable in all three arms, evaluated against CHIRPS observations.</a:t>
            </a:r>
          </a:p>
          <a:p>
            <a:pPr>
              <a:spcAft>
                <a:spcPts val="1000"/>
              </a:spcAft>
              <a:defRPr sz="1800" b="0">
                <a:solidFill>
                  <a:srgbClr val="111111"/>
                </a:solidFill>
                <a:latin typeface="Calibri"/>
              </a:defRPr>
            </a:pPr>
            <a:r>
              <a:t>Ranked Probability Score (RPS): error in below / near / above probabilities; lower is better.</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19</a:t>
            </a:r>
          </a:p>
        </p:txBody>
      </p:sp>
      <p:graphicFrame>
        <p:nvGraphicFramePr>
          <p:cNvPr id="5" name="Table 4"/>
          <p:cNvGraphicFramePr>
            <a:graphicFrameLocks noGrp="1"/>
          </p:cNvGraphicFramePr>
          <p:nvPr/>
        </p:nvGraphicFramePr>
        <p:xfrm>
          <a:off x="548640" y="2286000"/>
          <a:ext cx="11064240" cy="2414016"/>
        </p:xfrm>
        <a:graphic>
          <a:graphicData uri="http://schemas.openxmlformats.org/drawingml/2006/table">
            <a:tbl>
              <a:tblPr firstRow="1" bandRow="1">
                <a:tableStyleId>{5C22544A-7EE6-4342-B048-85BDC9FD1C3A}</a:tableStyleId>
              </a:tblPr>
              <a:tblGrid>
                <a:gridCol w="5577840"/>
                <a:gridCol w="2743200"/>
                <a:gridCol w="2743200"/>
              </a:tblGrid>
              <a:tr h="402336">
                <a:tc>
                  <a:txBody>
                    <a:bodyPr/>
                    <a:lstStyle/>
                    <a:p>
                      <a:pPr>
                        <a:defRPr sz="1700" b="1">
                          <a:solidFill>
                            <a:srgbClr val="111111"/>
                          </a:solidFill>
                          <a:latin typeface="Calibri"/>
                        </a:defRPr>
                      </a:pPr>
                      <a:r>
                        <a:t>Forecast</a:t>
                      </a:r>
                    </a:p>
                  </a:txBody>
                  <a:tcPr marL="82296" marT="45720" marB="36576">
                    <a:solidFill>
                      <a:srgbClr val="EEEEEE"/>
                    </a:solidFill>
                  </a:tcPr>
                </a:tc>
                <a:tc>
                  <a:txBody>
                    <a:bodyPr/>
                    <a:lstStyle/>
                    <a:p>
                      <a:pPr>
                        <a:defRPr sz="1700" b="1">
                          <a:solidFill>
                            <a:srgbClr val="111111"/>
                          </a:solidFill>
                          <a:latin typeface="Calibri"/>
                        </a:defRPr>
                      </a:pPr>
                      <a:r>
                        <a:t>2005–06 initial</a:t>
                      </a:r>
                    </a:p>
                  </a:txBody>
                  <a:tcPr marL="82296" marT="45720" marB="36576">
                    <a:solidFill>
                      <a:srgbClr val="EEEEEE"/>
                    </a:solidFill>
                  </a:tcPr>
                </a:tc>
                <a:tc>
                  <a:txBody>
                    <a:bodyPr/>
                    <a:lstStyle/>
                    <a:p>
                      <a:pPr>
                        <a:defRPr sz="1700" b="1">
                          <a:solidFill>
                            <a:srgbClr val="111111"/>
                          </a:solidFill>
                          <a:latin typeface="Calibri"/>
                        </a:defRPr>
                      </a:pPr>
                      <a:r>
                        <a:t>2007–08 follow-up</a:t>
                      </a:r>
                    </a:p>
                  </a:txBody>
                  <a:tcPr marL="82296" marT="45720" marB="36576">
                    <a:solidFill>
                      <a:srgbClr val="EEEEEE"/>
                    </a:solidFill>
                  </a:tcPr>
                </a:tc>
              </a:tr>
              <a:tr h="402336">
                <a:tc>
                  <a:txBody>
                    <a:bodyPr/>
                    <a:lstStyle/>
                    <a:p>
                      <a:pPr>
                        <a:defRPr sz="1700" b="1">
                          <a:solidFill>
                            <a:srgbClr val="111111"/>
                          </a:solidFill>
                          <a:latin typeface="Calibri"/>
                        </a:defRPr>
                      </a:pPr>
                      <a:r>
                        <a:t>Raw ECMWF</a:t>
                      </a:r>
                    </a:p>
                  </a:txBody>
                  <a:tcPr marL="82296" marT="45720" marB="36576">
                    <a:solidFill>
                      <a:srgbClr val="FFFFFF"/>
                    </a:solidFill>
                  </a:tcPr>
                </a:tc>
                <a:tc>
                  <a:txBody>
                    <a:bodyPr/>
                    <a:lstStyle/>
                    <a:p>
                      <a:pPr>
                        <a:defRPr sz="1700" b="0">
                          <a:solidFill>
                            <a:srgbClr val="111111"/>
                          </a:solidFill>
                          <a:latin typeface="Calibri"/>
                        </a:defRPr>
                      </a:pPr>
                      <a:r>
                        <a:t>0.369</a:t>
                      </a:r>
                    </a:p>
                  </a:txBody>
                  <a:tcPr marL="82296" marT="45720" marB="36576">
                    <a:solidFill>
                      <a:srgbClr val="FFFFFF"/>
                    </a:solidFill>
                  </a:tcPr>
                </a:tc>
                <a:tc>
                  <a:txBody>
                    <a:bodyPr/>
                    <a:lstStyle/>
                    <a:p>
                      <a:pPr>
                        <a:defRPr sz="1700" b="0">
                          <a:solidFill>
                            <a:srgbClr val="111111"/>
                          </a:solidFill>
                          <a:latin typeface="Calibri"/>
                        </a:defRPr>
                      </a:pPr>
                      <a:r>
                        <a:t>0.439</a:t>
                      </a:r>
                    </a:p>
                  </a:txBody>
                  <a:tcPr marL="82296" marT="45720" marB="36576">
                    <a:solidFill>
                      <a:srgbClr val="FFFFFF"/>
                    </a:solidFill>
                  </a:tcPr>
                </a:tc>
              </a:tr>
              <a:tr h="402336">
                <a:tc>
                  <a:txBody>
                    <a:bodyPr/>
                    <a:lstStyle/>
                    <a:p>
                      <a:pPr>
                        <a:defRPr sz="1700" b="1">
                          <a:solidFill>
                            <a:srgbClr val="111111"/>
                          </a:solidFill>
                          <a:latin typeface="Calibri"/>
                        </a:defRPr>
                      </a:pPr>
                      <a:r>
                        <a:t>Simple model-climatology baseline</a:t>
                      </a:r>
                    </a:p>
                  </a:txBody>
                  <a:tcPr marL="82296" marT="45720" marB="36576">
                    <a:solidFill>
                      <a:srgbClr val="FFFFFF"/>
                    </a:solidFill>
                  </a:tcPr>
                </a:tc>
                <a:tc>
                  <a:txBody>
                    <a:bodyPr/>
                    <a:lstStyle/>
                    <a:p>
                      <a:pPr>
                        <a:defRPr sz="1700" b="0">
                          <a:solidFill>
                            <a:srgbClr val="111111"/>
                          </a:solidFill>
                          <a:latin typeface="Calibri"/>
                        </a:defRPr>
                      </a:pPr>
                      <a:r>
                        <a:t>0.296</a:t>
                      </a:r>
                    </a:p>
                  </a:txBody>
                  <a:tcPr marL="82296" marT="45720" marB="36576">
                    <a:solidFill>
                      <a:srgbClr val="FFFFFF"/>
                    </a:solidFill>
                  </a:tcPr>
                </a:tc>
                <a:tc>
                  <a:txBody>
                    <a:bodyPr/>
                    <a:lstStyle/>
                    <a:p>
                      <a:pPr>
                        <a:defRPr sz="1700" b="0">
                          <a:solidFill>
                            <a:srgbClr val="111111"/>
                          </a:solidFill>
                          <a:latin typeface="Calibri"/>
                        </a:defRPr>
                      </a:pPr>
                      <a:r>
                        <a:t>0.353</a:t>
                      </a:r>
                    </a:p>
                  </a:txBody>
                  <a:tcPr marL="82296" marT="45720" marB="36576">
                    <a:solidFill>
                      <a:srgbClr val="FFFFFF"/>
                    </a:solidFill>
                  </a:tcPr>
                </a:tc>
              </a:tr>
              <a:tr h="402336">
                <a:tc>
                  <a:txBody>
                    <a:bodyPr/>
                    <a:lstStyle/>
                    <a:p>
                      <a:pPr>
                        <a:defRPr sz="1700" b="1">
                          <a:solidFill>
                            <a:srgbClr val="777777"/>
                          </a:solidFill>
                          <a:latin typeface="Calibri"/>
                        </a:defRPr>
                      </a:pPr>
                      <a:r>
                        <a:t>Fable / scratch</a:t>
                      </a:r>
                    </a:p>
                  </a:txBody>
                  <a:tcPr marL="82296" marT="45720" marB="36576">
                    <a:solidFill>
                      <a:srgbClr val="FFFFFF"/>
                    </a:solidFill>
                  </a:tcPr>
                </a:tc>
                <a:tc>
                  <a:txBody>
                    <a:bodyPr/>
                    <a:lstStyle/>
                    <a:p>
                      <a:pPr>
                        <a:defRPr sz="1700" b="0">
                          <a:solidFill>
                            <a:srgbClr val="111111"/>
                          </a:solidFill>
                          <a:latin typeface="Calibri"/>
                        </a:defRPr>
                      </a:pPr>
                      <a:r>
                        <a:t>0.279</a:t>
                      </a:r>
                    </a:p>
                  </a:txBody>
                  <a:tcPr marL="82296" marT="45720" marB="36576">
                    <a:solidFill>
                      <a:srgbClr val="FFFFFF"/>
                    </a:solidFill>
                  </a:tcPr>
                </a:tc>
                <a:tc>
                  <a:txBody>
                    <a:bodyPr/>
                    <a:lstStyle/>
                    <a:p>
                      <a:pPr>
                        <a:defRPr sz="1700" b="0">
                          <a:solidFill>
                            <a:srgbClr val="111111"/>
                          </a:solidFill>
                          <a:latin typeface="Calibri"/>
                        </a:defRPr>
                      </a:pPr>
                      <a:r>
                        <a:t>0.396</a:t>
                      </a:r>
                    </a:p>
                  </a:txBody>
                  <a:tcPr marL="82296" marT="45720" marB="36576">
                    <a:solidFill>
                      <a:srgbClr val="FFFFFF"/>
                    </a:solidFill>
                  </a:tcPr>
                </a:tc>
              </a:tr>
              <a:tr h="402336">
                <a:tc>
                  <a:txBody>
                    <a:bodyPr/>
                    <a:lstStyle/>
                    <a:p>
                      <a:pPr>
                        <a:defRPr sz="1700" b="1">
                          <a:solidFill>
                            <a:srgbClr val="2F6B8A"/>
                          </a:solidFill>
                          <a:latin typeface="Calibri"/>
                        </a:defRPr>
                      </a:pPr>
                      <a:r>
                        <a:t>Fable / Rhiza</a:t>
                      </a:r>
                    </a:p>
                  </a:txBody>
                  <a:tcPr marL="82296" marT="45720" marB="36576">
                    <a:solidFill>
                      <a:srgbClr val="FFFFFF"/>
                    </a:solidFill>
                  </a:tcPr>
                </a:tc>
                <a:tc>
                  <a:txBody>
                    <a:bodyPr/>
                    <a:lstStyle/>
                    <a:p>
                      <a:pPr>
                        <a:defRPr sz="1700" b="0">
                          <a:solidFill>
                            <a:srgbClr val="111111"/>
                          </a:solidFill>
                          <a:latin typeface="Calibri"/>
                        </a:defRPr>
                      </a:pPr>
                      <a:r>
                        <a:t>0.281</a:t>
                      </a:r>
                    </a:p>
                  </a:txBody>
                  <a:tcPr marL="82296" marT="45720" marB="36576">
                    <a:solidFill>
                      <a:srgbClr val="FFFFFF"/>
                    </a:solidFill>
                  </a:tcPr>
                </a:tc>
                <a:tc>
                  <a:txBody>
                    <a:bodyPr/>
                    <a:lstStyle/>
                    <a:p>
                      <a:pPr>
                        <a:defRPr sz="1700" b="0">
                          <a:solidFill>
                            <a:srgbClr val="111111"/>
                          </a:solidFill>
                          <a:latin typeface="Calibri"/>
                        </a:defRPr>
                      </a:pPr>
                      <a:r>
                        <a:t>0.404</a:t>
                      </a:r>
                    </a:p>
                  </a:txBody>
                  <a:tcPr marL="82296" marT="45720" marB="36576">
                    <a:solidFill>
                      <a:srgbClr val="FFFFFF"/>
                    </a:solidFill>
                  </a:tcPr>
                </a:tc>
              </a:tr>
              <a:tr h="402336">
                <a:tc>
                  <a:txBody>
                    <a:bodyPr/>
                    <a:lstStyle/>
                    <a:p>
                      <a:pPr>
                        <a:defRPr sz="1700" b="1">
                          <a:solidFill>
                            <a:srgbClr val="8A1C1C"/>
                          </a:solidFill>
                          <a:latin typeface="Calibri"/>
                        </a:defRPr>
                      </a:pPr>
                      <a:r>
                        <a:t>Fable / ACCORD</a:t>
                      </a:r>
                    </a:p>
                  </a:txBody>
                  <a:tcPr marL="82296" marT="45720" marB="36576">
                    <a:solidFill>
                      <a:srgbClr val="FFFFFF"/>
                    </a:solidFill>
                  </a:tcPr>
                </a:tc>
                <a:tc>
                  <a:txBody>
                    <a:bodyPr/>
                    <a:lstStyle/>
                    <a:p>
                      <a:pPr>
                        <a:defRPr sz="1700" b="0">
                          <a:solidFill>
                            <a:srgbClr val="111111"/>
                          </a:solidFill>
                          <a:latin typeface="Calibri"/>
                        </a:defRPr>
                      </a:pPr>
                      <a:r>
                        <a:t>0.279</a:t>
                      </a:r>
                    </a:p>
                  </a:txBody>
                  <a:tcPr marL="82296" marT="45720" marB="36576">
                    <a:solidFill>
                      <a:srgbClr val="FFFFFF"/>
                    </a:solidFill>
                  </a:tcPr>
                </a:tc>
                <a:tc>
                  <a:txBody>
                    <a:bodyPr/>
                    <a:lstStyle/>
                    <a:p>
                      <a:pPr>
                        <a:defRPr sz="1700" b="0">
                          <a:solidFill>
                            <a:srgbClr val="111111"/>
                          </a:solidFill>
                          <a:latin typeface="Calibri"/>
                        </a:defRPr>
                      </a:pPr>
                      <a:r>
                        <a:t>0.412</a:t>
                      </a:r>
                    </a:p>
                  </a:txBody>
                  <a:tcPr marL="82296" marT="45720" marB="36576">
                    <a:solidFill>
                      <a:srgbClr val="FFFFFF"/>
                    </a:solidFill>
                  </a:tcPr>
                </a:tc>
              </a:tr>
            </a:tbl>
          </a:graphicData>
        </a:graphic>
      </p:graphicFrame>
      <p:sp>
        <p:nvSpPr>
          <p:cNvPr id="6" name="TextBox 5"/>
          <p:cNvSpPr txBox="1"/>
          <p:nvPr/>
        </p:nvSpPr>
        <p:spPr>
          <a:xfrm>
            <a:off x="548640" y="498348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All three beat raw ECMWF; initial forecast accuracy is similar across arms.</a:t>
            </a:r>
          </a:p>
          <a:p>
            <a:pPr>
              <a:spcAft>
                <a:spcPts val="1000"/>
              </a:spcAft>
              <a:defRPr sz="1800" b="0">
                <a:solidFill>
                  <a:srgbClr val="111111"/>
                </a:solidFill>
                <a:latin typeface="Calibri"/>
              </a:defRPr>
            </a:pPr>
            <a:r>
              <a:t>The simple baseline wins on the follow-up. No ACCORD accuracy advantage established.</a:t>
            </a:r>
          </a:p>
        </p:txBody>
      </p:sp>
      <p:sp>
        <p:nvSpPr>
          <p:cNvPr id="7" name="TextBox 6"/>
          <p:cNvSpPr txBox="1"/>
          <p:nvPr/>
        </p:nvSpPr>
        <p:spPr>
          <a:xfrm>
            <a:off x="548640" y="6035040"/>
            <a:ext cx="11064240" cy="274320"/>
          </a:xfrm>
          <a:prstGeom prst="rect">
            <a:avLst/>
          </a:prstGeom>
          <a:noFill/>
        </p:spPr>
        <p:txBody>
          <a:bodyPr wrap="square" lIns="0" rIns="0">
            <a:spAutoFit/>
          </a:bodyPr>
          <a:lstStyle/>
          <a:p>
            <a:pPr>
              <a:spcAft>
                <a:spcPts val="1000"/>
              </a:spcAft>
              <a:defRPr sz="1100" b="0">
                <a:solidFill>
                  <a:srgbClr val="6B6B6B"/>
                </a:solidFill>
                <a:latin typeface="Calibri"/>
              </a:defRPr>
            </a:pPr>
            <a:r>
              <a:t>Two previously inspected years per batch; general skill and calibration remain unproven. Rhiza’s predictor scored, but workflow replay failed.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Toward auto-science</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Make each experiment leave behind something the next agent can use.</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20</a:t>
            </a:r>
          </a:p>
        </p:txBody>
      </p:sp>
      <p:sp>
        <p:nvSpPr>
          <p:cNvPr id="5" name="TextBox 4"/>
          <p:cNvSpPr txBox="1"/>
          <p:nvPr/>
        </p:nvSpPr>
        <p:spPr>
          <a:xfrm>
            <a:off x="548640" y="2423160"/>
            <a:ext cx="11064240" cy="594360"/>
          </a:xfrm>
          <a:prstGeom prst="rect">
            <a:avLst/>
          </a:prstGeom>
          <a:noFill/>
        </p:spPr>
        <p:txBody>
          <a:bodyPr wrap="square" lIns="0" rIns="0">
            <a:spAutoFit/>
          </a:bodyPr>
          <a:lstStyle/>
          <a:p>
            <a:pPr>
              <a:spcAft>
                <a:spcPts val="1000"/>
              </a:spcAft>
              <a:defRPr sz="2700" b="1">
                <a:solidFill>
                  <a:srgbClr val="111111"/>
                </a:solidFill>
                <a:latin typeface="Calibri"/>
              </a:defRPr>
            </a:pPr>
            <a:r>
              <a:t>Research  →  Hypothesis  →  Experiment  →  Evaluate</a:t>
            </a:r>
          </a:p>
        </p:txBody>
      </p:sp>
      <p:sp>
        <p:nvSpPr>
          <p:cNvPr id="6" name="TextBox 5"/>
          <p:cNvSpPr txBox="1"/>
          <p:nvPr/>
        </p:nvSpPr>
        <p:spPr>
          <a:xfrm>
            <a:off x="548640" y="3657600"/>
            <a:ext cx="11064240" cy="640080"/>
          </a:xfrm>
          <a:prstGeom prst="rect">
            <a:avLst/>
          </a:prstGeom>
          <a:noFill/>
        </p:spPr>
        <p:txBody>
          <a:bodyPr wrap="square" lIns="0" rIns="0">
            <a:spAutoFit/>
          </a:bodyPr>
          <a:lstStyle/>
          <a:p>
            <a:pPr>
              <a:spcAft>
                <a:spcPts val="1000"/>
              </a:spcAft>
              <a:defRPr sz="2300" b="0">
                <a:solidFill>
                  <a:srgbClr val="111111"/>
                </a:solidFill>
                <a:latin typeface="Calibri"/>
              </a:defRPr>
            </a:pPr>
            <a:r>
              <a:t>Keep tested code, data, fitted models, findings and failed attempts.</a:t>
            </a:r>
          </a:p>
        </p:txBody>
      </p:sp>
      <p:sp>
        <p:nvSpPr>
          <p:cNvPr id="7" name="TextBox 6"/>
          <p:cNvSpPr txBox="1"/>
          <p:nvPr/>
        </p:nvSpPr>
        <p:spPr>
          <a:xfrm>
            <a:off x="548640" y="4572000"/>
            <a:ext cx="11064240" cy="640080"/>
          </a:xfrm>
          <a:prstGeom prst="rect">
            <a:avLst/>
          </a:prstGeom>
          <a:noFill/>
        </p:spPr>
        <p:txBody>
          <a:bodyPr wrap="square" lIns="0" rIns="0">
            <a:spAutoFit/>
          </a:bodyPr>
          <a:lstStyle/>
          <a:p>
            <a:pPr>
              <a:spcAft>
                <a:spcPts val="1000"/>
              </a:spcAft>
              <a:defRPr sz="2300" b="0">
                <a:solidFill>
                  <a:srgbClr val="111111"/>
                </a:solidFill>
                <a:latin typeface="Calibri"/>
              </a:defRPr>
            </a:pPr>
            <a:r>
              <a:t>Use that shared record to choose and run the next experiment.</a:t>
            </a:r>
          </a:p>
        </p:txBody>
      </p:sp>
      <p:sp>
        <p:nvSpPr>
          <p:cNvPr id="8" name="TextBox 7"/>
          <p:cNvSpPr txBox="1"/>
          <p:nvPr/>
        </p:nvSpPr>
        <p:spPr>
          <a:xfrm>
            <a:off x="548640" y="5760720"/>
            <a:ext cx="11064240" cy="365760"/>
          </a:xfrm>
          <a:prstGeom prst="rect">
            <a:avLst/>
          </a:prstGeom>
          <a:noFill/>
        </p:spPr>
        <p:txBody>
          <a:bodyPr wrap="square" lIns="0" rIns="0">
            <a:spAutoFit/>
          </a:bodyPr>
          <a:lstStyle/>
          <a:p>
            <a:pPr>
              <a:spcAft>
                <a:spcPts val="1000"/>
              </a:spcAft>
              <a:defRPr sz="1600" b="0">
                <a:solidFill>
                  <a:srgbClr val="555555"/>
                </a:solidFill>
                <a:latin typeface="Calibri"/>
              </a:defRPr>
            </a:pPr>
            <a:r>
              <a:t>Today: measure completion, cost and reuse. Next: test whether scientific improvements accumulate.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2026-09-30T17:09:01Z</dcterms:created>
  <dcterms:modified xsi:type="dcterms:W3CDTF">2026-09-30T17:09:01Z</dcterms:modified>
</cp:coreProperties>
</file>