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5" r:id="rId11"/>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1" Type="http://schemas.openxmlformats.org/officeDocument/2006/relationships/slide" Target="slides/slide10.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motivation for the actual three-arm seasonal pilot. No claim that Rhiza cannot produce reusable code, that ACCORD already improves accuracy, or that an extra ACCORD skills condition was tested.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Supersedes the unexecuted libraries-versus-libraries-plus-guides proposal in the original deck. There is no fourth arm or bespoke ACCORD skill-guide experiment. Generic Python is allowed everywhere. The configured Rhiza arm gets the actual catalog and scripts, but these attempts did not read individual SKILL.md files or invoke scripts. The ACCORD arm gets installed packages, package docs and a generic navigation pointer to the persistent ensemble-regression API. All tested data were supplied; Rosetta acquisition and download caching are available but their benefits were not measured here. Model IDs, configurations, artifacts and actual toolkit imports are logged.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548640" y="411480"/>
            <a:ext cx="11064240" cy="777240"/>
          </a:xfrm>
          <a:prstGeom prst="rect">
            <a:avLst/>
          </a:prstGeom>
          <a:noFill/>
        </p:spPr>
        <p:txBody>
          <a:bodyPr wrap="square" lIns="0" rIns="0">
            <a:spAutoFit/>
          </a:bodyPr>
          <a:lstStyle/>
          <a:p>
            <a:pPr>
              <a:spcAft>
                <a:spcPts val="1000"/>
              </a:spcAft>
              <a:defRPr sz="3000" b="1">
                <a:solidFill>
                  <a:srgbClr val="111111"/>
                </a:solidFill>
                <a:latin typeface="Calibri"/>
              </a:defRPr>
            </a:pPr>
            <a:r>
              <a:t>What are we testing?</a:t>
            </a:r>
          </a:p>
        </p:txBody>
      </p:sp>
      <p:sp>
        <p:nvSpPr>
          <p:cNvPr id="3" name="TextBox 2"/>
          <p:cNvSpPr txBox="1"/>
          <p:nvPr/>
        </p:nvSpPr>
        <p:spPr>
          <a:xfrm>
            <a:off x="548640" y="1554480"/>
            <a:ext cx="11064240" cy="822960"/>
          </a:xfrm>
          <a:prstGeom prst="rect">
            <a:avLst/>
          </a:prstGeom>
          <a:noFill/>
        </p:spPr>
        <p:txBody>
          <a:bodyPr wrap="square" lIns="0" rIns="0">
            <a:spAutoFit/>
          </a:bodyPr>
          <a:lstStyle/>
          <a:p>
            <a:pPr>
              <a:spcAft>
                <a:spcPts val="1000"/>
              </a:spcAft>
              <a:defRPr sz="2300" b="0">
                <a:solidFill>
                  <a:srgbClr val="111111"/>
                </a:solidFill>
                <a:latin typeface="Calibri"/>
              </a:defRPr>
            </a:pPr>
            <a:r>
              <a:t>Can a coding agent build a working forecast from scratch, and how does that depend on the model?</a:t>
            </a:r>
          </a:p>
        </p:txBody>
      </p:sp>
      <p:sp>
        <p:nvSpPr>
          <p:cNvPr id="4" name="TextBox 3"/>
          <p:cNvSpPr txBox="1"/>
          <p:nvPr/>
        </p:nvSpPr>
        <p:spPr>
          <a:xfrm>
            <a:off x="548640" y="2697480"/>
            <a:ext cx="11064240" cy="822960"/>
          </a:xfrm>
          <a:prstGeom prst="rect">
            <a:avLst/>
          </a:prstGeom>
          <a:noFill/>
        </p:spPr>
        <p:txBody>
          <a:bodyPr wrap="square" lIns="0" rIns="0">
            <a:spAutoFit/>
          </a:bodyPr>
          <a:lstStyle/>
          <a:p>
            <a:pPr>
              <a:spcAft>
                <a:spcPts val="1000"/>
              </a:spcAft>
              <a:defRPr sz="2300" b="0">
                <a:solidFill>
                  <a:srgbClr val="111111"/>
                </a:solidFill>
                <a:latin typeface="Calibri"/>
              </a:defRPr>
            </a:pPr>
            <a:r>
              <a:t>Does adding Rhiza weather skills or ACCORD libraries improve completion, time or cost?</a:t>
            </a:r>
          </a:p>
        </p:txBody>
      </p:sp>
      <p:sp>
        <p:nvSpPr>
          <p:cNvPr id="5" name="TextBox 4"/>
          <p:cNvSpPr txBox="1"/>
          <p:nvPr/>
        </p:nvSpPr>
        <p:spPr>
          <a:xfrm>
            <a:off x="548640" y="3840480"/>
            <a:ext cx="11064240" cy="822960"/>
          </a:xfrm>
          <a:prstGeom prst="rect">
            <a:avLst/>
          </a:prstGeom>
          <a:noFill/>
        </p:spPr>
        <p:txBody>
          <a:bodyPr wrap="square" lIns="0" rIns="0">
            <a:spAutoFit/>
          </a:bodyPr>
          <a:lstStyle/>
          <a:p>
            <a:pPr>
              <a:spcAft>
                <a:spcPts val="1000"/>
              </a:spcAft>
              <a:defRPr sz="2300" b="0">
                <a:solidFill>
                  <a:srgbClr val="111111"/>
                </a:solidFill>
                <a:latin typeface="Calibri"/>
              </a:defRPr>
            </a:pPr>
            <a:r>
              <a:t>When the next forecast is needed, does retained code and fitted state reduce the work?</a:t>
            </a:r>
          </a:p>
        </p:txBody>
      </p:sp>
      <p:sp>
        <p:nvSpPr>
          <p:cNvPr id="6" name="TextBox 5"/>
          <p:cNvSpPr txBox="1"/>
          <p:nvPr/>
        </p:nvSpPr>
        <p:spPr>
          <a:xfrm>
            <a:off x="548640" y="5120640"/>
            <a:ext cx="11064240" cy="822960"/>
          </a:xfrm>
          <a:prstGeom prst="rect">
            <a:avLst/>
          </a:prstGeom>
          <a:noFill/>
        </p:spPr>
        <p:txBody>
          <a:bodyPr wrap="square" lIns="0" rIns="0">
            <a:spAutoFit/>
          </a:bodyPr>
          <a:lstStyle/>
          <a:p>
            <a:pPr>
              <a:spcAft>
                <a:spcPts val="1000"/>
              </a:spcAft>
              <a:defRPr sz="2300" b="0">
                <a:solidFill>
                  <a:srgbClr val="111111"/>
                </a:solidFill>
                <a:latin typeface="Calibri"/>
              </a:defRPr>
            </a:pPr>
            <a:r>
              <a:t>Report completion, forecast error, tokens, time and cost separately. Treat the expected advantages as hypotheses.</a:t>
            </a:r>
          </a:p>
        </p:txBody>
      </p:sp>
      <p:sp>
        <p:nvSpPr>
          <p:cNvPr id="7" name="TextBox 6"/>
          <p:cNvSpPr txBox="1"/>
          <p:nvPr/>
        </p:nvSpPr>
        <p:spPr>
          <a:xfrm>
            <a:off x="548640" y="6400800"/>
            <a:ext cx="11064240" cy="274320"/>
          </a:xfrm>
          <a:prstGeom prst="rect">
            <a:avLst/>
          </a:prstGeom>
          <a:noFill/>
        </p:spPr>
        <p:txBody>
          <a:bodyPr wrap="square" lIns="0" rIns="0">
            <a:spAutoFit/>
          </a:bodyPr>
          <a:lstStyle/>
          <a:p>
            <a:pPr>
              <a:spcAft>
                <a:spcPts val="1000"/>
              </a:spcAft>
              <a:defRPr sz="1000" b="0">
                <a:solidFill>
                  <a:srgbClr val="6B6B6B"/>
                </a:solidFill>
                <a:latin typeface="Calibri"/>
              </a:defRPr>
            </a:pPr>
            <a:r>
              <a:t>ACCORD · 1 October 2026 · 10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548640" y="411480"/>
            <a:ext cx="11064240" cy="777240"/>
          </a:xfrm>
          <a:prstGeom prst="rect">
            <a:avLst/>
          </a:prstGeom>
          <a:noFill/>
        </p:spPr>
        <p:txBody>
          <a:bodyPr wrap="square" lIns="0" rIns="0">
            <a:spAutoFit/>
          </a:bodyPr>
          <a:lstStyle/>
          <a:p>
            <a:pPr>
              <a:spcAft>
                <a:spcPts val="1000"/>
              </a:spcAft>
              <a:defRPr sz="3000" b="1">
                <a:solidFill>
                  <a:srgbClr val="111111"/>
                </a:solidFill>
                <a:latin typeface="Calibri"/>
              </a:defRPr>
            </a:pPr>
            <a:r>
              <a:t>The three arms we actually tested</a:t>
            </a:r>
          </a:p>
        </p:txBody>
      </p:sp>
      <p:sp>
        <p:nvSpPr>
          <p:cNvPr id="3" name="TextBox 2"/>
          <p:cNvSpPr txBox="1"/>
          <p:nvPr/>
        </p:nvSpPr>
        <p:spPr>
          <a:xfrm>
            <a:off x="548640" y="1554480"/>
            <a:ext cx="2057400" cy="457200"/>
          </a:xfrm>
          <a:prstGeom prst="rect">
            <a:avLst/>
          </a:prstGeom>
          <a:noFill/>
        </p:spPr>
        <p:txBody>
          <a:bodyPr wrap="square" lIns="0" rIns="0">
            <a:spAutoFit/>
          </a:bodyPr>
          <a:lstStyle/>
          <a:p>
            <a:pPr>
              <a:spcAft>
                <a:spcPts val="1000"/>
              </a:spcAft>
              <a:defRPr sz="2300" b="1">
                <a:solidFill>
                  <a:srgbClr val="777777"/>
                </a:solidFill>
                <a:latin typeface="Calibri"/>
              </a:defRPr>
            </a:pPr>
            <a:r>
              <a:t>Scratch</a:t>
            </a:r>
          </a:p>
        </p:txBody>
      </p:sp>
      <p:sp>
        <p:nvSpPr>
          <p:cNvPr id="4" name="TextBox 3"/>
          <p:cNvSpPr txBox="1"/>
          <p:nvPr/>
        </p:nvSpPr>
        <p:spPr>
          <a:xfrm>
            <a:off x="2834640" y="1554480"/>
            <a:ext cx="8778240" cy="822960"/>
          </a:xfrm>
          <a:prstGeom prst="rect">
            <a:avLst/>
          </a:prstGeom>
          <a:noFill/>
        </p:spPr>
        <p:txBody>
          <a:bodyPr wrap="square" lIns="0" rIns="0">
            <a:spAutoFit/>
          </a:bodyPr>
          <a:lstStyle/>
          <a:p>
            <a:pPr>
              <a:spcAft>
                <a:spcPts val="1000"/>
              </a:spcAft>
              <a:defRPr sz="2100" b="0">
                <a:solidFill>
                  <a:srgbClr val="111111"/>
                </a:solidFill>
                <a:latin typeface="Calibri"/>
              </a:defRPr>
            </a:pPr>
            <a:r>
              <a:t>Standard scientific Python; the agent builds the workflow.</a:t>
            </a:r>
          </a:p>
        </p:txBody>
      </p:sp>
      <p:sp>
        <p:nvSpPr>
          <p:cNvPr id="5" name="TextBox 4"/>
          <p:cNvSpPr txBox="1"/>
          <p:nvPr/>
        </p:nvSpPr>
        <p:spPr>
          <a:xfrm>
            <a:off x="548640" y="2651760"/>
            <a:ext cx="2057400" cy="457200"/>
          </a:xfrm>
          <a:prstGeom prst="rect">
            <a:avLst/>
          </a:prstGeom>
          <a:noFill/>
        </p:spPr>
        <p:txBody>
          <a:bodyPr wrap="square" lIns="0" rIns="0">
            <a:spAutoFit/>
          </a:bodyPr>
          <a:lstStyle/>
          <a:p>
            <a:pPr>
              <a:spcAft>
                <a:spcPts val="1000"/>
              </a:spcAft>
              <a:defRPr sz="2300" b="1">
                <a:solidFill>
                  <a:srgbClr val="2F6B8A"/>
                </a:solidFill>
                <a:latin typeface="Calibri"/>
              </a:defRPr>
            </a:pPr>
            <a:r>
              <a:t>Rhiza skills</a:t>
            </a:r>
          </a:p>
        </p:txBody>
      </p:sp>
      <p:sp>
        <p:nvSpPr>
          <p:cNvPr id="6" name="TextBox 5"/>
          <p:cNvSpPr txBox="1"/>
          <p:nvPr/>
        </p:nvSpPr>
        <p:spPr>
          <a:xfrm>
            <a:off x="2834640" y="2651760"/>
            <a:ext cx="8778240" cy="822960"/>
          </a:xfrm>
          <a:prstGeom prst="rect">
            <a:avLst/>
          </a:prstGeom>
          <a:noFill/>
        </p:spPr>
        <p:txBody>
          <a:bodyPr wrap="square" lIns="0" rIns="0">
            <a:spAutoFit/>
          </a:bodyPr>
          <a:lstStyle/>
          <a:p>
            <a:pPr>
              <a:spcAft>
                <a:spcPts val="1000"/>
              </a:spcAft>
              <a:defRPr sz="2100" b="0">
                <a:solidFill>
                  <a:srgbClr val="111111"/>
                </a:solidFill>
                <a:latin typeface="Calibri"/>
              </a:defRPr>
            </a:pPr>
            <a:r>
              <a:t>The same Python environment + Rhiza weather skills catalog and scripts.</a:t>
            </a:r>
          </a:p>
        </p:txBody>
      </p:sp>
      <p:sp>
        <p:nvSpPr>
          <p:cNvPr id="7" name="TextBox 6"/>
          <p:cNvSpPr txBox="1"/>
          <p:nvPr/>
        </p:nvSpPr>
        <p:spPr>
          <a:xfrm>
            <a:off x="548640" y="3749039"/>
            <a:ext cx="2057400" cy="457200"/>
          </a:xfrm>
          <a:prstGeom prst="rect">
            <a:avLst/>
          </a:prstGeom>
          <a:noFill/>
        </p:spPr>
        <p:txBody>
          <a:bodyPr wrap="square" lIns="0" rIns="0">
            <a:spAutoFit/>
          </a:bodyPr>
          <a:lstStyle/>
          <a:p>
            <a:pPr>
              <a:spcAft>
                <a:spcPts val="1000"/>
              </a:spcAft>
              <a:defRPr sz="2300" b="1">
                <a:solidFill>
                  <a:srgbClr val="8A1C1C"/>
                </a:solidFill>
                <a:latin typeface="Calibri"/>
              </a:defRPr>
            </a:pPr>
            <a:r>
              <a:t>ACCORD</a:t>
            </a:r>
          </a:p>
        </p:txBody>
      </p:sp>
      <p:sp>
        <p:nvSpPr>
          <p:cNvPr id="8" name="TextBox 7"/>
          <p:cNvSpPr txBox="1"/>
          <p:nvPr/>
        </p:nvSpPr>
        <p:spPr>
          <a:xfrm>
            <a:off x="2834640" y="3749039"/>
            <a:ext cx="8778240" cy="822960"/>
          </a:xfrm>
          <a:prstGeom prst="rect">
            <a:avLst/>
          </a:prstGeom>
          <a:noFill/>
        </p:spPr>
        <p:txBody>
          <a:bodyPr wrap="square" lIns="0" rIns="0">
            <a:spAutoFit/>
          </a:bodyPr>
          <a:lstStyle/>
          <a:p>
            <a:pPr>
              <a:spcAft>
                <a:spcPts val="1000"/>
              </a:spcAft>
              <a:defRPr sz="2100" b="0">
                <a:solidFill>
                  <a:srgbClr val="111111"/>
                </a:solidFill>
                <a:latin typeface="Calibri"/>
              </a:defRPr>
            </a:pPr>
            <a:r>
              <a:t>The same Python environment + africas2s (DeepScale) and Rosetta/acmadDL, with API documentation.</a:t>
            </a:r>
          </a:p>
        </p:txBody>
      </p:sp>
      <p:sp>
        <p:nvSpPr>
          <p:cNvPr id="9" name="TextBox 8"/>
          <p:cNvSpPr txBox="1"/>
          <p:nvPr/>
        </p:nvSpPr>
        <p:spPr>
          <a:xfrm>
            <a:off x="548640" y="5074920"/>
            <a:ext cx="11064240" cy="548640"/>
          </a:xfrm>
          <a:prstGeom prst="rect">
            <a:avLst/>
          </a:prstGeom>
          <a:noFill/>
        </p:spPr>
        <p:txBody>
          <a:bodyPr wrap="square" lIns="0" rIns="0">
            <a:spAutoFit/>
          </a:bodyPr>
          <a:lstStyle/>
          <a:p>
            <a:pPr>
              <a:spcAft>
                <a:spcPts val="1000"/>
              </a:spcAft>
              <a:defRPr sz="1900" b="0">
                <a:solidFill>
                  <a:srgbClr val="111111"/>
                </a:solidFill>
                <a:latin typeface="Calibri"/>
              </a:defRPr>
            </a:pPr>
            <a:r>
              <a:t>Identical supplied data and budgets. Every arm can retain its own code, inputs and fitted models.</a:t>
            </a:r>
          </a:p>
        </p:txBody>
      </p:sp>
      <p:sp>
        <p:nvSpPr>
          <p:cNvPr id="10" name="TextBox 9"/>
          <p:cNvSpPr txBox="1"/>
          <p:nvPr/>
        </p:nvSpPr>
        <p:spPr>
          <a:xfrm>
            <a:off x="548640" y="5852160"/>
            <a:ext cx="11064240" cy="457200"/>
          </a:xfrm>
          <a:prstGeom prst="rect">
            <a:avLst/>
          </a:prstGeom>
          <a:noFill/>
        </p:spPr>
        <p:txBody>
          <a:bodyPr wrap="square" lIns="0" rIns="0">
            <a:spAutoFit/>
          </a:bodyPr>
          <a:lstStyle/>
          <a:p>
            <a:pPr>
              <a:spcAft>
                <a:spcPts val="1000"/>
              </a:spcAft>
              <a:defRPr sz="1400" b="0">
                <a:solidFill>
                  <a:srgbClr val="555555"/>
                </a:solidFill>
                <a:latin typeface="Calibri"/>
              </a:defRPr>
            </a:pPr>
            <a:r>
              <a:t>Observed use: Rhiza catalog context, no script calls; ACCORD agents called africas2s. Data retrieval was not tested.</a:t>
            </a:r>
          </a:p>
        </p:txBody>
      </p:sp>
      <p:sp>
        <p:nvSpPr>
          <p:cNvPr id="11" name="TextBox 10"/>
          <p:cNvSpPr txBox="1"/>
          <p:nvPr/>
        </p:nvSpPr>
        <p:spPr>
          <a:xfrm>
            <a:off x="548640" y="6400800"/>
            <a:ext cx="11064240" cy="274320"/>
          </a:xfrm>
          <a:prstGeom prst="rect">
            <a:avLst/>
          </a:prstGeom>
          <a:noFill/>
        </p:spPr>
        <p:txBody>
          <a:bodyPr wrap="square" lIns="0" rIns="0">
            <a:spAutoFit/>
          </a:bodyPr>
          <a:lstStyle/>
          <a:p>
            <a:pPr>
              <a:spcAft>
                <a:spcPts val="1000"/>
              </a:spcAft>
              <a:defRPr sz="1000" b="0">
                <a:solidFill>
                  <a:srgbClr val="6B6B6B"/>
                </a:solidFill>
                <a:latin typeface="Calibri"/>
              </a:defRPr>
            </a:pPr>
            <a:r>
              <a:t>ACCORD · 1 October 2026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2026-09-30T17:09:01Z</dcterms:created>
  <dcterms:modified xsi:type="dcterms:W3CDTF">2026-09-30T17:09:01Z</dcterms:modified>
</cp:coreProperties>
</file>