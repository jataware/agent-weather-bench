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1" r:id="rId22"/>
    <p:sldId id="272" r:id="rId23"/>
    <p:sldId id="273" r:id="rId24"/>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scientific task and data as the first smoke, with common execution fixes. Do not pool the old and revised attempts. Model IDs and prices are recorded per attempt. Haiku and Sonnet receive the same limits as Fable.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ACCORD pointer documents an existing installed class, EnsembleRegressionMethod. train("ereg") is not supported by the separate downscale registry. No task solution or held-out observations were supplied. Rhiza agents received catalog names/descriptions/paths but did not execute its scripts or read individual SKILL.md files in this run; interpret this as the configured skills-enabled condition, not proof of script execution benefits. Seven initial conditions include all three models both scratch and Rhiza; the full results page includes all seven.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predictions use 2005–2006; follow-up predictions use 2007–2008. These are previously inspected development years. Two years do not establish calibration or general forecast skill. Direct predictor execution is reported separately from conversational follow-up cost.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What changes with model capability?</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Same seasonal rainfall task and inputs. Generic Python; no domain skills or libraries.</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weather pilot · revised execution protocol · 1 Oct 2026 · 16</a:t>
            </a:r>
          </a:p>
        </p:txBody>
      </p:sp>
      <p:graphicFrame>
        <p:nvGraphicFramePr>
          <p:cNvPr id="5" name="Table 4"/>
          <p:cNvGraphicFramePr>
            <a:graphicFrameLocks noGrp="1"/>
          </p:cNvGraphicFramePr>
          <p:nvPr/>
        </p:nvGraphicFramePr>
        <p:xfrm>
          <a:off x="548640" y="2423160"/>
          <a:ext cx="11064240" cy="1938528"/>
        </p:xfrm>
        <a:graphic>
          <a:graphicData uri="http://schemas.openxmlformats.org/drawingml/2006/table">
            <a:tbl>
              <a:tblPr firstRow="1" bandRow="1">
                <a:tableStyleId>{5C22544A-7EE6-4342-B048-85BDC9FD1C3A}</a:tableStyleId>
              </a:tblPr>
              <a:tblGrid>
                <a:gridCol w="2743200"/>
                <a:gridCol w="1371600"/>
                <a:gridCol w="2560320"/>
                <a:gridCol w="2103120"/>
                <a:gridCol w="2286000"/>
              </a:tblGrid>
              <a:tr h="484632">
                <a:tc>
                  <a:txBody>
                    <a:bodyPr/>
                    <a:lstStyle/>
                    <a:p>
                      <a:pPr>
                        <a:defRPr sz="1600" b="1">
                          <a:solidFill>
                            <a:srgbClr val="111111"/>
                          </a:solidFill>
                          <a:latin typeface="Calibri"/>
                        </a:defRPr>
                      </a:pPr>
                      <a:r>
                        <a:t>Scratch model</a:t>
                      </a:r>
                    </a:p>
                  </a:txBody>
                  <a:tcPr marL="82296" marT="73152">
                    <a:solidFill>
                      <a:srgbClr val="EEEEEE"/>
                    </a:solidFill>
                  </a:tcPr>
                </a:tc>
                <a:tc>
                  <a:txBody>
                    <a:bodyPr/>
                    <a:lstStyle/>
                    <a:p>
                      <a:pPr>
                        <a:defRPr sz="1600" b="1">
                          <a:solidFill>
                            <a:srgbClr val="111111"/>
                          </a:solidFill>
                          <a:latin typeface="Calibri"/>
                        </a:defRPr>
                      </a:pPr>
                      <a:r>
                        <a:t>Checks</a:t>
                      </a:r>
                    </a:p>
                  </a:txBody>
                  <a:tcPr marL="82296" marT="73152">
                    <a:solidFill>
                      <a:srgbClr val="EEEEEE"/>
                    </a:solidFill>
                  </a:tcPr>
                </a:tc>
                <a:tc>
                  <a:txBody>
                    <a:bodyPr/>
                    <a:lstStyle/>
                    <a:p>
                      <a:pPr>
                        <a:defRPr sz="1600" b="1">
                          <a:solidFill>
                            <a:srgbClr val="111111"/>
                          </a:solidFill>
                          <a:latin typeface="Calibri"/>
                        </a:defRPr>
                      </a:pPr>
                      <a:r>
                        <a:t>Tokens</a:t>
                      </a:r>
                    </a:p>
                  </a:txBody>
                  <a:tcPr marL="82296" marT="73152">
                    <a:solidFill>
                      <a:srgbClr val="EEEEEE"/>
                    </a:solidFill>
                  </a:tcPr>
                </a:tc>
                <a:tc>
                  <a:txBody>
                    <a:bodyPr/>
                    <a:lstStyle/>
                    <a:p>
                      <a:pPr>
                        <a:defRPr sz="1600" b="1">
                          <a:solidFill>
                            <a:srgbClr val="111111"/>
                          </a:solidFill>
                          <a:latin typeface="Calibri"/>
                        </a:defRPr>
                      </a:pPr>
                      <a:r>
                        <a:t>Time</a:t>
                      </a:r>
                    </a:p>
                  </a:txBody>
                  <a:tcPr marL="82296" marT="73152">
                    <a:solidFill>
                      <a:srgbClr val="EEEEEE"/>
                    </a:solidFill>
                  </a:tcPr>
                </a:tc>
                <a:tc>
                  <a:txBody>
                    <a:bodyPr/>
                    <a:lstStyle/>
                    <a:p>
                      <a:pPr>
                        <a:defRPr sz="1600" b="1">
                          <a:solidFill>
                            <a:srgbClr val="111111"/>
                          </a:solidFill>
                          <a:latin typeface="Calibri"/>
                        </a:defRPr>
                      </a:pPr>
                      <a:r>
                        <a:t>Agent cost</a:t>
                      </a:r>
                    </a:p>
                  </a:txBody>
                  <a:tcPr marL="82296" marT="73152">
                    <a:solidFill>
                      <a:srgbClr val="EEEEEE"/>
                    </a:solidFill>
                  </a:tcPr>
                </a:tc>
              </a:tr>
              <a:tr h="484632">
                <a:tc>
                  <a:txBody>
                    <a:bodyPr/>
                    <a:lstStyle/>
                    <a:p>
                      <a:pPr>
                        <a:defRPr sz="1600" b="0">
                          <a:solidFill>
                            <a:srgbClr val="111111"/>
                          </a:solidFill>
                          <a:latin typeface="Calibri"/>
                        </a:defRPr>
                      </a:pPr>
                      <a:r>
                        <a:t>Haiku 4.5</a:t>
                      </a:r>
                    </a:p>
                  </a:txBody>
                  <a:tcPr marL="82296" marT="73152">
                    <a:solidFill>
                      <a:srgbClr val="FFFFFF"/>
                    </a:solidFill>
                  </a:tcPr>
                </a:tc>
                <a:tc>
                  <a:txBody>
                    <a:bodyPr/>
                    <a:lstStyle/>
                    <a:p>
                      <a:pPr>
                        <a:defRPr sz="1600" b="0">
                          <a:solidFill>
                            <a:srgbClr val="111111"/>
                          </a:solidFill>
                          <a:latin typeface="Calibri"/>
                        </a:defRPr>
                      </a:pPr>
                      <a:r>
                        <a:t>3/12</a:t>
                      </a:r>
                    </a:p>
                  </a:txBody>
                  <a:tcPr marL="82296" marT="73152">
                    <a:solidFill>
                      <a:srgbClr val="FFFFFF"/>
                    </a:solidFill>
                  </a:tcPr>
                </a:tc>
                <a:tc>
                  <a:txBody>
                    <a:bodyPr/>
                    <a:lstStyle/>
                    <a:p>
                      <a:pPr>
                        <a:defRPr sz="1600" b="0">
                          <a:solidFill>
                            <a:srgbClr val="111111"/>
                          </a:solidFill>
                          <a:latin typeface="Calibri"/>
                        </a:defRPr>
                      </a:pPr>
                      <a:r>
                        <a:t>776,678</a:t>
                      </a:r>
                    </a:p>
                  </a:txBody>
                  <a:tcPr marL="82296" marT="73152">
                    <a:solidFill>
                      <a:srgbClr val="FFFFFF"/>
                    </a:solidFill>
                  </a:tcPr>
                </a:tc>
                <a:tc>
                  <a:txBody>
                    <a:bodyPr/>
                    <a:lstStyle/>
                    <a:p>
                      <a:pPr>
                        <a:defRPr sz="1600" b="0">
                          <a:solidFill>
                            <a:srgbClr val="111111"/>
                          </a:solidFill>
                          <a:latin typeface="Calibri"/>
                        </a:defRPr>
                      </a:pPr>
                      <a:r>
                        <a:t>4.5 min</a:t>
                      </a:r>
                    </a:p>
                  </a:txBody>
                  <a:tcPr marL="82296" marT="73152">
                    <a:solidFill>
                      <a:srgbClr val="FFFFFF"/>
                    </a:solidFill>
                  </a:tcPr>
                </a:tc>
                <a:tc>
                  <a:txBody>
                    <a:bodyPr/>
                    <a:lstStyle/>
                    <a:p>
                      <a:pPr>
                        <a:defRPr sz="1600" b="0">
                          <a:solidFill>
                            <a:srgbClr val="111111"/>
                          </a:solidFill>
                          <a:latin typeface="Calibri"/>
                        </a:defRPr>
                      </a:pPr>
                      <a:r>
                        <a:t>$0.92</a:t>
                      </a:r>
                    </a:p>
                  </a:txBody>
                  <a:tcPr marL="82296" marT="73152">
                    <a:solidFill>
                      <a:srgbClr val="FFFFFF"/>
                    </a:solidFill>
                  </a:tcPr>
                </a:tc>
              </a:tr>
              <a:tr h="484632">
                <a:tc>
                  <a:txBody>
                    <a:bodyPr/>
                    <a:lstStyle/>
                    <a:p>
                      <a:pPr>
                        <a:defRPr sz="1600" b="0">
                          <a:solidFill>
                            <a:srgbClr val="111111"/>
                          </a:solidFill>
                          <a:latin typeface="Calibri"/>
                        </a:defRPr>
                      </a:pPr>
                      <a:r>
                        <a:t>Sonnet 5.5</a:t>
                      </a:r>
                    </a:p>
                  </a:txBody>
                  <a:tcPr marL="82296" marT="73152">
                    <a:solidFill>
                      <a:srgbClr val="FFFFFF"/>
                    </a:solidFill>
                  </a:tcPr>
                </a:tc>
                <a:tc>
                  <a:txBody>
                    <a:bodyPr/>
                    <a:lstStyle/>
                    <a:p>
                      <a:pPr>
                        <a:defRPr sz="1600" b="0">
                          <a:solidFill>
                            <a:srgbClr val="111111"/>
                          </a:solidFill>
                          <a:latin typeface="Calibri"/>
                        </a:defRPr>
                      </a:pPr>
                      <a:r>
                        <a:t>9/12</a:t>
                      </a:r>
                    </a:p>
                  </a:txBody>
                  <a:tcPr marL="82296" marT="73152">
                    <a:solidFill>
                      <a:srgbClr val="FFFFFF"/>
                    </a:solidFill>
                  </a:tcPr>
                </a:tc>
                <a:tc>
                  <a:txBody>
                    <a:bodyPr/>
                    <a:lstStyle/>
                    <a:p>
                      <a:pPr>
                        <a:defRPr sz="1600" b="0">
                          <a:solidFill>
                            <a:srgbClr val="111111"/>
                          </a:solidFill>
                          <a:latin typeface="Calibri"/>
                        </a:defRPr>
                      </a:pPr>
                      <a:r>
                        <a:t>86,410</a:t>
                      </a:r>
                    </a:p>
                  </a:txBody>
                  <a:tcPr marL="82296" marT="73152">
                    <a:solidFill>
                      <a:srgbClr val="FFFFFF"/>
                    </a:solidFill>
                  </a:tcPr>
                </a:tc>
                <a:tc>
                  <a:txBody>
                    <a:bodyPr/>
                    <a:lstStyle/>
                    <a:p>
                      <a:pPr>
                        <a:defRPr sz="1600" b="0">
                          <a:solidFill>
                            <a:srgbClr val="111111"/>
                          </a:solidFill>
                          <a:latin typeface="Calibri"/>
                        </a:defRPr>
                      </a:pPr>
                      <a:r>
                        <a:t>1.6 min</a:t>
                      </a:r>
                    </a:p>
                  </a:txBody>
                  <a:tcPr marL="82296" marT="73152">
                    <a:solidFill>
                      <a:srgbClr val="FFFFFF"/>
                    </a:solidFill>
                  </a:tcPr>
                </a:tc>
                <a:tc>
                  <a:txBody>
                    <a:bodyPr/>
                    <a:lstStyle/>
                    <a:p>
                      <a:pPr>
                        <a:defRPr sz="1600" b="0">
                          <a:solidFill>
                            <a:srgbClr val="111111"/>
                          </a:solidFill>
                          <a:latin typeface="Calibri"/>
                        </a:defRPr>
                      </a:pPr>
                      <a:r>
                        <a:t>$0.26</a:t>
                      </a:r>
                    </a:p>
                  </a:txBody>
                  <a:tcPr marL="82296" marT="73152">
                    <a:solidFill>
                      <a:srgbClr val="FFFFFF"/>
                    </a:solidFill>
                  </a:tcPr>
                </a:tc>
              </a:tr>
              <a:tr h="484632">
                <a:tc>
                  <a:txBody>
                    <a:bodyPr/>
                    <a:lstStyle/>
                    <a:p>
                      <a:pPr>
                        <a:defRPr sz="1600" b="0">
                          <a:solidFill>
                            <a:srgbClr val="111111"/>
                          </a:solidFill>
                          <a:latin typeface="Calibri"/>
                        </a:defRPr>
                      </a:pPr>
                      <a:r>
                        <a:t>Fable 5.1</a:t>
                      </a:r>
                    </a:p>
                  </a:txBody>
                  <a:tcPr marL="82296" marT="73152">
                    <a:solidFill>
                      <a:srgbClr val="FFFFFF"/>
                    </a:solidFill>
                  </a:tcPr>
                </a:tc>
                <a:tc>
                  <a:txBody>
                    <a:bodyPr/>
                    <a:lstStyle/>
                    <a:p>
                      <a:pPr>
                        <a:defRPr sz="1600" b="0">
                          <a:solidFill>
                            <a:srgbClr val="111111"/>
                          </a:solidFill>
                          <a:latin typeface="Calibri"/>
                        </a:defRPr>
                      </a:pPr>
                      <a:r>
                        <a:t>12/12</a:t>
                      </a:r>
                    </a:p>
                  </a:txBody>
                  <a:tcPr marL="82296" marT="73152">
                    <a:solidFill>
                      <a:srgbClr val="FFFFFF"/>
                    </a:solidFill>
                  </a:tcPr>
                </a:tc>
                <a:tc>
                  <a:txBody>
                    <a:bodyPr/>
                    <a:lstStyle/>
                    <a:p>
                      <a:pPr>
                        <a:defRPr sz="1600" b="0">
                          <a:solidFill>
                            <a:srgbClr val="111111"/>
                          </a:solidFill>
                          <a:latin typeface="Calibri"/>
                        </a:defRPr>
                      </a:pPr>
                      <a:r>
                        <a:t>260,515</a:t>
                      </a:r>
                    </a:p>
                  </a:txBody>
                  <a:tcPr marL="82296" marT="73152">
                    <a:solidFill>
                      <a:srgbClr val="FFFFFF"/>
                    </a:solidFill>
                  </a:tcPr>
                </a:tc>
                <a:tc>
                  <a:txBody>
                    <a:bodyPr/>
                    <a:lstStyle/>
                    <a:p>
                      <a:pPr>
                        <a:defRPr sz="1600" b="0">
                          <a:solidFill>
                            <a:srgbClr val="111111"/>
                          </a:solidFill>
                          <a:latin typeface="Calibri"/>
                        </a:defRPr>
                      </a:pPr>
                      <a:r>
                        <a:t>4.9 min</a:t>
                      </a:r>
                    </a:p>
                  </a:txBody>
                  <a:tcPr marL="82296" marT="73152">
                    <a:solidFill>
                      <a:srgbClr val="FFFFFF"/>
                    </a:solidFill>
                  </a:tcPr>
                </a:tc>
                <a:tc>
                  <a:txBody>
                    <a:bodyPr/>
                    <a:lstStyle/>
                    <a:p>
                      <a:pPr>
                        <a:defRPr sz="1600" b="0">
                          <a:solidFill>
                            <a:srgbClr val="111111"/>
                          </a:solidFill>
                          <a:latin typeface="Calibri"/>
                        </a:defRPr>
                      </a:pPr>
                      <a:r>
                        <a:t>$3.36</a:t>
                      </a:r>
                    </a:p>
                  </a:txBody>
                  <a:tcPr marL="82296" marT="73152">
                    <a:solidFill>
                      <a:srgbClr val="FFFFFF"/>
                    </a:solidFill>
                  </a:tcPr>
                </a:tc>
              </a:tr>
            </a:tbl>
          </a:graphicData>
        </a:graphic>
      </p:graphicFrame>
      <p:sp>
        <p:nvSpPr>
          <p:cNvPr id="6" name="TextBox 5"/>
          <p:cNvSpPr txBox="1"/>
          <p:nvPr/>
        </p:nvSpPr>
        <p:spPr>
          <a:xfrm>
            <a:off x="548640" y="4663440"/>
            <a:ext cx="11064240" cy="914400"/>
          </a:xfrm>
          <a:prstGeom prst="rect">
            <a:avLst/>
          </a:prstGeom>
          <a:noFill/>
        </p:spPr>
        <p:txBody>
          <a:bodyPr wrap="square" lIns="0" rIns="0">
            <a:spAutoFit/>
          </a:bodyPr>
          <a:lstStyle/>
          <a:p>
            <a:pPr>
              <a:spcAft>
                <a:spcPts val="1000"/>
              </a:spcAft>
              <a:defRPr sz="1800" b="0">
                <a:solidFill>
                  <a:srgbClr val="111111"/>
                </a:solidFill>
                <a:latin typeface="Calibri"/>
              </a:defRPr>
            </a:pPr>
            <a:r>
              <a:t>Scratch scores: Haiku 3/12, Sonnet 9/12, Fable 12/12. Sonnet’s misses were unit labels; Haiku left major gaps. With Rhiza, Haiku scored 7/12 and Sonnet 12/12.</a:t>
            </a:r>
          </a:p>
        </p:txBody>
      </p:sp>
      <p:sp>
        <p:nvSpPr>
          <p:cNvPr id="7" name="TextBox 6"/>
          <p:cNvSpPr txBox="1"/>
          <p:nvPr/>
        </p:nvSpPr>
        <p:spPr>
          <a:xfrm>
            <a:off x="548640" y="5715000"/>
            <a:ext cx="11064240" cy="502920"/>
          </a:xfrm>
          <a:prstGeom prst="rect">
            <a:avLst/>
          </a:prstGeom>
          <a:noFill/>
        </p:spPr>
        <p:txBody>
          <a:bodyPr wrap="square" lIns="0" rIns="0">
            <a:spAutoFit/>
          </a:bodyPr>
          <a:lstStyle/>
          <a:p>
            <a:pPr>
              <a:spcAft>
                <a:spcPts val="1000"/>
              </a:spcAft>
              <a:defRPr sz="1200" b="0">
                <a:solidFill>
                  <a:srgbClr val="6B6B6B"/>
                </a:solidFill>
                <a:latin typeface="Calibri"/>
              </a:defRPr>
            </a:pPr>
            <a:r>
              <a:t>Checks cover artifacts, scientific calculations and replay; a plausible plot alone does not pass.</a:t>
            </a:r>
          </a:p>
          <a:p>
            <a:pPr>
              <a:spcAft>
                <a:spcPts val="1000"/>
              </a:spcAft>
              <a:defRPr sz="1200" b="0">
                <a:solidFill>
                  <a:srgbClr val="6B6B6B"/>
                </a:solidFill>
                <a:latin typeface="Calibri"/>
              </a:defRPr>
            </a:pPr>
            <a:r>
              <a:t>One attempt per condition. Equal $5.50 / 15 min / 800k-token caps; tokens include repeated context.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Can skills or libraries make the agent more effective?</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Direct comparison: Sonnet + Rhiza versus Fable from scratch; Fable also runs with each toolkit.</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weather pilot · revised execution protocol · 1 Oct 2026 · 17</a:t>
            </a:r>
          </a:p>
        </p:txBody>
      </p:sp>
      <p:graphicFrame>
        <p:nvGraphicFramePr>
          <p:cNvPr id="5" name="Table 4"/>
          <p:cNvGraphicFramePr>
            <a:graphicFrameLocks noGrp="1"/>
          </p:cNvGraphicFramePr>
          <p:nvPr/>
        </p:nvGraphicFramePr>
        <p:xfrm>
          <a:off x="548640" y="2194560"/>
          <a:ext cx="11064240" cy="2423160"/>
        </p:xfrm>
        <a:graphic>
          <a:graphicData uri="http://schemas.openxmlformats.org/drawingml/2006/table">
            <a:tbl>
              <a:tblPr firstRow="1" bandRow="1">
                <a:tableStyleId>{5C22544A-7EE6-4342-B048-85BDC9FD1C3A}</a:tableStyleId>
              </a:tblPr>
              <a:tblGrid>
                <a:gridCol w="2743200"/>
                <a:gridCol w="1188720"/>
                <a:gridCol w="2011680"/>
                <a:gridCol w="1828800"/>
                <a:gridCol w="1737360"/>
                <a:gridCol w="1554480"/>
              </a:tblGrid>
              <a:tr h="484632">
                <a:tc>
                  <a:txBody>
                    <a:bodyPr/>
                    <a:lstStyle/>
                    <a:p>
                      <a:pPr>
                        <a:defRPr sz="1600" b="1">
                          <a:solidFill>
                            <a:srgbClr val="111111"/>
                          </a:solidFill>
                          <a:latin typeface="Calibri"/>
                        </a:defRPr>
                      </a:pPr>
                      <a:r>
                        <a:t>Model / tools</a:t>
                      </a:r>
                    </a:p>
                  </a:txBody>
                  <a:tcPr marL="82296" marT="73152">
                    <a:solidFill>
                      <a:srgbClr val="EEEEEE"/>
                    </a:solidFill>
                  </a:tcPr>
                </a:tc>
                <a:tc>
                  <a:txBody>
                    <a:bodyPr/>
                    <a:lstStyle/>
                    <a:p>
                      <a:pPr>
                        <a:defRPr sz="1600" b="1">
                          <a:solidFill>
                            <a:srgbClr val="111111"/>
                          </a:solidFill>
                          <a:latin typeface="Calibri"/>
                        </a:defRPr>
                      </a:pPr>
                      <a:r>
                        <a:t>Checks</a:t>
                      </a:r>
                    </a:p>
                  </a:txBody>
                  <a:tcPr marL="82296" marT="73152">
                    <a:solidFill>
                      <a:srgbClr val="EEEEEE"/>
                    </a:solidFill>
                  </a:tcPr>
                </a:tc>
                <a:tc>
                  <a:txBody>
                    <a:bodyPr/>
                    <a:lstStyle/>
                    <a:p>
                      <a:pPr>
                        <a:defRPr sz="1600" b="1">
                          <a:solidFill>
                            <a:srgbClr val="111111"/>
                          </a:solidFill>
                          <a:latin typeface="Calibri"/>
                        </a:defRPr>
                      </a:pPr>
                      <a:r>
                        <a:t>Tokens</a:t>
                      </a:r>
                    </a:p>
                  </a:txBody>
                  <a:tcPr marL="82296" marT="73152">
                    <a:solidFill>
                      <a:srgbClr val="EEEEEE"/>
                    </a:solidFill>
                  </a:tcPr>
                </a:tc>
                <a:tc>
                  <a:txBody>
                    <a:bodyPr/>
                    <a:lstStyle/>
                    <a:p>
                      <a:pPr>
                        <a:defRPr sz="1600" b="1">
                          <a:solidFill>
                            <a:srgbClr val="111111"/>
                          </a:solidFill>
                          <a:latin typeface="Calibri"/>
                        </a:defRPr>
                      </a:pPr>
                      <a:r>
                        <a:t>Time</a:t>
                      </a:r>
                    </a:p>
                  </a:txBody>
                  <a:tcPr marL="82296" marT="73152">
                    <a:solidFill>
                      <a:srgbClr val="EEEEEE"/>
                    </a:solidFill>
                  </a:tcPr>
                </a:tc>
                <a:tc>
                  <a:txBody>
                    <a:bodyPr/>
                    <a:lstStyle/>
                    <a:p>
                      <a:pPr>
                        <a:defRPr sz="1600" b="1">
                          <a:solidFill>
                            <a:srgbClr val="111111"/>
                          </a:solidFill>
                          <a:latin typeface="Calibri"/>
                        </a:defRPr>
                      </a:pPr>
                      <a:r>
                        <a:t>Agent cost</a:t>
                      </a:r>
                    </a:p>
                  </a:txBody>
                  <a:tcPr marL="82296" marT="73152">
                    <a:solidFill>
                      <a:srgbClr val="EEEEEE"/>
                    </a:solidFill>
                  </a:tcPr>
                </a:tc>
                <a:tc>
                  <a:txBody>
                    <a:bodyPr/>
                    <a:lstStyle/>
                    <a:p>
                      <a:pPr>
                        <a:defRPr sz="1600" b="1">
                          <a:solidFill>
                            <a:srgbClr val="111111"/>
                          </a:solidFill>
                          <a:latin typeface="Calibri"/>
                        </a:defRPr>
                      </a:pPr>
                      <a:r>
                        <a:t>RPS ↓</a:t>
                      </a:r>
                    </a:p>
                  </a:txBody>
                  <a:tcPr marL="82296" marT="73152">
                    <a:solidFill>
                      <a:srgbClr val="EEEEEE"/>
                    </a:solidFill>
                  </a:tcPr>
                </a:tc>
              </a:tr>
              <a:tr h="484632">
                <a:tc>
                  <a:txBody>
                    <a:bodyPr/>
                    <a:lstStyle/>
                    <a:p>
                      <a:pPr>
                        <a:defRPr sz="1600" b="0">
                          <a:solidFill>
                            <a:srgbClr val="111111"/>
                          </a:solidFill>
                          <a:latin typeface="Calibri"/>
                        </a:defRPr>
                      </a:pPr>
                      <a:r>
                        <a:t>Fable / scratch</a:t>
                      </a:r>
                    </a:p>
                  </a:txBody>
                  <a:tcPr marL="82296" marT="73152">
                    <a:solidFill>
                      <a:srgbClr val="FFFFFF"/>
                    </a:solidFill>
                  </a:tcPr>
                </a:tc>
                <a:tc>
                  <a:txBody>
                    <a:bodyPr/>
                    <a:lstStyle/>
                    <a:p>
                      <a:pPr>
                        <a:defRPr sz="1600" b="0">
                          <a:solidFill>
                            <a:srgbClr val="111111"/>
                          </a:solidFill>
                          <a:latin typeface="Calibri"/>
                        </a:defRPr>
                      </a:pPr>
                      <a:r>
                        <a:t>12/12</a:t>
                      </a:r>
                    </a:p>
                  </a:txBody>
                  <a:tcPr marL="82296" marT="73152">
                    <a:solidFill>
                      <a:srgbClr val="FFFFFF"/>
                    </a:solidFill>
                  </a:tcPr>
                </a:tc>
                <a:tc>
                  <a:txBody>
                    <a:bodyPr/>
                    <a:lstStyle/>
                    <a:p>
                      <a:pPr>
                        <a:defRPr sz="1600" b="0">
                          <a:solidFill>
                            <a:srgbClr val="111111"/>
                          </a:solidFill>
                          <a:latin typeface="Calibri"/>
                        </a:defRPr>
                      </a:pPr>
                      <a:r>
                        <a:t>260,515</a:t>
                      </a:r>
                    </a:p>
                  </a:txBody>
                  <a:tcPr marL="82296" marT="73152">
                    <a:solidFill>
                      <a:srgbClr val="FFFFFF"/>
                    </a:solidFill>
                  </a:tcPr>
                </a:tc>
                <a:tc>
                  <a:txBody>
                    <a:bodyPr/>
                    <a:lstStyle/>
                    <a:p>
                      <a:pPr>
                        <a:defRPr sz="1600" b="0">
                          <a:solidFill>
                            <a:srgbClr val="111111"/>
                          </a:solidFill>
                          <a:latin typeface="Calibri"/>
                        </a:defRPr>
                      </a:pPr>
                      <a:r>
                        <a:t>4.9 min</a:t>
                      </a:r>
                    </a:p>
                  </a:txBody>
                  <a:tcPr marL="82296" marT="73152">
                    <a:solidFill>
                      <a:srgbClr val="FFFFFF"/>
                    </a:solidFill>
                  </a:tcPr>
                </a:tc>
                <a:tc>
                  <a:txBody>
                    <a:bodyPr/>
                    <a:lstStyle/>
                    <a:p>
                      <a:pPr>
                        <a:defRPr sz="1600" b="0">
                          <a:solidFill>
                            <a:srgbClr val="111111"/>
                          </a:solidFill>
                          <a:latin typeface="Calibri"/>
                        </a:defRPr>
                      </a:pPr>
                      <a:r>
                        <a:t>$3.36</a:t>
                      </a:r>
                    </a:p>
                  </a:txBody>
                  <a:tcPr marL="82296" marT="73152">
                    <a:solidFill>
                      <a:srgbClr val="FFFFFF"/>
                    </a:solidFill>
                  </a:tcPr>
                </a:tc>
                <a:tc>
                  <a:txBody>
                    <a:bodyPr/>
                    <a:lstStyle/>
                    <a:p>
                      <a:pPr>
                        <a:defRPr sz="1600" b="0">
                          <a:solidFill>
                            <a:srgbClr val="111111"/>
                          </a:solidFill>
                          <a:latin typeface="Calibri"/>
                        </a:defRPr>
                      </a:pPr>
                      <a:r>
                        <a:t>0.279</a:t>
                      </a:r>
                    </a:p>
                  </a:txBody>
                  <a:tcPr marL="82296" marT="73152">
                    <a:solidFill>
                      <a:srgbClr val="FFFFFF"/>
                    </a:solidFill>
                  </a:tcPr>
                </a:tc>
              </a:tr>
              <a:tr h="484632">
                <a:tc>
                  <a:txBody>
                    <a:bodyPr/>
                    <a:lstStyle/>
                    <a:p>
                      <a:pPr>
                        <a:defRPr sz="1600" b="0">
                          <a:solidFill>
                            <a:srgbClr val="111111"/>
                          </a:solidFill>
                          <a:latin typeface="Calibri"/>
                        </a:defRPr>
                      </a:pPr>
                      <a:r>
                        <a:t>Sonnet / Rhiza</a:t>
                      </a:r>
                    </a:p>
                  </a:txBody>
                  <a:tcPr marL="82296" marT="73152">
                    <a:solidFill>
                      <a:srgbClr val="FFFFFF"/>
                    </a:solidFill>
                  </a:tcPr>
                </a:tc>
                <a:tc>
                  <a:txBody>
                    <a:bodyPr/>
                    <a:lstStyle/>
                    <a:p>
                      <a:pPr>
                        <a:defRPr sz="1600" b="0">
                          <a:solidFill>
                            <a:srgbClr val="111111"/>
                          </a:solidFill>
                          <a:latin typeface="Calibri"/>
                        </a:defRPr>
                      </a:pPr>
                      <a:r>
                        <a:t>12/12</a:t>
                      </a:r>
                    </a:p>
                  </a:txBody>
                  <a:tcPr marL="82296" marT="73152">
                    <a:solidFill>
                      <a:srgbClr val="FFFFFF"/>
                    </a:solidFill>
                  </a:tcPr>
                </a:tc>
                <a:tc>
                  <a:txBody>
                    <a:bodyPr/>
                    <a:lstStyle/>
                    <a:p>
                      <a:pPr>
                        <a:defRPr sz="1600" b="0">
                          <a:solidFill>
                            <a:srgbClr val="111111"/>
                          </a:solidFill>
                          <a:latin typeface="Calibri"/>
                        </a:defRPr>
                      </a:pPr>
                      <a:r>
                        <a:t>132,946</a:t>
                      </a:r>
                    </a:p>
                  </a:txBody>
                  <a:tcPr marL="82296" marT="73152">
                    <a:solidFill>
                      <a:srgbClr val="FFFFFF"/>
                    </a:solidFill>
                  </a:tcPr>
                </a:tc>
                <a:tc>
                  <a:txBody>
                    <a:bodyPr/>
                    <a:lstStyle/>
                    <a:p>
                      <a:pPr>
                        <a:defRPr sz="1600" b="0">
                          <a:solidFill>
                            <a:srgbClr val="111111"/>
                          </a:solidFill>
                          <a:latin typeface="Calibri"/>
                        </a:defRPr>
                      </a:pPr>
                      <a:r>
                        <a:t>1.6 min</a:t>
                      </a:r>
                    </a:p>
                  </a:txBody>
                  <a:tcPr marL="82296" marT="73152">
                    <a:solidFill>
                      <a:srgbClr val="FFFFFF"/>
                    </a:solidFill>
                  </a:tcPr>
                </a:tc>
                <a:tc>
                  <a:txBody>
                    <a:bodyPr/>
                    <a:lstStyle/>
                    <a:p>
                      <a:pPr>
                        <a:defRPr sz="1600" b="0">
                          <a:solidFill>
                            <a:srgbClr val="111111"/>
                          </a:solidFill>
                          <a:latin typeface="Calibri"/>
                        </a:defRPr>
                      </a:pPr>
                      <a:r>
                        <a:t>$0.36</a:t>
                      </a:r>
                    </a:p>
                  </a:txBody>
                  <a:tcPr marL="82296" marT="73152">
                    <a:solidFill>
                      <a:srgbClr val="FFFFFF"/>
                    </a:solidFill>
                  </a:tcPr>
                </a:tc>
                <a:tc>
                  <a:txBody>
                    <a:bodyPr/>
                    <a:lstStyle/>
                    <a:p>
                      <a:pPr>
                        <a:defRPr sz="1600" b="0">
                          <a:solidFill>
                            <a:srgbClr val="111111"/>
                          </a:solidFill>
                          <a:latin typeface="Calibri"/>
                        </a:defRPr>
                      </a:pPr>
                      <a:r>
                        <a:t>0.279</a:t>
                      </a:r>
                    </a:p>
                  </a:txBody>
                  <a:tcPr marL="82296" marT="73152">
                    <a:solidFill>
                      <a:srgbClr val="FFFFFF"/>
                    </a:solidFill>
                  </a:tcPr>
                </a:tc>
              </a:tr>
              <a:tr h="484632">
                <a:tc>
                  <a:txBody>
                    <a:bodyPr/>
                    <a:lstStyle/>
                    <a:p>
                      <a:pPr>
                        <a:defRPr sz="1600" b="0">
                          <a:solidFill>
                            <a:srgbClr val="111111"/>
                          </a:solidFill>
                          <a:latin typeface="Calibri"/>
                        </a:defRPr>
                      </a:pPr>
                      <a:r>
                        <a:t>Fable / Rhiza</a:t>
                      </a:r>
                    </a:p>
                  </a:txBody>
                  <a:tcPr marL="82296" marT="73152">
                    <a:solidFill>
                      <a:srgbClr val="FFFFFF"/>
                    </a:solidFill>
                  </a:tcPr>
                </a:tc>
                <a:tc>
                  <a:txBody>
                    <a:bodyPr/>
                    <a:lstStyle/>
                    <a:p>
                      <a:pPr>
                        <a:defRPr sz="1600" b="0">
                          <a:solidFill>
                            <a:srgbClr val="111111"/>
                          </a:solidFill>
                          <a:latin typeface="Calibri"/>
                        </a:defRPr>
                      </a:pPr>
                      <a:r>
                        <a:t>11/12</a:t>
                      </a:r>
                    </a:p>
                  </a:txBody>
                  <a:tcPr marL="82296" marT="73152">
                    <a:solidFill>
                      <a:srgbClr val="FFFFFF"/>
                    </a:solidFill>
                  </a:tcPr>
                </a:tc>
                <a:tc>
                  <a:txBody>
                    <a:bodyPr/>
                    <a:lstStyle/>
                    <a:p>
                      <a:pPr>
                        <a:defRPr sz="1600" b="0">
                          <a:solidFill>
                            <a:srgbClr val="111111"/>
                          </a:solidFill>
                          <a:latin typeface="Calibri"/>
                        </a:defRPr>
                      </a:pPr>
                      <a:r>
                        <a:t>360,047</a:t>
                      </a:r>
                    </a:p>
                  </a:txBody>
                  <a:tcPr marL="82296" marT="73152">
                    <a:solidFill>
                      <a:srgbClr val="FFFFFF"/>
                    </a:solidFill>
                  </a:tcPr>
                </a:tc>
                <a:tc>
                  <a:txBody>
                    <a:bodyPr/>
                    <a:lstStyle/>
                    <a:p>
                      <a:pPr>
                        <a:defRPr sz="1600" b="0">
                          <a:solidFill>
                            <a:srgbClr val="111111"/>
                          </a:solidFill>
                          <a:latin typeface="Calibri"/>
                        </a:defRPr>
                      </a:pPr>
                      <a:r>
                        <a:t>4.9 min</a:t>
                      </a:r>
                    </a:p>
                  </a:txBody>
                  <a:tcPr marL="82296" marT="73152">
                    <a:solidFill>
                      <a:srgbClr val="FFFFFF"/>
                    </a:solidFill>
                  </a:tcPr>
                </a:tc>
                <a:tc>
                  <a:txBody>
                    <a:bodyPr/>
                    <a:lstStyle/>
                    <a:p>
                      <a:pPr>
                        <a:defRPr sz="1600" b="0">
                          <a:solidFill>
                            <a:srgbClr val="111111"/>
                          </a:solidFill>
                          <a:latin typeface="Calibri"/>
                        </a:defRPr>
                      </a:pPr>
                      <a:r>
                        <a:t>$4.42</a:t>
                      </a:r>
                    </a:p>
                  </a:txBody>
                  <a:tcPr marL="82296" marT="73152">
                    <a:solidFill>
                      <a:srgbClr val="FFFFFF"/>
                    </a:solidFill>
                  </a:tcPr>
                </a:tc>
                <a:tc>
                  <a:txBody>
                    <a:bodyPr/>
                    <a:lstStyle/>
                    <a:p>
                      <a:pPr>
                        <a:defRPr sz="1600" b="0">
                          <a:solidFill>
                            <a:srgbClr val="111111"/>
                          </a:solidFill>
                          <a:latin typeface="Calibri"/>
                        </a:defRPr>
                      </a:pPr>
                      <a:r>
                        <a:t>0.281</a:t>
                      </a:r>
                    </a:p>
                  </a:txBody>
                  <a:tcPr marL="82296" marT="73152">
                    <a:solidFill>
                      <a:srgbClr val="FFFFFF"/>
                    </a:solidFill>
                  </a:tcPr>
                </a:tc>
              </a:tr>
              <a:tr h="484632">
                <a:tc>
                  <a:txBody>
                    <a:bodyPr/>
                    <a:lstStyle/>
                    <a:p>
                      <a:pPr>
                        <a:defRPr sz="1600" b="0">
                          <a:solidFill>
                            <a:srgbClr val="111111"/>
                          </a:solidFill>
                          <a:latin typeface="Calibri"/>
                        </a:defRPr>
                      </a:pPr>
                      <a:r>
                        <a:t>Fable / ACCORD</a:t>
                      </a:r>
                    </a:p>
                  </a:txBody>
                  <a:tcPr marL="82296" marT="73152">
                    <a:solidFill>
                      <a:srgbClr val="FFFFFF"/>
                    </a:solidFill>
                  </a:tcPr>
                </a:tc>
                <a:tc>
                  <a:txBody>
                    <a:bodyPr/>
                    <a:lstStyle/>
                    <a:p>
                      <a:pPr>
                        <a:defRPr sz="1600" b="0">
                          <a:solidFill>
                            <a:srgbClr val="111111"/>
                          </a:solidFill>
                          <a:latin typeface="Calibri"/>
                        </a:defRPr>
                      </a:pPr>
                      <a:r>
                        <a:t>12/12</a:t>
                      </a:r>
                    </a:p>
                  </a:txBody>
                  <a:tcPr marL="82296" marT="73152">
                    <a:solidFill>
                      <a:srgbClr val="FFFFFF"/>
                    </a:solidFill>
                  </a:tcPr>
                </a:tc>
                <a:tc>
                  <a:txBody>
                    <a:bodyPr/>
                    <a:lstStyle/>
                    <a:p>
                      <a:pPr>
                        <a:defRPr sz="1600" b="0">
                          <a:solidFill>
                            <a:srgbClr val="111111"/>
                          </a:solidFill>
                          <a:latin typeface="Calibri"/>
                        </a:defRPr>
                      </a:pPr>
                      <a:r>
                        <a:t>365,355</a:t>
                      </a:r>
                    </a:p>
                  </a:txBody>
                  <a:tcPr marL="82296" marT="73152">
                    <a:solidFill>
                      <a:srgbClr val="FFFFFF"/>
                    </a:solidFill>
                  </a:tcPr>
                </a:tc>
                <a:tc>
                  <a:txBody>
                    <a:bodyPr/>
                    <a:lstStyle/>
                    <a:p>
                      <a:pPr>
                        <a:defRPr sz="1600" b="0">
                          <a:solidFill>
                            <a:srgbClr val="111111"/>
                          </a:solidFill>
                          <a:latin typeface="Calibri"/>
                        </a:defRPr>
                      </a:pPr>
                      <a:r>
                        <a:t>4.1 min</a:t>
                      </a:r>
                    </a:p>
                  </a:txBody>
                  <a:tcPr marL="82296" marT="73152">
                    <a:solidFill>
                      <a:srgbClr val="FFFFFF"/>
                    </a:solidFill>
                  </a:tcPr>
                </a:tc>
                <a:tc>
                  <a:txBody>
                    <a:bodyPr/>
                    <a:lstStyle/>
                    <a:p>
                      <a:pPr>
                        <a:defRPr sz="1600" b="0">
                          <a:solidFill>
                            <a:srgbClr val="111111"/>
                          </a:solidFill>
                          <a:latin typeface="Calibri"/>
                        </a:defRPr>
                      </a:pPr>
                      <a:r>
                        <a:t>$4.39</a:t>
                      </a:r>
                    </a:p>
                  </a:txBody>
                  <a:tcPr marL="82296" marT="73152">
                    <a:solidFill>
                      <a:srgbClr val="FFFFFF"/>
                    </a:solidFill>
                  </a:tcPr>
                </a:tc>
                <a:tc>
                  <a:txBody>
                    <a:bodyPr/>
                    <a:lstStyle/>
                    <a:p>
                      <a:pPr>
                        <a:defRPr sz="1600" b="0">
                          <a:solidFill>
                            <a:srgbClr val="111111"/>
                          </a:solidFill>
                          <a:latin typeface="Calibri"/>
                        </a:defRPr>
                      </a:pPr>
                      <a:r>
                        <a:t>0.279</a:t>
                      </a:r>
                    </a:p>
                  </a:txBody>
                  <a:tcPr marL="82296" marT="73152">
                    <a:solidFill>
                      <a:srgbClr val="FFFFFF"/>
                    </a:solidFill>
                  </a:tcPr>
                </a:tc>
              </a:tr>
            </a:tbl>
          </a:graphicData>
        </a:graphic>
      </p:graphicFrame>
      <p:sp>
        <p:nvSpPr>
          <p:cNvPr id="6" name="TextBox 5"/>
          <p:cNvSpPr txBox="1"/>
          <p:nvPr/>
        </p:nvSpPr>
        <p:spPr>
          <a:xfrm>
            <a:off x="548640" y="4800600"/>
            <a:ext cx="11064240" cy="868680"/>
          </a:xfrm>
          <a:prstGeom prst="rect">
            <a:avLst/>
          </a:prstGeom>
          <a:noFill/>
        </p:spPr>
        <p:txBody>
          <a:bodyPr wrap="square" lIns="0" rIns="0">
            <a:spAutoFit/>
          </a:bodyPr>
          <a:lstStyle/>
          <a:p>
            <a:pPr>
              <a:spcAft>
                <a:spcPts val="1000"/>
              </a:spcAft>
              <a:defRPr sz="1800" b="0">
                <a:solidFill>
                  <a:srgbClr val="111111"/>
                </a:solidFill>
                <a:latin typeface="Calibri"/>
              </a:defRPr>
            </a:pPr>
            <a:r>
              <a:t>Sonnet + Rhiza matched Fable scratch’s 12/12 checks with 49% fewer tokens, 67% less time and 89% lower API cost. ACCORD matched 12/12 and was 17% faster than Fable scratch.</a:t>
            </a:r>
          </a:p>
        </p:txBody>
      </p:sp>
      <p:sp>
        <p:nvSpPr>
          <p:cNvPr id="7" name="TextBox 6"/>
          <p:cNvSpPr txBox="1"/>
          <p:nvPr/>
        </p:nvSpPr>
        <p:spPr>
          <a:xfrm>
            <a:off x="548640" y="5806440"/>
            <a:ext cx="11064240" cy="502920"/>
          </a:xfrm>
          <a:prstGeom prst="rect">
            <a:avLst/>
          </a:prstGeom>
          <a:noFill/>
        </p:spPr>
        <p:txBody>
          <a:bodyPr wrap="square" lIns="0" rIns="0">
            <a:spAutoFit/>
          </a:bodyPr>
          <a:lstStyle/>
          <a:p>
            <a:pPr>
              <a:spcAft>
                <a:spcPts val="1000"/>
              </a:spcAft>
              <a:defRPr sz="1200" b="0">
                <a:solidFill>
                  <a:srgbClr val="6B6B6B"/>
                </a:solidFill>
                <a:latin typeface="Calibri"/>
              </a:defRPr>
            </a:pPr>
            <a:r>
              <a:t>Rhiza received catalog descriptions (no script calls); ACCORD used the installed fitted-model API.</a:t>
            </a:r>
          </a:p>
          <a:p>
            <a:pPr>
              <a:spcAft>
                <a:spcPts val="1000"/>
              </a:spcAft>
              <a:defRPr sz="1200" b="0">
                <a:solidFill>
                  <a:srgbClr val="6B6B6B"/>
                </a:solidFill>
                <a:latin typeface="Calibri"/>
              </a:defRPr>
            </a:pPr>
            <a:r>
              <a:t>RPS ↓ uses two previously inspected development years; these are illustrative single attempts.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Does saved work make the next forecast cheaper?</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Fresh Fable conversation, own retained code, inputs and fitted state; a new private forecast batch.</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weather pilot · revised execution protocol · 1 Oct 2026 · 18</a:t>
            </a:r>
          </a:p>
        </p:txBody>
      </p:sp>
      <p:graphicFrame>
        <p:nvGraphicFramePr>
          <p:cNvPr id="5" name="Table 4"/>
          <p:cNvGraphicFramePr>
            <a:graphicFrameLocks noGrp="1"/>
          </p:cNvGraphicFramePr>
          <p:nvPr/>
        </p:nvGraphicFramePr>
        <p:xfrm>
          <a:off x="548640" y="2423160"/>
          <a:ext cx="11064240" cy="1938528"/>
        </p:xfrm>
        <a:graphic>
          <a:graphicData uri="http://schemas.openxmlformats.org/drawingml/2006/table">
            <a:tbl>
              <a:tblPr firstRow="1" bandRow="1">
                <a:tableStyleId>{5C22544A-7EE6-4342-B048-85BDC9FD1C3A}</a:tableStyleId>
              </a:tblPr>
              <a:tblGrid>
                <a:gridCol w="2011680"/>
                <a:gridCol w="2926080"/>
                <a:gridCol w="2377440"/>
                <a:gridCol w="2103120"/>
                <a:gridCol w="1645920"/>
              </a:tblGrid>
              <a:tr h="484632">
                <a:tc>
                  <a:txBody>
                    <a:bodyPr/>
                    <a:lstStyle/>
                    <a:p>
                      <a:pPr>
                        <a:defRPr sz="1600" b="1">
                          <a:solidFill>
                            <a:srgbClr val="111111"/>
                          </a:solidFill>
                          <a:latin typeface="Calibri"/>
                        </a:defRPr>
                      </a:pPr>
                      <a:r>
                        <a:t>Fable arm</a:t>
                      </a:r>
                    </a:p>
                  </a:txBody>
                  <a:tcPr marL="82296" marT="73152">
                    <a:solidFill>
                      <a:srgbClr val="EEEEEE"/>
                    </a:solidFill>
                  </a:tcPr>
                </a:tc>
                <a:tc>
                  <a:txBody>
                    <a:bodyPr/>
                    <a:lstStyle/>
                    <a:p>
                      <a:pPr>
                        <a:defRPr sz="1600" b="1">
                          <a:solidFill>
                            <a:srgbClr val="111111"/>
                          </a:solidFill>
                          <a:latin typeface="Calibri"/>
                        </a:defRPr>
                      </a:pPr>
                      <a:r>
                        <a:t>Initial → follow-up $</a:t>
                      </a:r>
                    </a:p>
                  </a:txBody>
                  <a:tcPr marL="82296" marT="73152">
                    <a:solidFill>
                      <a:srgbClr val="EEEEEE"/>
                    </a:solidFill>
                  </a:tcPr>
                </a:tc>
                <a:tc>
                  <a:txBody>
                    <a:bodyPr/>
                    <a:lstStyle/>
                    <a:p>
                      <a:pPr>
                        <a:defRPr sz="1600" b="1">
                          <a:solidFill>
                            <a:srgbClr val="111111"/>
                          </a:solidFill>
                          <a:latin typeface="Calibri"/>
                        </a:defRPr>
                      </a:pPr>
                      <a:r>
                        <a:t>Follow-up tokens</a:t>
                      </a:r>
                    </a:p>
                  </a:txBody>
                  <a:tcPr marL="82296" marT="73152">
                    <a:solidFill>
                      <a:srgbClr val="EEEEEE"/>
                    </a:solidFill>
                  </a:tcPr>
                </a:tc>
                <a:tc>
                  <a:txBody>
                    <a:bodyPr/>
                    <a:lstStyle/>
                    <a:p>
                      <a:pPr>
                        <a:defRPr sz="1600" b="1">
                          <a:solidFill>
                            <a:srgbClr val="111111"/>
                          </a:solidFill>
                          <a:latin typeface="Calibri"/>
                        </a:defRPr>
                      </a:pPr>
                      <a:r>
                        <a:t>Follow-up time</a:t>
                      </a:r>
                    </a:p>
                  </a:txBody>
                  <a:tcPr marL="82296" marT="73152">
                    <a:solidFill>
                      <a:srgbClr val="EEEEEE"/>
                    </a:solidFill>
                  </a:tcPr>
                </a:tc>
                <a:tc>
                  <a:txBody>
                    <a:bodyPr/>
                    <a:lstStyle/>
                    <a:p>
                      <a:pPr>
                        <a:defRPr sz="1600" b="1">
                          <a:solidFill>
                            <a:srgbClr val="111111"/>
                          </a:solidFill>
                          <a:latin typeface="Calibri"/>
                        </a:defRPr>
                      </a:pPr>
                      <a:r>
                        <a:t>Checks</a:t>
                      </a:r>
                    </a:p>
                  </a:txBody>
                  <a:tcPr marL="82296" marT="73152">
                    <a:solidFill>
                      <a:srgbClr val="EEEEEE"/>
                    </a:solidFill>
                  </a:tcPr>
                </a:tc>
              </a:tr>
              <a:tr h="484632">
                <a:tc>
                  <a:txBody>
                    <a:bodyPr/>
                    <a:lstStyle/>
                    <a:p>
                      <a:pPr>
                        <a:defRPr sz="1600" b="0">
                          <a:solidFill>
                            <a:srgbClr val="111111"/>
                          </a:solidFill>
                          <a:latin typeface="Calibri"/>
                        </a:defRPr>
                      </a:pPr>
                      <a:r>
                        <a:t>Scratch</a:t>
                      </a:r>
                    </a:p>
                  </a:txBody>
                  <a:tcPr marL="82296" marT="73152">
                    <a:solidFill>
                      <a:srgbClr val="FFFFFF"/>
                    </a:solidFill>
                  </a:tcPr>
                </a:tc>
                <a:tc>
                  <a:txBody>
                    <a:bodyPr/>
                    <a:lstStyle/>
                    <a:p>
                      <a:pPr>
                        <a:defRPr sz="1600" b="0">
                          <a:solidFill>
                            <a:srgbClr val="111111"/>
                          </a:solidFill>
                          <a:latin typeface="Calibri"/>
                        </a:defRPr>
                      </a:pPr>
                      <a:r>
                        <a:t>$3.36 → $3.77</a:t>
                      </a:r>
                    </a:p>
                  </a:txBody>
                  <a:tcPr marL="82296" marT="73152">
                    <a:solidFill>
                      <a:srgbClr val="FFFFFF"/>
                    </a:solidFill>
                  </a:tcPr>
                </a:tc>
                <a:tc>
                  <a:txBody>
                    <a:bodyPr/>
                    <a:lstStyle/>
                    <a:p>
                      <a:pPr>
                        <a:defRPr sz="1600" b="0">
                          <a:solidFill>
                            <a:srgbClr val="111111"/>
                          </a:solidFill>
                          <a:latin typeface="Calibri"/>
                        </a:defRPr>
                      </a:pPr>
                      <a:r>
                        <a:t>334,053</a:t>
                      </a:r>
                    </a:p>
                  </a:txBody>
                  <a:tcPr marL="82296" marT="73152">
                    <a:solidFill>
                      <a:srgbClr val="FFFFFF"/>
                    </a:solidFill>
                  </a:tcPr>
                </a:tc>
                <a:tc>
                  <a:txBody>
                    <a:bodyPr/>
                    <a:lstStyle/>
                    <a:p>
                      <a:pPr>
                        <a:defRPr sz="1600" b="0">
                          <a:solidFill>
                            <a:srgbClr val="111111"/>
                          </a:solidFill>
                          <a:latin typeface="Calibri"/>
                        </a:defRPr>
                      </a:pPr>
                      <a:r>
                        <a:t>3.8 min</a:t>
                      </a:r>
                    </a:p>
                  </a:txBody>
                  <a:tcPr marL="82296" marT="73152">
                    <a:solidFill>
                      <a:srgbClr val="FFFFFF"/>
                    </a:solidFill>
                  </a:tcPr>
                </a:tc>
                <a:tc>
                  <a:txBody>
                    <a:bodyPr/>
                    <a:lstStyle/>
                    <a:p>
                      <a:pPr>
                        <a:defRPr sz="1600" b="0">
                          <a:solidFill>
                            <a:srgbClr val="111111"/>
                          </a:solidFill>
                          <a:latin typeface="Calibri"/>
                        </a:defRPr>
                      </a:pPr>
                      <a:r>
                        <a:t>12/12</a:t>
                      </a:r>
                    </a:p>
                  </a:txBody>
                  <a:tcPr marL="82296" marT="73152">
                    <a:solidFill>
                      <a:srgbClr val="FFFFFF"/>
                    </a:solidFill>
                  </a:tcPr>
                </a:tc>
              </a:tr>
              <a:tr h="484632">
                <a:tc>
                  <a:txBody>
                    <a:bodyPr/>
                    <a:lstStyle/>
                    <a:p>
                      <a:pPr>
                        <a:defRPr sz="1600" b="0">
                          <a:solidFill>
                            <a:srgbClr val="111111"/>
                          </a:solidFill>
                          <a:latin typeface="Calibri"/>
                        </a:defRPr>
                      </a:pPr>
                      <a:r>
                        <a:t>Rhiza</a:t>
                      </a:r>
                    </a:p>
                  </a:txBody>
                  <a:tcPr marL="82296" marT="73152">
                    <a:solidFill>
                      <a:srgbClr val="FFFFFF"/>
                    </a:solidFill>
                  </a:tcPr>
                </a:tc>
                <a:tc>
                  <a:txBody>
                    <a:bodyPr/>
                    <a:lstStyle/>
                    <a:p>
                      <a:pPr>
                        <a:defRPr sz="1600" b="0">
                          <a:solidFill>
                            <a:srgbClr val="111111"/>
                          </a:solidFill>
                          <a:latin typeface="Calibri"/>
                        </a:defRPr>
                      </a:pPr>
                      <a:r>
                        <a:t>$4.42 → $2.39</a:t>
                      </a:r>
                    </a:p>
                  </a:txBody>
                  <a:tcPr marL="82296" marT="73152">
                    <a:solidFill>
                      <a:srgbClr val="FFFFFF"/>
                    </a:solidFill>
                  </a:tcPr>
                </a:tc>
                <a:tc>
                  <a:txBody>
                    <a:bodyPr/>
                    <a:lstStyle/>
                    <a:p>
                      <a:pPr>
                        <a:defRPr sz="1600" b="0">
                          <a:solidFill>
                            <a:srgbClr val="111111"/>
                          </a:solidFill>
                          <a:latin typeface="Calibri"/>
                        </a:defRPr>
                      </a:pPr>
                      <a:r>
                        <a:t>213,139</a:t>
                      </a:r>
                    </a:p>
                  </a:txBody>
                  <a:tcPr marL="82296" marT="73152">
                    <a:solidFill>
                      <a:srgbClr val="FFFFFF"/>
                    </a:solidFill>
                  </a:tcPr>
                </a:tc>
                <a:tc>
                  <a:txBody>
                    <a:bodyPr/>
                    <a:lstStyle/>
                    <a:p>
                      <a:pPr>
                        <a:defRPr sz="1600" b="0">
                          <a:solidFill>
                            <a:srgbClr val="111111"/>
                          </a:solidFill>
                          <a:latin typeface="Calibri"/>
                        </a:defRPr>
                      </a:pPr>
                      <a:r>
                        <a:t>2.5 min</a:t>
                      </a:r>
                    </a:p>
                  </a:txBody>
                  <a:tcPr marL="82296" marT="73152">
                    <a:solidFill>
                      <a:srgbClr val="FFFFFF"/>
                    </a:solidFill>
                  </a:tcPr>
                </a:tc>
                <a:tc>
                  <a:txBody>
                    <a:bodyPr/>
                    <a:lstStyle/>
                    <a:p>
                      <a:pPr>
                        <a:defRPr sz="1600" b="0">
                          <a:solidFill>
                            <a:srgbClr val="111111"/>
                          </a:solidFill>
                          <a:latin typeface="Calibri"/>
                        </a:defRPr>
                      </a:pPr>
                      <a:r>
                        <a:t>11/12</a:t>
                      </a:r>
                    </a:p>
                  </a:txBody>
                  <a:tcPr marL="82296" marT="73152">
                    <a:solidFill>
                      <a:srgbClr val="FFFFFF"/>
                    </a:solidFill>
                  </a:tcPr>
                </a:tc>
              </a:tr>
              <a:tr h="484632">
                <a:tc>
                  <a:txBody>
                    <a:bodyPr/>
                    <a:lstStyle/>
                    <a:p>
                      <a:pPr>
                        <a:defRPr sz="1600" b="0">
                          <a:solidFill>
                            <a:srgbClr val="111111"/>
                          </a:solidFill>
                          <a:latin typeface="Calibri"/>
                        </a:defRPr>
                      </a:pPr>
                      <a:r>
                        <a:t>ACCORD</a:t>
                      </a:r>
                    </a:p>
                  </a:txBody>
                  <a:tcPr marL="82296" marT="73152">
                    <a:solidFill>
                      <a:srgbClr val="FFFFFF"/>
                    </a:solidFill>
                  </a:tcPr>
                </a:tc>
                <a:tc>
                  <a:txBody>
                    <a:bodyPr/>
                    <a:lstStyle/>
                    <a:p>
                      <a:pPr>
                        <a:defRPr sz="1600" b="0">
                          <a:solidFill>
                            <a:srgbClr val="111111"/>
                          </a:solidFill>
                          <a:latin typeface="Calibri"/>
                        </a:defRPr>
                      </a:pPr>
                      <a:r>
                        <a:t>$4.39 → $1.89</a:t>
                      </a:r>
                    </a:p>
                  </a:txBody>
                  <a:tcPr marL="82296" marT="73152">
                    <a:solidFill>
                      <a:srgbClr val="FFFFFF"/>
                    </a:solidFill>
                  </a:tcPr>
                </a:tc>
                <a:tc>
                  <a:txBody>
                    <a:bodyPr/>
                    <a:lstStyle/>
                    <a:p>
                      <a:pPr>
                        <a:defRPr sz="1600" b="0">
                          <a:solidFill>
                            <a:srgbClr val="111111"/>
                          </a:solidFill>
                          <a:latin typeface="Calibri"/>
                        </a:defRPr>
                      </a:pPr>
                      <a:r>
                        <a:t>165,576</a:t>
                      </a:r>
                    </a:p>
                  </a:txBody>
                  <a:tcPr marL="82296" marT="73152">
                    <a:solidFill>
                      <a:srgbClr val="FFFFFF"/>
                    </a:solidFill>
                  </a:tcPr>
                </a:tc>
                <a:tc>
                  <a:txBody>
                    <a:bodyPr/>
                    <a:lstStyle/>
                    <a:p>
                      <a:pPr>
                        <a:defRPr sz="1600" b="0">
                          <a:solidFill>
                            <a:srgbClr val="111111"/>
                          </a:solidFill>
                          <a:latin typeface="Calibri"/>
                        </a:defRPr>
                      </a:pPr>
                      <a:r>
                        <a:t>2.6 min</a:t>
                      </a:r>
                    </a:p>
                  </a:txBody>
                  <a:tcPr marL="82296" marT="73152">
                    <a:solidFill>
                      <a:srgbClr val="FFFFFF"/>
                    </a:solidFill>
                  </a:tcPr>
                </a:tc>
                <a:tc>
                  <a:txBody>
                    <a:bodyPr/>
                    <a:lstStyle/>
                    <a:p>
                      <a:pPr>
                        <a:defRPr sz="1600" b="0">
                          <a:solidFill>
                            <a:srgbClr val="111111"/>
                          </a:solidFill>
                          <a:latin typeface="Calibri"/>
                        </a:defRPr>
                      </a:pPr>
                      <a:r>
                        <a:t>12/12</a:t>
                      </a:r>
                    </a:p>
                  </a:txBody>
                  <a:tcPr marL="82296" marT="73152">
                    <a:solidFill>
                      <a:srgbClr val="FFFFFF"/>
                    </a:solidFill>
                  </a:tcPr>
                </a:tc>
              </a:tr>
            </a:tbl>
          </a:graphicData>
        </a:graphic>
      </p:graphicFrame>
      <p:sp>
        <p:nvSpPr>
          <p:cNvPr id="6" name="TextBox 5"/>
          <p:cNvSpPr txBox="1"/>
          <p:nvPr/>
        </p:nvSpPr>
        <p:spPr>
          <a:xfrm>
            <a:off x="548640" y="4663440"/>
            <a:ext cx="11064240" cy="914400"/>
          </a:xfrm>
          <a:prstGeom prst="rect">
            <a:avLst/>
          </a:prstGeom>
          <a:noFill/>
        </p:spPr>
        <p:txBody>
          <a:bodyPr wrap="square" lIns="0" rIns="0">
            <a:spAutoFit/>
          </a:bodyPr>
          <a:lstStyle/>
          <a:p>
            <a:pPr>
              <a:spcAft>
                <a:spcPts val="1000"/>
              </a:spcAft>
              <a:defRPr sz="1800" b="0">
                <a:solidFill>
                  <a:srgbClr val="111111"/>
                </a:solidFill>
                <a:latin typeface="Calibri"/>
              </a:defRPr>
            </a:pPr>
            <a:r>
              <a:t>ACCORD’s follow-up used 50% fewer tokens, cost 50% less and took 31% less time than scratch; both passed 12/12 checks. Across both attempts, ACCORD cost 12% less.</a:t>
            </a:r>
          </a:p>
        </p:txBody>
      </p:sp>
      <p:sp>
        <p:nvSpPr>
          <p:cNvPr id="7" name="TextBox 6"/>
          <p:cNvSpPr txBox="1"/>
          <p:nvPr/>
        </p:nvSpPr>
        <p:spPr>
          <a:xfrm>
            <a:off x="548640" y="5715000"/>
            <a:ext cx="11064240" cy="594360"/>
          </a:xfrm>
          <a:prstGeom prst="rect">
            <a:avLst/>
          </a:prstGeom>
          <a:noFill/>
        </p:spPr>
        <p:txBody>
          <a:bodyPr wrap="square" lIns="0" rIns="0">
            <a:spAutoFit/>
          </a:bodyPr>
          <a:lstStyle/>
          <a:p>
            <a:pPr>
              <a:spcAft>
                <a:spcPts val="1000"/>
              </a:spcAft>
              <a:defRPr sz="1200" b="0">
                <a:solidFill>
                  <a:srgbClr val="6B6B6B"/>
                </a:solidFill>
                <a:latin typeface="Calibri"/>
              </a:defRPr>
            </a:pPr>
            <a:r>
              <a:t>Second-batch RPS ↓: scratch 0.396; Rhiza 0.404; ACCORD 0.412. No accuracy advantage established.</a:t>
            </a:r>
          </a:p>
          <a:p>
            <a:pPr>
              <a:spcAft>
                <a:spcPts val="1000"/>
              </a:spcAft>
              <a:defRPr sz="1200" b="0">
                <a:solidFill>
                  <a:srgbClr val="6B6B6B"/>
                </a:solidFill>
                <a:latin typeface="Calibri"/>
              </a:defRPr>
            </a:pPr>
            <a:r>
              <a:t>Inputs were supplied and retained; no download savings measured. No fresh-workspace follow-up controls.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2026-09-30T17:09:01Z</dcterms:created>
  <dcterms:modified xsi:type="dcterms:W3CDTF">2026-09-30T17:09:01Z</dcterms:modified>
</cp:coreProperties>
</file>