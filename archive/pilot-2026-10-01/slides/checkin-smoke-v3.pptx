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22"/>
    <p:sldId id="272" r:id="rId23"/>
    <p:sldId id="273" r:id="rId24"/>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ACMAD's own product and team. The issue is the one every tool in this space has: acquisition code is written again inside each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acmadDL owns remote source to clean xarray. afrimet keeps what is specific to a web catalogue. ACCORD's forecast tools and AFRIMET now share one acquisition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Counts are catalogue entries on the acmadDL branch of ACMAD-Niamey/afrimet vs develop. Portal shows 19 today because WIS2 and derived SPI are not 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On-demand is how 59 products get exposed without ACMAD archiving all of them. The log tells ACMAD what to promote.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ask. Offer to walk through the branch if they want.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audience already knows acmadDL and africaS2S, so library introductions are omitted. Their guides cover API conventions, data shapes, and workflow/statistical discipline; scientific implementations are in the libraries. weather-skills also has documentation, but the current harness exposes its operations through subprocess wrappers. The value of reuse and the need for Python recovery are hypotheses, not established conclusions.
Sources:
User-provided framing
../../accord/acmadDL/skills/acmaddl/SKILL.md
../../accord/africas2s/skills/africas2s/SKILL.md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comparison is Python only versus Python + skills; Skills only diagnoses the completeness and usability of the command interface. All conditions can receive execution feedback and retry within equal budgets. This is a weather-skills pilot, not yet a direct library evaluation. One repetition per task/model/condition is planned; no broad model ranking follows from it. Llama 1B/3B endpoints lack enforced JSON output; their prompts, parsing, and feedback stay the same while the unsupported response_format field is omitted. The ten models are Claude Fable 5.1, Claude Sonnet 5.5, Gemini 3.1 Flash-Lite, DeepSeek V4.1 Flash, Qwen3.5 9B, Ministral 3B, Llama 3.2 1B/3B, Qwen2.5 7B, and Llama 3.1 8B.
Sources:
configs/refined-heat-panel-v4.json
configs/refined-heat-small-v4.json
METHODOLOGY.md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e2e-kenya-heat-cached-v3, executed under repaired protocol cached-heat-v4. Source issue 2026-09-27; week 1 lead days 1–7 and week 2 days 8–14. Service rectangle 5N/34E/5S/42E, boundary grid centres included; not a country-polygon average. All ensemble members including control receive equal weight. Sample spread uses ddof=1. The quantity is daily 2 m temperature, not a daily-maximum-temperature variable. Numerical absolute tolerance 1e-4, relative 1e-6; exact schema, units, and source. PNG validity, size, and nonblank pixels are checked; semantic visual correctness still needs review. This measures correct analysis of an issued forecast, not predictive skill against observations. Cached inputs are raw and hash-verified, not precomputed skill outputs. Successful unchanged skill calls may reuse their own artifacts within a run. Cold acquisition performance needs a separate test.
Sources:
cases/e2e-kenya-heat-cached-v3.json
scripts/validate_refined.py
weather_bench/refined.py
weather_bench/execution_cache.py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Actual unfiltered landing page captured at 2026-09-30T16:35:15.917487+00:00. 17 of 30 attempts recorded. This is a viewport screenshot; the remaining model rows continue below the visible area. The dashboard supports success/time/token/cost charts and drilldowns to code, skill calls, model responses, errors, and grading. Provider errors are separated from task failures. The screenshot is an interface illustration, not a ranking.
Sources:
docs/index.html
presentations/assets/landing-provenance.json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is frozen to the completed initial six-model batch, not the still-expanding ten-model panel. All six hybrid attempts used Python and no skill invocations; only Ministral read one guide. Four hybrid attempts passed. The prompt begins with the Python agent instructions, presents skills as additional optional actions, and explicitly permits Python custom calculations. This supports an adoption/design diagnosis; it does not reveal a model's internal motivation or establish a causal effect from prompt length. Skills-only Sonnet had 12 successful skill calls and a valid figure but rejected XML-like action wrappers and a literal [7,14] array under the artifact-only numeric submission rule. Its intermediate scientific correctness was not independently established here. Qwen strict-skills had nine protocol errors, including two empty responses ending at the output limit; its clipping and conversion worked. Gemini and Ministral strict-skills also encountered CLI arguments and dimension/precondition mismatches. Qwen hybrid summed six longitude cells without averaging, then timed out. Six failed attempts ended at the cumulative token ceiling, one at the shared task deadline. The follow-up should separately test a skill-discovery/preference policy with Python recovery, fix action transport and submission friction, and repeat paired runs. Existing records and scores remain unchanged.
Sources:
results/initial-panel-failure-modes.json
results/qwen35-heat-failure-analysis.json
weather_bench/runner.py: BASE_PROMPT and SKILL_PROMPT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proposed library ablation has not been run in the current benchmark. Comparing baseline with libraries estimates reusable-code value; comparing libraries with libraries plus skills estimates additional guidance value. All arms retain Python and recovery. No condition should be deprived of basic API usability; ordinary documentation is the middle-arm control. Seasonal tasks should avoid training/verification leakage, use fixed or appropriately nested method selection, common valid masks, and independent references or cross-implementation checks. Agent correctness and meteorological predictive skill are different: held-out forecast verification may use RPSS, reliability, RMSE, or other predeclared metrics. Separate cold acquisition/setup from warm-data solve time. Use repeated tasks and model sampling before drawing claims about generalization.
Sources:
User-provided objective
../../accord/acmadDL/skills/acmaddl/SKILL.md
../../accord/africas2s/skills/africas2s/SKILL.md
STATISTICS.md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results/smoke-summary.json and runs/smoke-v3. Models and all raw traces are recorded. Do not infer a universal capability threshold from one small case.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weighted leaderboard. Initial infrastructure-aborted attempts are excluded and preserved separately. Agent cost excludes judge/setup cost. Check count includes artifacts, provenance, data aggregation, valid probabilities and reproduction.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Saved state refers to the initial attempt. A follow-up after an incomplete initial attempt measures recovery, not reuse of a working forecast. Direct saved-predictor timing is in results/direct-reuse-timing.json and includes container startup/cleanup. It is distinct from conversational follow-up cost. Do not imply that only ACCORD can save code or that two verification years establish probabilistic calibration.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468880"/>
            <a:ext cx="11064240" cy="914400"/>
          </a:xfrm>
          <a:prstGeom prst="rect">
            <a:avLst/>
          </a:prstGeom>
          <a:noFill/>
          <a:ln/>
        </p:spPr>
        <p:txBody>
          <a:bodyPr wrap="square" lIns="0" tIns="0" rIns="0" bIns="0" rtlCol="0" anchor="t"/>
          <a:lstStyle/>
          <a:p>
            <a:pPr algn="ctr" indent="0" marL="0">
              <a:buNone/>
            </a:pPr>
            <a:r>
              <a:rPr lang="en-US" sz="4000" b="1" dirty="0">
                <a:solidFill>
                  <a:srgbClr val="111111"/>
                </a:solidFill>
                <a:latin typeface="Calibri" pitchFamily="34" charset="0"/>
                <a:ea typeface="Calibri" pitchFamily="34" charset="-122"/>
                <a:cs typeface="Calibri" pitchFamily="34" charset="-120"/>
              </a:rPr>
              <a:t>ACCORD check-in</a:t>
            </a:r>
            <a:endParaRPr lang="en-US" sz="4000" dirty="0"/>
          </a:p>
        </p:txBody>
      </p:sp>
      <p:sp>
        <p:nvSpPr>
          <p:cNvPr id="3" name="Text 1"/>
          <p:cNvSpPr txBox="1"/>
          <p:nvPr/>
        </p:nvSpPr>
        <p:spPr>
          <a:xfrm>
            <a:off x="548640" y="3429000"/>
            <a:ext cx="11064240" cy="457200"/>
          </a:xfrm>
          <a:prstGeom prst="rect">
            <a:avLst/>
          </a:prstGeom>
          <a:noFill/>
          <a:ln/>
        </p:spPr>
        <p:txBody>
          <a:bodyPr wrap="square" lIns="0" tIns="0" rIns="0" bIns="0" rtlCol="0" anchor="t"/>
          <a:lstStyle/>
          <a:p>
            <a:pPr algn="ctr" indent="0" marL="0">
              <a:buNone/>
            </a:pPr>
            <a:r>
              <a:rPr lang="en-US" sz="1800" dirty="0">
                <a:solidFill>
                  <a:srgbClr val="6B6B6B"/>
                </a:solidFill>
                <a:latin typeface="Calibri" pitchFamily="34" charset="0"/>
                <a:ea typeface="Calibri" pitchFamily="34" charset="-122"/>
                <a:cs typeface="Calibri" pitchFamily="34" charset="-120"/>
              </a:rPr>
              <a:t>1 October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000" b="1" dirty="0">
                <a:solidFill>
                  <a:srgbClr val="111111"/>
                </a:solidFill>
                <a:latin typeface="Calibri" pitchFamily="34" charset="0"/>
                <a:ea typeface="Calibri" pitchFamily="34" charset="-122"/>
                <a:cs typeface="Calibri" pitchFamily="34" charset="-120"/>
              </a:rPr>
              <a:t>Agenda</a:t>
            </a:r>
            <a:endParaRPr lang="en-US" sz="3000" dirty="0"/>
          </a:p>
        </p:txBody>
      </p:sp>
      <p:sp>
        <p:nvSpPr>
          <p:cNvPr id="3" name="Text 1"/>
          <p:cNvSpPr txBox="1"/>
          <p:nvPr/>
        </p:nvSpPr>
        <p:spPr>
          <a:xfrm>
            <a:off x="548640" y="1463040"/>
            <a:ext cx="11064240" cy="4114800"/>
          </a:xfrm>
          <a:prstGeom prst="rect">
            <a:avLst/>
          </a:prstGeom>
          <a:noFill/>
          <a:ln/>
        </p:spPr>
        <p:txBody>
          <a:bodyPr wrap="square" lIns="0" tIns="0" rIns="0" bIns="0" rtlCol="0" anchor="t"/>
          <a:lstStyle/>
          <a:p>
            <a:pPr indent="0" marL="0">
              <a:spcAft>
                <a:spcPts val="600"/>
              </a:spcAft>
              <a:buNone/>
            </a:pPr>
            <a:r>
              <a:rPr lang="en-US" sz="2000" dirty="0">
                <a:solidFill>
                  <a:srgbClr val="111111"/>
                </a:solidFill>
                <a:latin typeface="Calibri" pitchFamily="34" charset="0"/>
                <a:ea typeface="Calibri" pitchFamily="34" charset="-122"/>
                <a:cs typeface="Calibri" pitchFamily="34" charset="-120"/>
              </a:rPr>
              <a:t>1.  AFRIMET on acmadDL</a:t>
            </a:r>
            <a:endParaRPr lang="en-US" sz="2000" dirty="0"/>
          </a:p>
          <a:p>
            <a:pPr indent="0" marL="0">
              <a:spcAft>
                <a:spcPts val="2200"/>
              </a:spcAft>
              <a:buNone/>
            </a:pPr>
            <a:r>
              <a:rPr lang="en-US" sz="1400" dirty="0">
                <a:solidFill>
                  <a:srgbClr val="6B6B6B"/>
                </a:solidFill>
                <a:latin typeface="Calibri" pitchFamily="34" charset="0"/>
                <a:ea typeface="Calibri" pitchFamily="34" charset="-122"/>
                <a:cs typeface="Calibri" pitchFamily="34" charset="-120"/>
              </a:rPr>
              <a:t>ACMAD's climate data catalogue moved onto the ACCORD data layer. Catalogue growth, verification, on-demand layers, status.</a:t>
            </a:r>
            <a:endParaRPr lang="en-US" sz="2000" dirty="0"/>
          </a:p>
          <a:p>
            <a:pPr indent="0" marL="0">
              <a:spcAft>
                <a:spcPts val="600"/>
              </a:spcAft>
              <a:buNone/>
            </a:pPr>
            <a:r>
              <a:rPr lang="en-US" sz="2000" dirty="0">
                <a:solidFill>
                  <a:srgbClr val="111111"/>
                </a:solidFill>
                <a:latin typeface="Calibri" pitchFamily="34" charset="0"/>
                <a:ea typeface="Calibri" pitchFamily="34" charset="-122"/>
                <a:cs typeface="Calibri" pitchFamily="34" charset="-120"/>
              </a:rPr>
              <a:t>2.  Weather agent benchmark</a:t>
            </a:r>
            <a:endParaRPr lang="en-US" sz="2000" dirty="0"/>
          </a:p>
          <a:p>
            <a:pPr indent="0" marL="0">
              <a:buNone/>
            </a:pPr>
            <a:r>
              <a:rPr lang="en-US" sz="1400" dirty="0">
                <a:solidFill>
                  <a:srgbClr val="6B6B6B"/>
                </a:solidFill>
                <a:latin typeface="Calibri" pitchFamily="34" charset="0"/>
                <a:ea typeface="Calibri" pitchFamily="34" charset="-122"/>
                <a:cs typeface="Calibri" pitchFamily="34" charset="-120"/>
              </a:rPr>
              <a:t>Do reusable skills help an agent complete a forecasting workflow? Current experiment, interim results, failure modes, next test.</a:t>
            </a:r>
            <a:endParaRPr lang="en-US" sz="2000" dirty="0"/>
          </a:p>
        </p:txBody>
      </p:sp>
      <p:sp>
        <p:nvSpPr>
          <p:cNvPr id="4" name="Text 2"/>
          <p:cNvSpPr txBox="1"/>
          <p:nvPr/>
        </p:nvSpPr>
        <p:spPr>
          <a:xfrm>
            <a:off x="548640" y="6400800"/>
            <a:ext cx="11064240" cy="274320"/>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Agenda  ·  1 Oct 2026  ·  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0"/>
            <a:ext cx="11064240" cy="822960"/>
          </a:xfrm>
          <a:prstGeom prst="rect">
            <a:avLst/>
          </a:prstGeom>
          <a:noFill/>
          <a:ln/>
        </p:spPr>
        <p:txBody>
          <a:bodyPr wrap="square" lIns="0" tIns="0" rIns="0" bIns="0" rtlCol="0" anchor="t"/>
          <a:lstStyle/>
          <a:p>
            <a:pPr algn="ctr" indent="0" marL="0">
              <a:buNone/>
            </a:pPr>
            <a:r>
              <a:rPr lang="en-US" sz="3600" b="1" dirty="0">
                <a:solidFill>
                  <a:srgbClr val="111111"/>
                </a:solidFill>
                <a:latin typeface="Calibri" pitchFamily="34" charset="0"/>
                <a:ea typeface="Calibri" pitchFamily="34" charset="-122"/>
                <a:cs typeface="Calibri" pitchFamily="34" charset="-120"/>
              </a:rPr>
              <a:t>AFRIMET on acmadDL</a:t>
            </a:r>
            <a:endParaRPr lang="en-US" sz="3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000" b="1" dirty="0">
                <a:solidFill>
                  <a:srgbClr val="111111"/>
                </a:solidFill>
                <a:latin typeface="Calibri" pitchFamily="34" charset="0"/>
                <a:ea typeface="Calibri" pitchFamily="34" charset="-122"/>
                <a:cs typeface="Calibri" pitchFamily="34" charset="-120"/>
              </a:rPr>
              <a:t>AFRIMET today</a:t>
            </a:r>
            <a:endParaRPr lang="en-US" sz="3000" dirty="0"/>
          </a:p>
        </p:txBody>
      </p:sp>
      <p:pic>
        <p:nvPicPr>
          <p:cNvPr id="3" name="Image 0" descr="/Users/brandonrose/repos/bmgf/accord/programmatic/meeting-slides/afrimet.png">    </p:cNvPr>
          <p:cNvPicPr>
            <a:picLocks noChangeAspect="1"/>
          </p:cNvPicPr>
          <p:nvPr/>
        </p:nvPicPr>
        <p:blipFill>
          <a:blip r:embed="rId1"/>
          <a:stretch>
            <a:fillRect/>
          </a:stretch>
        </p:blipFill>
        <p:spPr>
          <a:xfrm>
            <a:off x="548640" y="1325880"/>
            <a:ext cx="7223760" cy="4343400"/>
          </a:xfrm>
          <a:prstGeom prst="rect">
            <a:avLst/>
          </a:prstGeom>
        </p:spPr>
      </p:pic>
      <p:sp>
        <p:nvSpPr>
          <p:cNvPr id="4" name="Text 1"/>
          <p:cNvSpPr txBox="1"/>
          <p:nvPr/>
        </p:nvSpPr>
        <p:spPr>
          <a:xfrm>
            <a:off x="8138160" y="1371600"/>
            <a:ext cx="3474720" cy="822960"/>
          </a:xfrm>
          <a:prstGeom prst="rect">
            <a:avLst/>
          </a:prstGeom>
          <a:noFill/>
          <a:ln/>
        </p:spPr>
        <p:txBody>
          <a:bodyPr wrap="square" lIns="0" tIns="0" rIns="0" bIns="0" rtlCol="0" anchor="t"/>
          <a:lstStyle/>
          <a:p>
            <a:pPr indent="0" marL="0">
              <a:buNone/>
            </a:pPr>
            <a:r>
              <a:rPr lang="en-US" sz="1500" dirty="0">
                <a:solidFill>
                  <a:srgbClr val="111111"/>
                </a:solidFill>
                <a:latin typeface="Calibri" pitchFamily="34" charset="0"/>
                <a:ea typeface="Calibri" pitchFamily="34" charset="-122"/>
                <a:cs typeface="Calibri" pitchFamily="34" charset="-120"/>
              </a:rPr>
              <a:t>ACMAD's climate data catalogue and map explorer.</a:t>
            </a:r>
            <a:endParaRPr lang="en-US" sz="1500" dirty="0"/>
          </a:p>
        </p:txBody>
      </p:sp>
      <p:sp>
        <p:nvSpPr>
          <p:cNvPr id="5" name="Text 2"/>
          <p:cNvSpPr txBox="1"/>
          <p:nvPr/>
        </p:nvSpPr>
        <p:spPr>
          <a:xfrm>
            <a:off x="8138160" y="2286000"/>
            <a:ext cx="3474720" cy="320040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FastAPI, Celery, GeoServer, TiTiler, PostGIS</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19 datasets in the portal</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One adapter per source, maintained in afrimet</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Download, parse, units, crop: rewritten for each new source</a:t>
            </a:r>
            <a:endParaRPr lang="en-US" sz="1400" dirty="0"/>
          </a:p>
        </p:txBody>
      </p:sp>
      <p:sp>
        <p:nvSpPr>
          <p:cNvPr id="6" name="Text 3"/>
          <p:cNvSpPr txBox="1"/>
          <p:nvPr/>
        </p:nvSpPr>
        <p:spPr>
          <a:xfrm>
            <a:off x="548640" y="6400800"/>
            <a:ext cx="11064240" cy="274320"/>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AFRIMET on acmadDL  ·  1 Oct 2026  ·  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000" b="1" dirty="0">
                <a:solidFill>
                  <a:srgbClr val="111111"/>
                </a:solidFill>
                <a:latin typeface="Calibri" pitchFamily="34" charset="0"/>
                <a:ea typeface="Calibri" pitchFamily="34" charset="-122"/>
                <a:cs typeface="Calibri" pitchFamily="34" charset="-120"/>
              </a:rPr>
              <a:t>acmadDL as the data layer</a:t>
            </a:r>
            <a:endParaRPr lang="en-US" sz="3000" dirty="0"/>
          </a:p>
        </p:txBody>
      </p:sp>
      <p:sp>
        <p:nvSpPr>
          <p:cNvPr id="3" name="Shape 1"/>
          <p:cNvSpPr/>
          <p:nvPr/>
        </p:nvSpPr>
        <p:spPr>
          <a:xfrm>
            <a:off x="548640" y="1554480"/>
            <a:ext cx="2011680" cy="2743200"/>
          </a:xfrm>
          <a:prstGeom prst="rect">
            <a:avLst/>
          </a:prstGeom>
          <a:solidFill>
            <a:srgbClr val="F3F3F3"/>
          </a:solidFill>
          <a:ln w="12700">
            <a:solidFill>
              <a:srgbClr val="D9D9D9"/>
            </a:solidFill>
            <a:prstDash val="solid"/>
          </a:ln>
        </p:spPr>
      </p:sp>
      <p:sp>
        <p:nvSpPr>
          <p:cNvPr id="4" name="Text 2"/>
          <p:cNvSpPr txBox="1"/>
          <p:nvPr/>
        </p:nvSpPr>
        <p:spPr>
          <a:xfrm>
            <a:off x="548640" y="1645920"/>
            <a:ext cx="2011680" cy="274320"/>
          </a:xfrm>
          <a:prstGeom prst="rect">
            <a:avLst/>
          </a:prstGeom>
          <a:noFill/>
          <a:ln/>
        </p:spPr>
        <p:txBody>
          <a:bodyPr wrap="square" lIns="0" tIns="0" rIns="0" bIns="0" rtlCol="0" anchor="t"/>
          <a:lstStyle/>
          <a:p>
            <a:pPr algn="ctr" indent="0" marL="0">
              <a:buNone/>
            </a:pPr>
            <a:r>
              <a:rPr lang="en-US" sz="1300" b="1" dirty="0">
                <a:solidFill>
                  <a:srgbClr val="111111"/>
                </a:solidFill>
                <a:latin typeface="Calibri" pitchFamily="34" charset="0"/>
                <a:ea typeface="Calibri" pitchFamily="34" charset="-122"/>
                <a:cs typeface="Calibri" pitchFamily="34" charset="-120"/>
              </a:rPr>
              <a:t>Sources</a:t>
            </a:r>
            <a:endParaRPr lang="en-US" sz="1300" dirty="0"/>
          </a:p>
        </p:txBody>
      </p:sp>
      <p:sp>
        <p:nvSpPr>
          <p:cNvPr id="5" name="Text 3"/>
          <p:cNvSpPr txBox="1"/>
          <p:nvPr/>
        </p:nvSpPr>
        <p:spPr>
          <a:xfrm>
            <a:off x="640080" y="2011680"/>
            <a:ext cx="1828800" cy="2194560"/>
          </a:xfrm>
          <a:prstGeom prst="rect">
            <a:avLst/>
          </a:prstGeom>
          <a:noFill/>
          <a:ln/>
        </p:spPr>
        <p:txBody>
          <a:bodyPr wrap="square" lIns="0" tIns="0" rIns="0" bIns="0" rtlCol="0" anchor="t"/>
          <a:lstStyle/>
          <a:p>
            <a:pPr algn="ctr" indent="0" marL="0">
              <a:lnSpc>
                <a:spcPct val="130000"/>
              </a:lnSpc>
              <a:buNone/>
            </a:pPr>
            <a:r>
              <a:rPr lang="en-US" sz="1100" dirty="0">
                <a:solidFill>
                  <a:srgbClr val="6B6B6B"/>
                </a:solidFill>
                <a:latin typeface="Calibri" pitchFamily="34" charset="0"/>
                <a:ea typeface="Calibri" pitchFamily="34" charset="-122"/>
                <a:cs typeface="Calibri" pitchFamily="34" charset="-120"/>
              </a:rPr>
              <a:t>Copernicus CDS</a:t>
            </a:r>
            <a:endParaRPr lang="en-US" sz="1100" dirty="0"/>
          </a:p>
          <a:p>
            <a:pPr algn="ctr" indent="0" marL="0">
              <a:lnSpc>
                <a:spcPct val="130000"/>
              </a:lnSpc>
              <a:buNone/>
            </a:pPr>
            <a:r>
              <a:rPr lang="en-US" sz="1100" dirty="0">
                <a:solidFill>
                  <a:srgbClr val="6B6B6B"/>
                </a:solidFill>
                <a:latin typeface="Calibri" pitchFamily="34" charset="0"/>
                <a:ea typeface="Calibri" pitchFamily="34" charset="-122"/>
                <a:cs typeface="Calibri" pitchFamily="34" charset="-120"/>
              </a:rPr>
              <a:t>ECMWF ECDS</a:t>
            </a:r>
            <a:endParaRPr lang="en-US" sz="1100" dirty="0"/>
          </a:p>
          <a:p>
            <a:pPr algn="ctr" indent="0" marL="0">
              <a:lnSpc>
                <a:spcPct val="130000"/>
              </a:lnSpc>
              <a:buNone/>
            </a:pPr>
            <a:r>
              <a:rPr lang="en-US" sz="1100" dirty="0">
                <a:solidFill>
                  <a:srgbClr val="6B6B6B"/>
                </a:solidFill>
                <a:latin typeface="Calibri" pitchFamily="34" charset="0"/>
                <a:ea typeface="Calibri" pitchFamily="34" charset="-122"/>
                <a:cs typeface="Calibri" pitchFamily="34" charset="-120"/>
              </a:rPr>
              <a:t>IRI / CCSR OPeNDAP</a:t>
            </a:r>
            <a:endParaRPr lang="en-US" sz="1100" dirty="0"/>
          </a:p>
          <a:p>
            <a:pPr algn="ctr" indent="0" marL="0">
              <a:lnSpc>
                <a:spcPct val="130000"/>
              </a:lnSpc>
              <a:buNone/>
            </a:pPr>
            <a:r>
              <a:rPr lang="en-US" sz="1100" dirty="0">
                <a:solidFill>
                  <a:srgbClr val="6B6B6B"/>
                </a:solidFill>
                <a:latin typeface="Calibri" pitchFamily="34" charset="0"/>
                <a:ea typeface="Calibri" pitchFamily="34" charset="-122"/>
                <a:cs typeface="Calibri" pitchFamily="34" charset="-120"/>
              </a:rPr>
              <a:t>NOAA, UCSB, DWD HTTP</a:t>
            </a:r>
            <a:endParaRPr lang="en-US" sz="1100" dirty="0"/>
          </a:p>
          <a:p>
            <a:pPr algn="ctr" indent="0" marL="0">
              <a:lnSpc>
                <a:spcPct val="130000"/>
              </a:lnSpc>
              <a:buNone/>
            </a:pPr>
            <a:r>
              <a:rPr lang="en-US" sz="1100" dirty="0">
                <a:solidFill>
                  <a:srgbClr val="6B6B6B"/>
                </a:solidFill>
                <a:latin typeface="Calibri" pitchFamily="34" charset="0"/>
                <a:ea typeface="Calibri" pitchFamily="34" charset="-122"/>
                <a:cs typeface="Calibri" pitchFamily="34" charset="-120"/>
              </a:rPr>
              <a:t>Rhiza Sheerwater</a:t>
            </a:r>
            <a:endParaRPr lang="en-US" sz="1100" dirty="0"/>
          </a:p>
          <a:p>
            <a:pPr algn="ctr" indent="0" marL="0">
              <a:lnSpc>
                <a:spcPct val="130000"/>
              </a:lnSpc>
              <a:buNone/>
            </a:pPr>
            <a:r>
              <a:rPr lang="en-US" sz="1100" dirty="0">
                <a:solidFill>
                  <a:srgbClr val="6B6B6B"/>
                </a:solidFill>
                <a:latin typeface="Calibri" pitchFamily="34" charset="0"/>
                <a:ea typeface="Calibri" pitchFamily="34" charset="-122"/>
                <a:cs typeface="Calibri" pitchFamily="34" charset="-120"/>
              </a:rPr>
              <a:t>S3 / Icechunk</a:t>
            </a:r>
            <a:endParaRPr lang="en-US" sz="1100" dirty="0"/>
          </a:p>
        </p:txBody>
      </p:sp>
      <p:sp>
        <p:nvSpPr>
          <p:cNvPr id="6" name="Shape 4"/>
          <p:cNvSpPr/>
          <p:nvPr/>
        </p:nvSpPr>
        <p:spPr>
          <a:xfrm>
            <a:off x="2651760" y="2798064"/>
            <a:ext cx="411480" cy="256032"/>
          </a:xfrm>
          <a:prstGeom prst="rightArrow">
            <a:avLst/>
          </a:prstGeom>
          <a:solidFill>
            <a:srgbClr val="111111"/>
          </a:solidFill>
          <a:ln w="12700">
            <a:solidFill>
              <a:srgbClr val="111111"/>
            </a:solidFill>
            <a:prstDash val="solid"/>
          </a:ln>
        </p:spPr>
      </p:sp>
      <p:sp>
        <p:nvSpPr>
          <p:cNvPr id="7" name="Shape 5"/>
          <p:cNvSpPr/>
          <p:nvPr/>
        </p:nvSpPr>
        <p:spPr>
          <a:xfrm>
            <a:off x="3154680" y="1554480"/>
            <a:ext cx="2926080" cy="2743200"/>
          </a:xfrm>
          <a:prstGeom prst="rect">
            <a:avLst/>
          </a:prstGeom>
          <a:solidFill>
            <a:srgbClr val="FFFFFF"/>
          </a:solidFill>
          <a:ln w="25400">
            <a:solidFill>
              <a:srgbClr val="8A1C1C"/>
            </a:solidFill>
            <a:prstDash val="solid"/>
          </a:ln>
        </p:spPr>
      </p:sp>
      <p:sp>
        <p:nvSpPr>
          <p:cNvPr id="8" name="Text 6"/>
          <p:cNvSpPr txBox="1"/>
          <p:nvPr/>
        </p:nvSpPr>
        <p:spPr>
          <a:xfrm>
            <a:off x="3154680" y="1645920"/>
            <a:ext cx="2926080" cy="320040"/>
          </a:xfrm>
          <a:prstGeom prst="rect">
            <a:avLst/>
          </a:prstGeom>
          <a:noFill/>
          <a:ln/>
        </p:spPr>
        <p:txBody>
          <a:bodyPr wrap="square" lIns="0" tIns="0" rIns="0" bIns="0" rtlCol="0" anchor="t"/>
          <a:lstStyle/>
          <a:p>
            <a:pPr algn="ctr" indent="0" marL="0">
              <a:buNone/>
            </a:pPr>
            <a:r>
              <a:rPr lang="en-US" sz="1500" b="1" dirty="0">
                <a:solidFill>
                  <a:srgbClr val="8A1C1C"/>
                </a:solidFill>
                <a:latin typeface="Calibri" pitchFamily="34" charset="0"/>
                <a:ea typeface="Calibri" pitchFamily="34" charset="-122"/>
                <a:cs typeface="Calibri" pitchFamily="34" charset="-120"/>
              </a:rPr>
              <a:t>acmadDL</a:t>
            </a:r>
            <a:endParaRPr lang="en-US" sz="1500" dirty="0"/>
          </a:p>
        </p:txBody>
      </p:sp>
      <p:sp>
        <p:nvSpPr>
          <p:cNvPr id="9" name="Text 7"/>
          <p:cNvSpPr txBox="1"/>
          <p:nvPr/>
        </p:nvSpPr>
        <p:spPr>
          <a:xfrm>
            <a:off x="3154680" y="1965960"/>
            <a:ext cx="2926080" cy="274320"/>
          </a:xfrm>
          <a:prstGeom prst="rect">
            <a:avLst/>
          </a:prstGeom>
          <a:noFill/>
          <a:ln/>
        </p:spPr>
        <p:txBody>
          <a:bodyPr wrap="square" lIns="0" tIns="0" rIns="0" bIns="0" rtlCol="0" anchor="t"/>
          <a:lstStyle/>
          <a:p>
            <a:pPr algn="ctr" indent="0" marL="0">
              <a:buNone/>
            </a:pPr>
            <a:r>
              <a:rPr lang="en-US" sz="1100" dirty="0">
                <a:solidFill>
                  <a:srgbClr val="6B6B6B"/>
                </a:solidFill>
                <a:latin typeface="Calibri" pitchFamily="34" charset="0"/>
                <a:ea typeface="Calibri" pitchFamily="34" charset="-122"/>
                <a:cs typeface="Calibri" pitchFamily="34" charset="-120"/>
              </a:rPr>
              <a:t>source → canonical</a:t>
            </a:r>
            <a:endParaRPr lang="en-US" sz="1100" dirty="0"/>
          </a:p>
        </p:txBody>
      </p:sp>
      <p:sp>
        <p:nvSpPr>
          <p:cNvPr id="10" name="Text 8"/>
          <p:cNvSpPr txBox="1"/>
          <p:nvPr/>
        </p:nvSpPr>
        <p:spPr>
          <a:xfrm>
            <a:off x="3246120" y="2331720"/>
            <a:ext cx="2743200" cy="1920240"/>
          </a:xfrm>
          <a:prstGeom prst="rect">
            <a:avLst/>
          </a:prstGeom>
          <a:noFill/>
          <a:ln/>
        </p:spPr>
        <p:txBody>
          <a:bodyPr wrap="square" lIns="0" tIns="0" rIns="0" bIns="0" rtlCol="0" anchor="t"/>
          <a:lstStyle/>
          <a:p>
            <a:pPr algn="ctr" indent="0" marL="0">
              <a:lnSpc>
                <a:spcPct val="120000"/>
              </a:lnSpc>
              <a:buNone/>
            </a:pPr>
            <a:r>
              <a:rPr lang="en-US" sz="1100" dirty="0">
                <a:solidFill>
                  <a:srgbClr val="111111"/>
                </a:solidFill>
                <a:latin typeface="Calibri" pitchFamily="34" charset="0"/>
                <a:ea typeface="Calibri" pitchFamily="34" charset="-122"/>
                <a:cs typeface="Calibri" pitchFamily="34" charset="-120"/>
              </a:rPr>
              <a:t>fetch(product, variable, time, region)</a:t>
            </a:r>
            <a:endParaRPr lang="en-US" sz="1100" dirty="0"/>
          </a:p>
          <a:p>
            <a:pPr algn="ctr" indent="0" marL="0">
              <a:lnSpc>
                <a:spcPct val="120000"/>
              </a:lnSpc>
              <a:buNone/>
            </a:pPr>
            <a:r>
              <a:rPr lang="en-US" sz="1100" dirty="0">
                <a:solidFill>
                  <a:srgbClr val="111111"/>
                </a:solidFill>
                <a:latin typeface="Calibri" pitchFamily="34" charset="0"/>
                <a:ea typeface="Calibri" pitchFamily="34" charset="-122"/>
                <a:cs typeface="Calibri" pitchFamily="34" charset="-120"/>
              </a:rPr>
              <a:t>URL and filename patterns</a:t>
            </a:r>
            <a:endParaRPr lang="en-US" sz="1100" dirty="0"/>
          </a:p>
          <a:p>
            <a:pPr algn="ctr" indent="0" marL="0">
              <a:lnSpc>
                <a:spcPct val="120000"/>
              </a:lnSpc>
              <a:buNone/>
            </a:pPr>
            <a:r>
              <a:rPr lang="en-US" sz="1100" dirty="0">
                <a:solidFill>
                  <a:srgbClr val="111111"/>
                </a:solidFill>
                <a:latin typeface="Calibri" pitchFamily="34" charset="0"/>
                <a:ea typeface="Calibri" pitchFamily="34" charset="-122"/>
                <a:cs typeface="Calibri" pitchFamily="34" charset="-120"/>
              </a:rPr>
              <a:t>variable resolution</a:t>
            </a:r>
            <a:endParaRPr lang="en-US" sz="1100" dirty="0"/>
          </a:p>
          <a:p>
            <a:pPr algn="ctr" indent="0" marL="0">
              <a:lnSpc>
                <a:spcPct val="120000"/>
              </a:lnSpc>
              <a:buNone/>
            </a:pPr>
            <a:r>
              <a:rPr lang="en-US" sz="1100" dirty="0">
                <a:solidFill>
                  <a:srgbClr val="111111"/>
                </a:solidFill>
                <a:latin typeface="Calibri" pitchFamily="34" charset="0"/>
                <a:ea typeface="Calibri" pitchFamily="34" charset="-122"/>
                <a:cs typeface="Calibri" pitchFamily="34" charset="-120"/>
              </a:rPr>
              <a:t>unit conversion</a:t>
            </a:r>
            <a:endParaRPr lang="en-US" sz="1100" dirty="0"/>
          </a:p>
          <a:p>
            <a:pPr algn="ctr" indent="0" marL="0">
              <a:lnSpc>
                <a:spcPct val="120000"/>
              </a:lnSpc>
              <a:buNone/>
            </a:pPr>
            <a:r>
              <a:rPr lang="en-US" sz="1100" dirty="0">
                <a:solidFill>
                  <a:srgbClr val="111111"/>
                </a:solidFill>
                <a:latin typeface="Calibri" pitchFamily="34" charset="0"/>
                <a:ea typeface="Calibri" pitchFamily="34" charset="-122"/>
                <a:cs typeface="Calibri" pitchFamily="34" charset="-120"/>
              </a:rPr>
              <a:t>fill value → NaN</a:t>
            </a:r>
            <a:endParaRPr lang="en-US" sz="1100" dirty="0"/>
          </a:p>
          <a:p>
            <a:pPr algn="ctr" indent="0" marL="0">
              <a:lnSpc>
                <a:spcPct val="120000"/>
              </a:lnSpc>
              <a:buNone/>
            </a:pPr>
            <a:r>
              <a:rPr lang="en-US" sz="1100" dirty="0">
                <a:solidFill>
                  <a:srgbClr val="111111"/>
                </a:solidFill>
                <a:latin typeface="Calibri" pitchFamily="34" charset="0"/>
                <a:ea typeface="Calibri" pitchFamily="34" charset="-122"/>
                <a:cs typeface="Calibri" pitchFamily="34" charset="-120"/>
              </a:rPr>
              <a:t>longitude convention</a:t>
            </a:r>
            <a:endParaRPr lang="en-US" sz="1100" dirty="0"/>
          </a:p>
          <a:p>
            <a:pPr algn="ctr" indent="0" marL="0">
              <a:lnSpc>
                <a:spcPct val="120000"/>
              </a:lnSpc>
              <a:buNone/>
            </a:pPr>
            <a:r>
              <a:rPr lang="en-US" sz="1100" dirty="0">
                <a:solidFill>
                  <a:srgbClr val="111111"/>
                </a:solidFill>
                <a:latin typeface="Calibri" pitchFamily="34" charset="0"/>
                <a:ea typeface="Calibri" pitchFamily="34" charset="-122"/>
                <a:cs typeface="Calibri" pitchFamily="34" charset="-120"/>
              </a:rPr>
              <a:t>Africa crop</a:t>
            </a:r>
            <a:endParaRPr lang="en-US" sz="1100" dirty="0"/>
          </a:p>
          <a:p>
            <a:pPr algn="ctr" indent="0" marL="0">
              <a:lnSpc>
                <a:spcPct val="120000"/>
              </a:lnSpc>
              <a:buNone/>
            </a:pPr>
            <a:r>
              <a:rPr lang="en-US" sz="1100" dirty="0">
                <a:solidFill>
                  <a:srgbClr val="111111"/>
                </a:solidFill>
                <a:latin typeface="Calibri" pitchFamily="34" charset="0"/>
                <a:ea typeface="Calibri" pitchFamily="34" charset="-122"/>
                <a:cs typeface="Calibri" pitchFamily="34" charset="-120"/>
              </a:rPr>
              <a:t>cache</a:t>
            </a:r>
            <a:endParaRPr lang="en-US" sz="1100" dirty="0"/>
          </a:p>
        </p:txBody>
      </p:sp>
      <p:sp>
        <p:nvSpPr>
          <p:cNvPr id="11" name="Shape 9"/>
          <p:cNvSpPr/>
          <p:nvPr/>
        </p:nvSpPr>
        <p:spPr>
          <a:xfrm>
            <a:off x="6172200" y="2798064"/>
            <a:ext cx="411480" cy="256032"/>
          </a:xfrm>
          <a:prstGeom prst="rightArrow">
            <a:avLst/>
          </a:prstGeom>
          <a:solidFill>
            <a:srgbClr val="111111"/>
          </a:solidFill>
          <a:ln w="12700">
            <a:solidFill>
              <a:srgbClr val="111111"/>
            </a:solidFill>
            <a:prstDash val="solid"/>
          </a:ln>
        </p:spPr>
      </p:sp>
      <p:sp>
        <p:nvSpPr>
          <p:cNvPr id="12" name="Shape 10"/>
          <p:cNvSpPr/>
          <p:nvPr/>
        </p:nvSpPr>
        <p:spPr>
          <a:xfrm>
            <a:off x="6675120" y="1554480"/>
            <a:ext cx="2743200" cy="2743200"/>
          </a:xfrm>
          <a:prstGeom prst="rect">
            <a:avLst/>
          </a:prstGeom>
          <a:solidFill>
            <a:srgbClr val="FFFFFF"/>
          </a:solidFill>
          <a:ln w="12700">
            <a:solidFill>
              <a:srgbClr val="111111"/>
            </a:solidFill>
            <a:prstDash val="solid"/>
          </a:ln>
        </p:spPr>
      </p:sp>
      <p:sp>
        <p:nvSpPr>
          <p:cNvPr id="13" name="Text 11"/>
          <p:cNvSpPr txBox="1"/>
          <p:nvPr/>
        </p:nvSpPr>
        <p:spPr>
          <a:xfrm>
            <a:off x="6675120" y="1645920"/>
            <a:ext cx="2743200" cy="320040"/>
          </a:xfrm>
          <a:prstGeom prst="rect">
            <a:avLst/>
          </a:prstGeom>
          <a:noFill/>
          <a:ln/>
        </p:spPr>
        <p:txBody>
          <a:bodyPr wrap="square" lIns="0" tIns="0" rIns="0" bIns="0" rtlCol="0" anchor="t"/>
          <a:lstStyle/>
          <a:p>
            <a:pPr algn="ctr" indent="0" marL="0">
              <a:buNone/>
            </a:pPr>
            <a:r>
              <a:rPr lang="en-US" sz="1500" b="1" dirty="0">
                <a:solidFill>
                  <a:srgbClr val="111111"/>
                </a:solidFill>
                <a:latin typeface="Calibri" pitchFamily="34" charset="0"/>
                <a:ea typeface="Calibri" pitchFamily="34" charset="-122"/>
                <a:cs typeface="Calibri" pitchFamily="34" charset="-120"/>
              </a:rPr>
              <a:t>afrimet</a:t>
            </a:r>
            <a:endParaRPr lang="en-US" sz="1500" dirty="0"/>
          </a:p>
        </p:txBody>
      </p:sp>
      <p:sp>
        <p:nvSpPr>
          <p:cNvPr id="14" name="Text 12"/>
          <p:cNvSpPr txBox="1"/>
          <p:nvPr/>
        </p:nvSpPr>
        <p:spPr>
          <a:xfrm>
            <a:off x="6675120" y="1965960"/>
            <a:ext cx="2743200" cy="274320"/>
          </a:xfrm>
          <a:prstGeom prst="rect">
            <a:avLst/>
          </a:prstGeom>
          <a:noFill/>
          <a:ln/>
        </p:spPr>
        <p:txBody>
          <a:bodyPr wrap="square" lIns="0" tIns="0" rIns="0" bIns="0" rtlCol="0" anchor="t"/>
          <a:lstStyle/>
          <a:p>
            <a:pPr algn="ctr" indent="0" marL="0">
              <a:buNone/>
            </a:pPr>
            <a:r>
              <a:rPr lang="en-US" sz="1100" dirty="0">
                <a:solidFill>
                  <a:srgbClr val="6B6B6B"/>
                </a:solidFill>
                <a:latin typeface="Calibri" pitchFamily="34" charset="0"/>
                <a:ea typeface="Calibri" pitchFamily="34" charset="-122"/>
                <a:cs typeface="Calibri" pitchFamily="34" charset="-120"/>
              </a:rPr>
              <a:t>canonical → published</a:t>
            </a:r>
            <a:endParaRPr lang="en-US" sz="1100" dirty="0"/>
          </a:p>
        </p:txBody>
      </p:sp>
      <p:sp>
        <p:nvSpPr>
          <p:cNvPr id="15" name="Text 13"/>
          <p:cNvSpPr txBox="1"/>
          <p:nvPr/>
        </p:nvSpPr>
        <p:spPr>
          <a:xfrm>
            <a:off x="6766560" y="2331720"/>
            <a:ext cx="2560320" cy="1920240"/>
          </a:xfrm>
          <a:prstGeom prst="rect">
            <a:avLst/>
          </a:prstGeom>
          <a:noFill/>
          <a:ln/>
        </p:spPr>
        <p:txBody>
          <a:bodyPr wrap="square" lIns="0" tIns="0" rIns="0" bIns="0" rtlCol="0" anchor="t"/>
          <a:lstStyle/>
          <a:p>
            <a:pPr algn="ctr" indent="0" marL="0">
              <a:lnSpc>
                <a:spcPct val="120000"/>
              </a:lnSpc>
              <a:buNone/>
            </a:pPr>
            <a:r>
              <a:rPr lang="en-US" sz="1100" dirty="0">
                <a:solidFill>
                  <a:srgbClr val="111111"/>
                </a:solidFill>
                <a:latin typeface="Calibri" pitchFamily="34" charset="0"/>
                <a:ea typeface="Calibri" pitchFamily="34" charset="-122"/>
                <a:cs typeface="Calibri" pitchFamily="34" charset="-120"/>
              </a:rPr>
              <a:t>rate → monthly total</a:t>
            </a:r>
            <a:endParaRPr lang="en-US" sz="1100" dirty="0"/>
          </a:p>
          <a:p>
            <a:pPr algn="ctr" indent="0" marL="0">
              <a:lnSpc>
                <a:spcPct val="120000"/>
              </a:lnSpc>
              <a:buNone/>
            </a:pPr>
            <a:r>
              <a:rPr lang="en-US" sz="1100" dirty="0">
                <a:solidFill>
                  <a:srgbClr val="111111"/>
                </a:solidFill>
                <a:latin typeface="Calibri" pitchFamily="34" charset="0"/>
                <a:ea typeface="Calibri" pitchFamily="34" charset="-122"/>
                <a:cs typeface="Calibri" pitchFamily="34" charset="-120"/>
              </a:rPr>
              <a:t>north-up COG per band</a:t>
            </a:r>
            <a:endParaRPr lang="en-US" sz="1100" dirty="0"/>
          </a:p>
          <a:p>
            <a:pPr algn="ctr" indent="0" marL="0">
              <a:lnSpc>
                <a:spcPct val="120000"/>
              </a:lnSpc>
              <a:buNone/>
            </a:pPr>
            <a:r>
              <a:rPr lang="en-US" sz="1100" dirty="0">
                <a:solidFill>
                  <a:srgbClr val="111111"/>
                </a:solidFill>
                <a:latin typeface="Calibri" pitchFamily="34" charset="0"/>
                <a:ea typeface="Calibri" pitchFamily="34" charset="-122"/>
                <a:cs typeface="Calibri" pitchFamily="34" charset="-120"/>
              </a:rPr>
              <a:t>GeoServer publish</a:t>
            </a:r>
            <a:endParaRPr lang="en-US" sz="1100" dirty="0"/>
          </a:p>
          <a:p>
            <a:pPr algn="ctr" indent="0" marL="0">
              <a:lnSpc>
                <a:spcPct val="120000"/>
              </a:lnSpc>
              <a:buNone/>
            </a:pPr>
            <a:r>
              <a:rPr lang="en-US" sz="1100" dirty="0">
                <a:solidFill>
                  <a:srgbClr val="111111"/>
                </a:solidFill>
                <a:latin typeface="Calibri" pitchFamily="34" charset="0"/>
                <a:ea typeface="Calibri" pitchFamily="34" charset="-122"/>
                <a:cs typeface="Calibri" pitchFamily="34" charset="-120"/>
              </a:rPr>
              <a:t>layer metadata</a:t>
            </a:r>
            <a:endParaRPr lang="en-US" sz="1100" dirty="0"/>
          </a:p>
          <a:p>
            <a:pPr algn="ctr" indent="0" marL="0">
              <a:lnSpc>
                <a:spcPct val="120000"/>
              </a:lnSpc>
              <a:buNone/>
            </a:pPr>
            <a:r>
              <a:rPr lang="en-US" sz="1100" dirty="0">
                <a:solidFill>
                  <a:srgbClr val="111111"/>
                </a:solidFill>
                <a:latin typeface="Calibri" pitchFamily="34" charset="0"/>
                <a:ea typeface="Calibri" pitchFamily="34" charset="-122"/>
                <a:cs typeface="Calibri" pitchFamily="34" charset="-120"/>
              </a:rPr>
              <a:t>TiTiler cache</a:t>
            </a:r>
            <a:endParaRPr lang="en-US" sz="1100" dirty="0"/>
          </a:p>
          <a:p>
            <a:pPr algn="ctr" indent="0" marL="0">
              <a:lnSpc>
                <a:spcPct val="120000"/>
              </a:lnSpc>
              <a:buNone/>
            </a:pPr>
            <a:r>
              <a:rPr lang="en-US" sz="1100" dirty="0">
                <a:solidFill>
                  <a:srgbClr val="111111"/>
                </a:solidFill>
                <a:latin typeface="Calibri" pitchFamily="34" charset="0"/>
                <a:ea typeface="Calibri" pitchFamily="34" charset="-122"/>
                <a:cs typeface="Calibri" pitchFamily="34" charset="-120"/>
              </a:rPr>
              <a:t>auth, quotas, collections</a:t>
            </a:r>
            <a:endParaRPr lang="en-US" sz="1100" dirty="0"/>
          </a:p>
        </p:txBody>
      </p:sp>
      <p:sp>
        <p:nvSpPr>
          <p:cNvPr id="16" name="Shape 14"/>
          <p:cNvSpPr/>
          <p:nvPr/>
        </p:nvSpPr>
        <p:spPr>
          <a:xfrm>
            <a:off x="9509760" y="2798064"/>
            <a:ext cx="411480" cy="256032"/>
          </a:xfrm>
          <a:prstGeom prst="rightArrow">
            <a:avLst/>
          </a:prstGeom>
          <a:solidFill>
            <a:srgbClr val="111111"/>
          </a:solidFill>
          <a:ln w="12700">
            <a:solidFill>
              <a:srgbClr val="111111"/>
            </a:solidFill>
            <a:prstDash val="solid"/>
          </a:ln>
        </p:spPr>
      </p:sp>
      <p:sp>
        <p:nvSpPr>
          <p:cNvPr id="17" name="Shape 15"/>
          <p:cNvSpPr/>
          <p:nvPr/>
        </p:nvSpPr>
        <p:spPr>
          <a:xfrm>
            <a:off x="10012680" y="1554480"/>
            <a:ext cx="1645920" cy="2743200"/>
          </a:xfrm>
          <a:prstGeom prst="rect">
            <a:avLst/>
          </a:prstGeom>
          <a:solidFill>
            <a:srgbClr val="F3F3F3"/>
          </a:solidFill>
          <a:ln w="12700">
            <a:solidFill>
              <a:srgbClr val="D9D9D9"/>
            </a:solidFill>
            <a:prstDash val="solid"/>
          </a:ln>
        </p:spPr>
      </p:sp>
      <p:sp>
        <p:nvSpPr>
          <p:cNvPr id="18" name="Text 16"/>
          <p:cNvSpPr txBox="1"/>
          <p:nvPr/>
        </p:nvSpPr>
        <p:spPr>
          <a:xfrm>
            <a:off x="10012680" y="1645920"/>
            <a:ext cx="1645920" cy="274320"/>
          </a:xfrm>
          <a:prstGeom prst="rect">
            <a:avLst/>
          </a:prstGeom>
          <a:noFill/>
          <a:ln/>
        </p:spPr>
        <p:txBody>
          <a:bodyPr wrap="square" lIns="0" tIns="0" rIns="0" bIns="0" rtlCol="0" anchor="t"/>
          <a:lstStyle/>
          <a:p>
            <a:pPr algn="ctr" indent="0" marL="0">
              <a:buNone/>
            </a:pPr>
            <a:r>
              <a:rPr lang="en-US" sz="1300" b="1" dirty="0">
                <a:solidFill>
                  <a:srgbClr val="111111"/>
                </a:solidFill>
                <a:latin typeface="Calibri" pitchFamily="34" charset="0"/>
                <a:ea typeface="Calibri" pitchFamily="34" charset="-122"/>
                <a:cs typeface="Calibri" pitchFamily="34" charset="-120"/>
              </a:rPr>
              <a:t>Users</a:t>
            </a:r>
            <a:endParaRPr lang="en-US" sz="1300" dirty="0"/>
          </a:p>
        </p:txBody>
      </p:sp>
      <p:sp>
        <p:nvSpPr>
          <p:cNvPr id="19" name="Text 17"/>
          <p:cNvSpPr txBox="1"/>
          <p:nvPr/>
        </p:nvSpPr>
        <p:spPr>
          <a:xfrm>
            <a:off x="10012680" y="2011680"/>
            <a:ext cx="1645920" cy="2194560"/>
          </a:xfrm>
          <a:prstGeom prst="rect">
            <a:avLst/>
          </a:prstGeom>
          <a:noFill/>
          <a:ln/>
        </p:spPr>
        <p:txBody>
          <a:bodyPr wrap="square" lIns="0" tIns="0" rIns="0" bIns="0" rtlCol="0" anchor="t"/>
          <a:lstStyle/>
          <a:p>
            <a:pPr algn="ctr" indent="0" marL="0">
              <a:lnSpc>
                <a:spcPct val="130000"/>
              </a:lnSpc>
              <a:buNone/>
            </a:pPr>
            <a:r>
              <a:rPr lang="en-US" sz="1100" dirty="0">
                <a:solidFill>
                  <a:srgbClr val="6B6B6B"/>
                </a:solidFill>
                <a:latin typeface="Calibri" pitchFamily="34" charset="0"/>
                <a:ea typeface="Calibri" pitchFamily="34" charset="-122"/>
                <a:cs typeface="Calibri" pitchFamily="34" charset="-120"/>
              </a:rPr>
              <a:t>Portal</a:t>
            </a:r>
            <a:endParaRPr lang="en-US" sz="1100" dirty="0"/>
          </a:p>
          <a:p>
            <a:pPr algn="ctr" indent="0" marL="0">
              <a:lnSpc>
                <a:spcPct val="130000"/>
              </a:lnSpc>
              <a:buNone/>
            </a:pPr>
            <a:r>
              <a:rPr lang="en-US" sz="1100" dirty="0">
                <a:solidFill>
                  <a:srgbClr val="6B6B6B"/>
                </a:solidFill>
                <a:latin typeface="Calibri" pitchFamily="34" charset="0"/>
                <a:ea typeface="Calibri" pitchFamily="34" charset="-122"/>
                <a:cs typeface="Calibri" pitchFamily="34" charset="-120"/>
              </a:rPr>
              <a:t>Map explorer</a:t>
            </a:r>
            <a:endParaRPr lang="en-US" sz="1100" dirty="0"/>
          </a:p>
          <a:p>
            <a:pPr algn="ctr" indent="0" marL="0">
              <a:lnSpc>
                <a:spcPct val="130000"/>
              </a:lnSpc>
              <a:buNone/>
            </a:pPr>
            <a:r>
              <a:rPr lang="en-US" sz="1100" dirty="0">
                <a:solidFill>
                  <a:srgbClr val="6B6B6B"/>
                </a:solidFill>
                <a:latin typeface="Calibri" pitchFamily="34" charset="0"/>
                <a:ea typeface="Calibri" pitchFamily="34" charset="-122"/>
                <a:cs typeface="Calibri" pitchFamily="34" charset="-120"/>
              </a:rPr>
              <a:t>GeoTIFF</a:t>
            </a:r>
            <a:endParaRPr lang="en-US" sz="1100" dirty="0"/>
          </a:p>
          <a:p>
            <a:pPr algn="ctr" indent="0" marL="0">
              <a:lnSpc>
                <a:spcPct val="130000"/>
              </a:lnSpc>
              <a:buNone/>
            </a:pPr>
            <a:r>
              <a:rPr lang="en-US" sz="1100" dirty="0">
                <a:solidFill>
                  <a:srgbClr val="6B6B6B"/>
                </a:solidFill>
                <a:latin typeface="Calibri" pitchFamily="34" charset="0"/>
                <a:ea typeface="Calibri" pitchFamily="34" charset="-122"/>
                <a:cs typeface="Calibri" pitchFamily="34" charset="-120"/>
              </a:rPr>
              <a:t>API</a:t>
            </a:r>
            <a:endParaRPr lang="en-US" sz="1100" dirty="0"/>
          </a:p>
        </p:txBody>
      </p:sp>
      <p:sp>
        <p:nvSpPr>
          <p:cNvPr id="20" name="Text 18"/>
          <p:cNvSpPr txBox="1"/>
          <p:nvPr/>
        </p:nvSpPr>
        <p:spPr>
          <a:xfrm>
            <a:off x="3154680" y="4434840"/>
            <a:ext cx="7315200" cy="274320"/>
          </a:xfrm>
          <a:prstGeom prst="rect">
            <a:avLst/>
          </a:prstGeom>
          <a:noFill/>
          <a:ln/>
        </p:spPr>
        <p:txBody>
          <a:bodyPr wrap="square" lIns="0" tIns="0" rIns="0" bIns="0" rtlCol="0" anchor="t"/>
          <a:lstStyle/>
          <a:p>
            <a:pPr indent="0" marL="0">
              <a:buNone/>
            </a:pPr>
            <a:r>
              <a:rPr lang="en-US" sz="1100" dirty="0">
                <a:solidFill>
                  <a:srgbClr val="6B6B6B"/>
                </a:solidFill>
                <a:latin typeface="Calibri" pitchFamily="34" charset="0"/>
                <a:ea typeface="Calibri" pitchFamily="34" charset="-122"/>
                <a:cs typeface="Calibri" pitchFamily="34" charset="-120"/>
              </a:rPr>
              <a:t>Also on acmadDL: africas2s, Forecast Hub, acmaddl-mcp, Beaker</a:t>
            </a:r>
            <a:endParaRPr lang="en-US" sz="1100" dirty="0"/>
          </a:p>
        </p:txBody>
      </p:sp>
      <p:sp>
        <p:nvSpPr>
          <p:cNvPr id="21" name="Text 19"/>
          <p:cNvSpPr txBox="1"/>
          <p:nvPr/>
        </p:nvSpPr>
        <p:spPr>
          <a:xfrm>
            <a:off x="548640" y="5029200"/>
            <a:ext cx="11064240" cy="118872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afrimet no longer stages raw files. The adapter returns a (time, lat, lon) array in final units.</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New dataset: one entry in acmadDL's catalog, one in afrimet's. No adapter code.</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acmadDL pinned to a commit. Bumps are re-verified.</a:t>
            </a:r>
            <a:endParaRPr lang="en-US" sz="1400" dirty="0"/>
          </a:p>
        </p:txBody>
      </p:sp>
      <p:sp>
        <p:nvSpPr>
          <p:cNvPr id="22" name="Text 20"/>
          <p:cNvSpPr txBox="1"/>
          <p:nvPr/>
        </p:nvSpPr>
        <p:spPr>
          <a:xfrm>
            <a:off x="548640" y="6400800"/>
            <a:ext cx="11064240" cy="274320"/>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AFRIMET on acmadDL  ·  1 Oct 2026  ·  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000" b="1" dirty="0">
                <a:solidFill>
                  <a:srgbClr val="111111"/>
                </a:solidFill>
                <a:latin typeface="Calibri" pitchFamily="34" charset="0"/>
                <a:ea typeface="Calibri" pitchFamily="34" charset="-122"/>
                <a:cs typeface="Calibri" pitchFamily="34" charset="-120"/>
              </a:rPr>
              <a:t>Catalogue: 23 → 53 datasets, 42 served by acmadDL</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377440"/>
                <a:gridCol w="7955280"/>
                <a:gridCol w="731520"/>
              </a:tblGrid>
              <a:tr h="502920">
                <a:tc>
                  <a:txBody>
                    <a:bodyPr/>
                    <a:lstStyle/>
                    <a:p>
                      <a:pPr indent="0" marL="0">
                        <a:buNone/>
                      </a:pPr>
                      <a:r>
                        <a:rPr lang="en-US" sz="1250" dirty="0">
                          <a:solidFill>
                            <a:srgbClr val="111111"/>
                          </a:solidFill>
                          <a:latin typeface="Calibri" pitchFamily="34" charset="0"/>
                          <a:ea typeface="Calibri" pitchFamily="34" charset="-122"/>
                          <a:cs typeface="Calibri" pitchFamily="34" charset="-120"/>
                        </a:rPr>
                        <a:t>Migrated</a:t>
                      </a:r>
                      <a:endParaRPr lang="en-US" sz="1250" dirty="0">
                        <a:latin typeface="Calibri" charset="0"/>
                        <a:ea typeface="Calibri" charset="0"/>
                        <a:cs typeface="Calibri" charset="0"/>
                      </a:endParaRPr>
                    </a:p>
                  </a:txBody>
                  <a:tcPr marL="101600" marR="1016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50" dirty="0">
                          <a:solidFill>
                            <a:srgbClr val="111111"/>
                          </a:solidFill>
                          <a:latin typeface="Calibri" pitchFamily="34" charset="0"/>
                          <a:ea typeface="Calibri" pitchFamily="34" charset="-122"/>
                          <a:cs typeface="Calibri" pitchFamily="34" charset="-120"/>
                        </a:rPr>
                        <a:t>CHIRPS v2 monthly, dekad, pentad · GPCC monitoring, first guess · GPCP · TAMSAT · ERSST · OISST · ERA5-Land t2m, precip, PEV</a:t>
                      </a:r>
                      <a:endParaRPr lang="en-US" sz="1250" dirty="0">
                        <a:latin typeface="Calibri" charset="0"/>
                        <a:ea typeface="Calibri" charset="0"/>
                        <a:cs typeface="Calibri" charset="0"/>
                      </a:endParaRPr>
                    </a:p>
                  </a:txBody>
                  <a:tcPr marL="101600" marR="1016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50" dirty="0">
                          <a:solidFill>
                            <a:srgbClr val="111111"/>
                          </a:solidFill>
                          <a:latin typeface="Calibri" pitchFamily="34" charset="0"/>
                          <a:ea typeface="Calibri" pitchFamily="34" charset="-122"/>
                          <a:cs typeface="Calibri" pitchFamily="34" charset="-120"/>
                        </a:rPr>
                        <a:t>12</a:t>
                      </a:r>
                      <a:endParaRPr lang="en-US" sz="1250" dirty="0">
                        <a:latin typeface="Calibri" charset="0"/>
                        <a:ea typeface="Calibri" charset="0"/>
                        <a:cs typeface="Calibri" charset="0"/>
                      </a:endParaRPr>
                    </a:p>
                  </a:txBody>
                  <a:tcPr marL="101600" marR="1016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02920">
                <a:tc>
                  <a:txBody>
                    <a:bodyPr/>
                    <a:lstStyle/>
                    <a:p>
                      <a:pPr indent="0" marL="0">
                        <a:buNone/>
                      </a:pPr>
                      <a:r>
                        <a:rPr lang="en-US" sz="1250" dirty="0">
                          <a:solidFill>
                            <a:srgbClr val="111111"/>
                          </a:solidFill>
                          <a:latin typeface="Calibri" pitchFamily="34" charset="0"/>
                          <a:ea typeface="Calibri" pitchFamily="34" charset="-122"/>
                          <a:cs typeface="Calibri" pitchFamily="34" charset="-120"/>
                        </a:rPr>
                        <a:t>New: CHIRPS v3</a:t>
                      </a:r>
                      <a:endParaRPr lang="en-US" sz="1250" dirty="0">
                        <a:latin typeface="Calibri" charset="0"/>
                        <a:ea typeface="Calibri" charset="0"/>
                        <a:cs typeface="Calibri" charset="0"/>
                      </a:endParaRPr>
                    </a:p>
                  </a:txBody>
                  <a:tcPr marL="101600" marR="1016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50" dirty="0">
                          <a:solidFill>
                            <a:srgbClr val="111111"/>
                          </a:solidFill>
                          <a:latin typeface="Calibri" pitchFamily="34" charset="0"/>
                          <a:ea typeface="Calibri" pitchFamily="34" charset="-122"/>
                          <a:cs typeface="Calibri" pitchFamily="34" charset="-120"/>
                        </a:rPr>
                        <a:t>monthly, monthly prelim, dekad, dekad prelim, dekad TIF, pentad, annual, daily, daily 0.25°, rolling dekad</a:t>
                      </a:r>
                      <a:endParaRPr lang="en-US" sz="1250" dirty="0">
                        <a:latin typeface="Calibri" charset="0"/>
                        <a:ea typeface="Calibri" charset="0"/>
                        <a:cs typeface="Calibri" charset="0"/>
                      </a:endParaRPr>
                    </a:p>
                  </a:txBody>
                  <a:tcPr marL="101600" marR="1016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50" dirty="0">
                          <a:solidFill>
                            <a:srgbClr val="111111"/>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marL="101600" marR="1016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02920">
                <a:tc>
                  <a:txBody>
                    <a:bodyPr/>
                    <a:lstStyle/>
                    <a:p>
                      <a:pPr indent="0" marL="0">
                        <a:buNone/>
                      </a:pPr>
                      <a:r>
                        <a:rPr lang="en-US" sz="1250" dirty="0">
                          <a:solidFill>
                            <a:srgbClr val="111111"/>
                          </a:solidFill>
                          <a:latin typeface="Calibri" pitchFamily="34" charset="0"/>
                          <a:ea typeface="Calibri" pitchFamily="34" charset="-122"/>
                          <a:cs typeface="Calibri" pitchFamily="34" charset="-120"/>
                        </a:rPr>
                        <a:t>New: reanalysis, merged obs</a:t>
                      </a:r>
                      <a:endParaRPr lang="en-US" sz="1250" dirty="0">
                        <a:latin typeface="Calibri" charset="0"/>
                        <a:ea typeface="Calibri" charset="0"/>
                        <a:cs typeface="Calibri" charset="0"/>
                      </a:endParaRPr>
                    </a:p>
                  </a:txBody>
                  <a:tcPr marL="101600" marR="1016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50" dirty="0">
                          <a:solidFill>
                            <a:srgbClr val="111111"/>
                          </a:solidFill>
                          <a:latin typeface="Calibri" pitchFamily="34" charset="0"/>
                          <a:ea typeface="Calibri" pitchFamily="34" charset="-122"/>
                          <a:cs typeface="Calibri" pitchFamily="34" charset="-120"/>
                        </a:rPr>
                        <a:t>ERA5 t2m, precip, SST · CMAP · CAMS-OPI · CHIRPS v2 annual, daily</a:t>
                      </a:r>
                      <a:endParaRPr lang="en-US" sz="1250" dirty="0">
                        <a:latin typeface="Calibri" charset="0"/>
                        <a:ea typeface="Calibri" charset="0"/>
                        <a:cs typeface="Calibri" charset="0"/>
                      </a:endParaRPr>
                    </a:p>
                  </a:txBody>
                  <a:tcPr marL="101600" marR="1016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50" dirty="0">
                          <a:solidFill>
                            <a:srgbClr val="111111"/>
                          </a:solidFill>
                          <a:latin typeface="Calibri" pitchFamily="34" charset="0"/>
                          <a:ea typeface="Calibri" pitchFamily="34" charset="-122"/>
                          <a:cs typeface="Calibri" pitchFamily="34" charset="-120"/>
                        </a:rPr>
                        <a:t>6</a:t>
                      </a:r>
                      <a:endParaRPr lang="en-US" sz="1250" dirty="0">
                        <a:latin typeface="Calibri" charset="0"/>
                        <a:ea typeface="Calibri" charset="0"/>
                        <a:cs typeface="Calibri" charset="0"/>
                      </a:endParaRPr>
                    </a:p>
                  </a:txBody>
                  <a:tcPr marL="101600" marR="1016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02920">
                <a:tc>
                  <a:txBody>
                    <a:bodyPr/>
                    <a:lstStyle/>
                    <a:p>
                      <a:pPr indent="0" marL="0">
                        <a:buNone/>
                      </a:pPr>
                      <a:r>
                        <a:rPr lang="en-US" sz="1250" dirty="0">
                          <a:solidFill>
                            <a:srgbClr val="111111"/>
                          </a:solidFill>
                          <a:latin typeface="Calibri" pitchFamily="34" charset="0"/>
                          <a:ea typeface="Calibri" pitchFamily="34" charset="-122"/>
                          <a:cs typeface="Calibri" pitchFamily="34" charset="-120"/>
                        </a:rPr>
                        <a:t>New: NMME</a:t>
                      </a:r>
                      <a:endParaRPr lang="en-US" sz="1250" dirty="0">
                        <a:latin typeface="Calibri" charset="0"/>
                        <a:ea typeface="Calibri" charset="0"/>
                        <a:cs typeface="Calibri" charset="0"/>
                      </a:endParaRPr>
                    </a:p>
                  </a:txBody>
                  <a:tcPr marL="101600" marR="1016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50" dirty="0">
                          <a:solidFill>
                            <a:srgbClr val="111111"/>
                          </a:solidFill>
                          <a:latin typeface="Calibri" pitchFamily="34" charset="0"/>
                          <a:ea typeface="Calibri" pitchFamily="34" charset="-122"/>
                          <a:cs typeface="Calibri" pitchFamily="34" charset="-120"/>
                        </a:rPr>
                        <a:t>CFSv2 · CCSM4 · CESM1 · GEOS-S2S · SPEAR · CanSIPS-IC4</a:t>
                      </a:r>
                      <a:endParaRPr lang="en-US" sz="1250" dirty="0">
                        <a:latin typeface="Calibri" charset="0"/>
                        <a:ea typeface="Calibri" charset="0"/>
                        <a:cs typeface="Calibri" charset="0"/>
                      </a:endParaRPr>
                    </a:p>
                  </a:txBody>
                  <a:tcPr marL="101600" marR="1016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50" dirty="0">
                          <a:solidFill>
                            <a:srgbClr val="111111"/>
                          </a:solidFill>
                          <a:latin typeface="Calibri" pitchFamily="34" charset="0"/>
                          <a:ea typeface="Calibri" pitchFamily="34" charset="-122"/>
                          <a:cs typeface="Calibri" pitchFamily="34" charset="-120"/>
                        </a:rPr>
                        <a:t>6</a:t>
                      </a:r>
                      <a:endParaRPr lang="en-US" sz="1250" dirty="0">
                        <a:latin typeface="Calibri" charset="0"/>
                        <a:ea typeface="Calibri" charset="0"/>
                        <a:cs typeface="Calibri" charset="0"/>
                      </a:endParaRPr>
                    </a:p>
                  </a:txBody>
                  <a:tcPr marL="101600" marR="1016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02920">
                <a:tc>
                  <a:txBody>
                    <a:bodyPr/>
                    <a:lstStyle/>
                    <a:p>
                      <a:pPr indent="0" marL="0">
                        <a:buNone/>
                      </a:pPr>
                      <a:r>
                        <a:rPr lang="en-US" sz="1250" dirty="0">
                          <a:solidFill>
                            <a:srgbClr val="111111"/>
                          </a:solidFill>
                          <a:latin typeface="Calibri" pitchFamily="34" charset="0"/>
                          <a:ea typeface="Calibri" pitchFamily="34" charset="-122"/>
                          <a:cs typeface="Calibri" pitchFamily="34" charset="-120"/>
                        </a:rPr>
                        <a:t>New: C3S</a:t>
                      </a:r>
                      <a:endParaRPr lang="en-US" sz="1250" dirty="0">
                        <a:latin typeface="Calibri" charset="0"/>
                        <a:ea typeface="Calibri" charset="0"/>
                        <a:cs typeface="Calibri" charset="0"/>
                      </a:endParaRPr>
                    </a:p>
                  </a:txBody>
                  <a:tcPr marL="101600" marR="1016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50" dirty="0">
                          <a:solidFill>
                            <a:srgbClr val="111111"/>
                          </a:solidFill>
                          <a:latin typeface="Calibri" pitchFamily="34" charset="0"/>
                          <a:ea typeface="Calibri" pitchFamily="34" charset="-122"/>
                          <a:cs typeface="Calibri" pitchFamily="34" charset="-120"/>
                        </a:rPr>
                        <a:t>ECMWF SEAS5 · UKMO · Météo-France · DWD · DWD GCFS2.1 · CMCC SPS4 · JMA · ECCC CanSIPSv3</a:t>
                      </a:r>
                      <a:endParaRPr lang="en-US" sz="1250" dirty="0">
                        <a:latin typeface="Calibri" charset="0"/>
                        <a:ea typeface="Calibri" charset="0"/>
                        <a:cs typeface="Calibri" charset="0"/>
                      </a:endParaRPr>
                    </a:p>
                  </a:txBody>
                  <a:tcPr marL="101600" marR="1016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50" dirty="0">
                          <a:solidFill>
                            <a:srgbClr val="111111"/>
                          </a:solidFill>
                          <a:latin typeface="Calibri" pitchFamily="34" charset="0"/>
                          <a:ea typeface="Calibri" pitchFamily="34" charset="-122"/>
                          <a:cs typeface="Calibri" pitchFamily="34" charset="-120"/>
                        </a:rPr>
                        <a:t>8</a:t>
                      </a:r>
                      <a:endParaRPr lang="en-US" sz="1250" dirty="0">
                        <a:latin typeface="Calibri" charset="0"/>
                        <a:ea typeface="Calibri" charset="0"/>
                        <a:cs typeface="Calibri" charset="0"/>
                      </a:endParaRPr>
                    </a:p>
                  </a:txBody>
                  <a:tcPr marL="101600" marR="1016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02920">
                <a:tc>
                  <a:txBody>
                    <a:bodyPr/>
                    <a:lstStyle/>
                    <a:p>
                      <a:pPr indent="0" marL="0">
                        <a:buNone/>
                      </a:pPr>
                      <a:r>
                        <a:rPr lang="en-US" sz="1250" dirty="0">
                          <a:solidFill>
                            <a:srgbClr val="111111"/>
                          </a:solidFill>
                          <a:latin typeface="Calibri" pitchFamily="34" charset="0"/>
                          <a:ea typeface="Calibri" pitchFamily="34" charset="-122"/>
                          <a:cs typeface="Calibri" pitchFamily="34" charset="-120"/>
                        </a:rPr>
                        <a:t>Unchanged, afrimet adapters</a:t>
                      </a:r>
                      <a:endParaRPr lang="en-US" sz="1250" dirty="0">
                        <a:latin typeface="Calibri" charset="0"/>
                        <a:ea typeface="Calibri" charset="0"/>
                        <a:cs typeface="Calibri" charset="0"/>
                      </a:endParaRPr>
                    </a:p>
                  </a:txBody>
                  <a:tcPr marL="101600" marR="1016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50" dirty="0">
                          <a:solidFill>
                            <a:srgbClr val="111111"/>
                          </a:solidFill>
                          <a:latin typeface="Calibri" pitchFamily="34" charset="0"/>
                          <a:ea typeface="Calibri" pitchFamily="34" charset="-122"/>
                          <a:cs typeface="Calibri" pitchFamily="34" charset="-120"/>
                        </a:rPr>
                        <a:t>ARC2 · CRU TS · ISD-Lite · CFSv2 CPC hindcast · WIS2 stations · GHA stations · SPI 1, 3, 6, 12</a:t>
                      </a:r>
                      <a:endParaRPr lang="en-US" sz="1250" dirty="0">
                        <a:latin typeface="Calibri" charset="0"/>
                        <a:ea typeface="Calibri" charset="0"/>
                        <a:cs typeface="Calibri" charset="0"/>
                      </a:endParaRPr>
                    </a:p>
                  </a:txBody>
                  <a:tcPr marL="101600" marR="1016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50" dirty="0">
                          <a:solidFill>
                            <a:srgbClr val="111111"/>
                          </a:solidFill>
                          <a:latin typeface="Calibri" pitchFamily="34" charset="0"/>
                          <a:ea typeface="Calibri" pitchFamily="34" charset="-122"/>
                          <a:cs typeface="Calibri" pitchFamily="34" charset="-120"/>
                        </a:rPr>
                        <a:t>11</a:t>
                      </a:r>
                      <a:endParaRPr lang="en-US" sz="1250" dirty="0">
                        <a:latin typeface="Calibri" charset="0"/>
                        <a:ea typeface="Calibri" charset="0"/>
                        <a:cs typeface="Calibri" charset="0"/>
                      </a:endParaRPr>
                    </a:p>
                  </a:txBody>
                  <a:tcPr marL="101600" marR="101600" marT="63500" marB="635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4" name="Text 1"/>
          <p:cNvSpPr txBox="1"/>
          <p:nvPr/>
        </p:nvSpPr>
        <p:spPr>
          <a:xfrm>
            <a:off x="548640" y="5029200"/>
            <a:ext cx="11064240" cy="118872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The 12 migrated datasets produce the same rasters as before. Same layers, same styles, verified.</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The 14 forecast systems are the models in ICPAC's and ACMAD's objective forecasts. AFRIMET had none.</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acmadDL has 59 products. Each remaining one is a YAML entry away.</a:t>
            </a:r>
            <a:endParaRPr lang="en-US" sz="1400" dirty="0"/>
          </a:p>
        </p:txBody>
      </p:sp>
      <p:sp>
        <p:nvSpPr>
          <p:cNvPr id="5" name="Text 2"/>
          <p:cNvSpPr txBox="1"/>
          <p:nvPr/>
        </p:nvSpPr>
        <p:spPr>
          <a:xfrm>
            <a:off x="548640" y="6400800"/>
            <a:ext cx="11064240" cy="274320"/>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AFRIMET on acmadDL  ·  1 Oct 2026  ·  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000" b="1" dirty="0">
                <a:solidFill>
                  <a:srgbClr val="111111"/>
                </a:solidFill>
                <a:latin typeface="Calibri" pitchFamily="34" charset="0"/>
                <a:ea typeface="Calibri" pitchFamily="34" charset="-122"/>
                <a:cs typeface="Calibri" pitchFamily="34" charset="-120"/>
              </a:rPr>
              <a:t>Verification and on-demand layers</a:t>
            </a:r>
            <a:endParaRPr lang="en-US" sz="3000" dirty="0"/>
          </a:p>
        </p:txBody>
      </p:sp>
      <p:sp>
        <p:nvSpPr>
          <p:cNvPr id="3" name="Text 1"/>
          <p:cNvSpPr txBox="1"/>
          <p:nvPr/>
        </p:nvSpPr>
        <p:spPr>
          <a:xfrm>
            <a:off x="548640" y="1371600"/>
            <a:ext cx="5394960" cy="365760"/>
          </a:xfrm>
          <a:prstGeom prst="rect">
            <a:avLst/>
          </a:prstGeom>
          <a:noFill/>
          <a:ln/>
        </p:spPr>
        <p:txBody>
          <a:bodyPr wrap="square" lIns="0" tIns="0" rIns="0" bIns="0" rtlCol="0" anchor="t"/>
          <a:lstStyle/>
          <a:p>
            <a:pPr indent="0" marL="0">
              <a:buNone/>
            </a:pPr>
            <a:r>
              <a:rPr lang="en-US" sz="1700" b="1" dirty="0">
                <a:solidFill>
                  <a:srgbClr val="111111"/>
                </a:solidFill>
                <a:latin typeface="Calibri" pitchFamily="34" charset="0"/>
                <a:ea typeface="Calibri" pitchFamily="34" charset="-122"/>
                <a:cs typeface="Calibri" pitchFamily="34" charset="-120"/>
              </a:rPr>
              <a:t>Verification</a:t>
            </a:r>
            <a:endParaRPr lang="en-US" sz="1700" dirty="0"/>
          </a:p>
        </p:txBody>
      </p:sp>
      <p:sp>
        <p:nvSpPr>
          <p:cNvPr id="4" name="Text 2"/>
          <p:cNvSpPr txBox="1"/>
          <p:nvPr/>
        </p:nvSpPr>
        <p:spPr>
          <a:xfrm>
            <a:off x="548640" y="1828800"/>
            <a:ext cx="5394960" cy="402336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Each migrated dataset published twice: legacy adapter, then acmadDL.</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COGs compared cell by cell: CRS, cell centres, nodata mask, values.</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Centre tolerance 1% of grid spacing. Not byte equality; row order differs by source.</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GPCP, ERSST, OISST now include cells west of 0°. The old clip stopped at the meridian.</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scripts/verify_acmaddl.py run, compare</a:t>
            </a:r>
            <a:endParaRPr lang="en-US" sz="1400" dirty="0"/>
          </a:p>
        </p:txBody>
      </p:sp>
      <p:sp>
        <p:nvSpPr>
          <p:cNvPr id="5" name="Text 3"/>
          <p:cNvSpPr txBox="1"/>
          <p:nvPr/>
        </p:nvSpPr>
        <p:spPr>
          <a:xfrm>
            <a:off x="6400800" y="1371600"/>
            <a:ext cx="5212080" cy="365760"/>
          </a:xfrm>
          <a:prstGeom prst="rect">
            <a:avLst/>
          </a:prstGeom>
          <a:noFill/>
          <a:ln/>
        </p:spPr>
        <p:txBody>
          <a:bodyPr wrap="square" lIns="0" tIns="0" rIns="0" bIns="0" rtlCol="0" anchor="t"/>
          <a:lstStyle/>
          <a:p>
            <a:pPr indent="0" marL="0">
              <a:buNone/>
            </a:pPr>
            <a:r>
              <a:rPr lang="en-US" sz="1700" b="1" dirty="0">
                <a:solidFill>
                  <a:srgbClr val="111111"/>
                </a:solidFill>
                <a:latin typeface="Calibri" pitchFamily="34" charset="0"/>
                <a:ea typeface="Calibri" pitchFamily="34" charset="-122"/>
                <a:cs typeface="Calibri" pitchFamily="34" charset="-120"/>
              </a:rPr>
              <a:t>On-demand layers</a:t>
            </a:r>
            <a:endParaRPr lang="en-US" sz="1700" dirty="0"/>
          </a:p>
        </p:txBody>
      </p:sp>
      <p:sp>
        <p:nvSpPr>
          <p:cNvPr id="6" name="Shape 4"/>
          <p:cNvSpPr/>
          <p:nvPr/>
        </p:nvSpPr>
        <p:spPr>
          <a:xfrm>
            <a:off x="6400800" y="1874520"/>
            <a:ext cx="1051560" cy="548640"/>
          </a:xfrm>
          <a:prstGeom prst="rect">
            <a:avLst/>
          </a:prstGeom>
          <a:solidFill>
            <a:srgbClr val="FFFFFF"/>
          </a:solidFill>
          <a:ln w="12700">
            <a:solidFill>
              <a:srgbClr val="111111"/>
            </a:solidFill>
            <a:prstDash val="solid"/>
          </a:ln>
        </p:spPr>
      </p:sp>
      <p:sp>
        <p:nvSpPr>
          <p:cNvPr id="7" name="Text 5"/>
          <p:cNvSpPr txBox="1"/>
          <p:nvPr/>
        </p:nvSpPr>
        <p:spPr>
          <a:xfrm>
            <a:off x="6400800" y="1993392"/>
            <a:ext cx="1051560" cy="320040"/>
          </a:xfrm>
          <a:prstGeom prst="rect">
            <a:avLst/>
          </a:prstGeom>
          <a:noFill/>
          <a:ln/>
        </p:spPr>
        <p:txBody>
          <a:bodyPr wrap="square" lIns="0" tIns="0" rIns="0" bIns="0" rtlCol="0" anchor="t"/>
          <a:lstStyle/>
          <a:p>
            <a:pPr algn="ctr" indent="0" marL="0">
              <a:buNone/>
            </a:pPr>
            <a:r>
              <a:rPr lang="en-US" sz="1050" dirty="0">
                <a:solidFill>
                  <a:srgbClr val="111111"/>
                </a:solidFill>
                <a:latin typeface="Calibri" pitchFamily="34" charset="0"/>
                <a:ea typeface="Calibri" pitchFamily="34" charset="-122"/>
                <a:cs typeface="Calibri" pitchFamily="34" charset="-120"/>
              </a:rPr>
              <a:t>request</a:t>
            </a:r>
            <a:endParaRPr lang="en-US" sz="1050" dirty="0"/>
          </a:p>
          <a:p>
            <a:pPr algn="ctr" indent="0" marL="0">
              <a:buNone/>
            </a:pPr>
            <a:r>
              <a:rPr lang="en-US" sz="1050" dirty="0">
                <a:solidFill>
                  <a:srgbClr val="111111"/>
                </a:solidFill>
                <a:latin typeface="Calibri" pitchFamily="34" charset="0"/>
                <a:ea typeface="Calibri" pitchFamily="34" charset="-122"/>
                <a:cs typeface="Calibri" pitchFamily="34" charset="-120"/>
              </a:rPr>
              <a:t>month</a:t>
            </a:r>
            <a:endParaRPr lang="en-US" sz="1050" dirty="0"/>
          </a:p>
        </p:txBody>
      </p:sp>
      <p:sp>
        <p:nvSpPr>
          <p:cNvPr id="8" name="Shape 6"/>
          <p:cNvSpPr/>
          <p:nvPr/>
        </p:nvSpPr>
        <p:spPr>
          <a:xfrm>
            <a:off x="7498080" y="2020824"/>
            <a:ext cx="228600" cy="256032"/>
          </a:xfrm>
          <a:prstGeom prst="rightArrow">
            <a:avLst/>
          </a:prstGeom>
          <a:solidFill>
            <a:srgbClr val="111111"/>
          </a:solidFill>
          <a:ln w="12700">
            <a:solidFill>
              <a:srgbClr val="111111"/>
            </a:solidFill>
            <a:prstDash val="solid"/>
          </a:ln>
        </p:spPr>
      </p:sp>
      <p:sp>
        <p:nvSpPr>
          <p:cNvPr id="9" name="Shape 7"/>
          <p:cNvSpPr/>
          <p:nvPr/>
        </p:nvSpPr>
        <p:spPr>
          <a:xfrm>
            <a:off x="7772400" y="1874520"/>
            <a:ext cx="1005840" cy="548640"/>
          </a:xfrm>
          <a:prstGeom prst="rect">
            <a:avLst/>
          </a:prstGeom>
          <a:solidFill>
            <a:srgbClr val="FFFFFF"/>
          </a:solidFill>
          <a:ln w="12700">
            <a:solidFill>
              <a:srgbClr val="111111"/>
            </a:solidFill>
            <a:prstDash val="solid"/>
          </a:ln>
        </p:spPr>
      </p:sp>
      <p:sp>
        <p:nvSpPr>
          <p:cNvPr id="10" name="Text 8"/>
          <p:cNvSpPr txBox="1"/>
          <p:nvPr/>
        </p:nvSpPr>
        <p:spPr>
          <a:xfrm>
            <a:off x="7772400" y="1993392"/>
            <a:ext cx="1005840" cy="320040"/>
          </a:xfrm>
          <a:prstGeom prst="rect">
            <a:avLst/>
          </a:prstGeom>
          <a:noFill/>
          <a:ln/>
        </p:spPr>
        <p:txBody>
          <a:bodyPr wrap="square" lIns="0" tIns="0" rIns="0" bIns="0" rtlCol="0" anchor="t"/>
          <a:lstStyle/>
          <a:p>
            <a:pPr algn="ctr" indent="0" marL="0">
              <a:buNone/>
            </a:pPr>
            <a:r>
              <a:rPr lang="en-US" sz="1050" dirty="0">
                <a:solidFill>
                  <a:srgbClr val="111111"/>
                </a:solidFill>
                <a:latin typeface="Calibri" pitchFamily="34" charset="0"/>
                <a:ea typeface="Calibri" pitchFamily="34" charset="-122"/>
                <a:cs typeface="Calibri" pitchFamily="34" charset="-120"/>
              </a:rPr>
              <a:t>quota</a:t>
            </a:r>
            <a:endParaRPr lang="en-US" sz="1050" dirty="0"/>
          </a:p>
        </p:txBody>
      </p:sp>
      <p:sp>
        <p:nvSpPr>
          <p:cNvPr id="11" name="Shape 9"/>
          <p:cNvSpPr/>
          <p:nvPr/>
        </p:nvSpPr>
        <p:spPr>
          <a:xfrm>
            <a:off x="8823960" y="2020824"/>
            <a:ext cx="228600" cy="256032"/>
          </a:xfrm>
          <a:prstGeom prst="rightArrow">
            <a:avLst/>
          </a:prstGeom>
          <a:solidFill>
            <a:srgbClr val="111111"/>
          </a:solidFill>
          <a:ln w="12700">
            <a:solidFill>
              <a:srgbClr val="111111"/>
            </a:solidFill>
            <a:prstDash val="solid"/>
          </a:ln>
        </p:spPr>
      </p:sp>
      <p:sp>
        <p:nvSpPr>
          <p:cNvPr id="12" name="Shape 10"/>
          <p:cNvSpPr/>
          <p:nvPr/>
        </p:nvSpPr>
        <p:spPr>
          <a:xfrm>
            <a:off x="9098280" y="1874520"/>
            <a:ext cx="1097280" cy="548640"/>
          </a:xfrm>
          <a:prstGeom prst="rect">
            <a:avLst/>
          </a:prstGeom>
          <a:solidFill>
            <a:srgbClr val="FFFFFF"/>
          </a:solidFill>
          <a:ln w="19050">
            <a:solidFill>
              <a:srgbClr val="8A1C1C"/>
            </a:solidFill>
            <a:prstDash val="solid"/>
          </a:ln>
        </p:spPr>
      </p:sp>
      <p:sp>
        <p:nvSpPr>
          <p:cNvPr id="13" name="Text 11"/>
          <p:cNvSpPr txBox="1"/>
          <p:nvPr/>
        </p:nvSpPr>
        <p:spPr>
          <a:xfrm>
            <a:off x="9098280" y="1993392"/>
            <a:ext cx="1097280" cy="320040"/>
          </a:xfrm>
          <a:prstGeom prst="rect">
            <a:avLst/>
          </a:prstGeom>
          <a:noFill/>
          <a:ln/>
        </p:spPr>
        <p:txBody>
          <a:bodyPr wrap="square" lIns="0" tIns="0" rIns="0" bIns="0" rtlCol="0" anchor="t"/>
          <a:lstStyle/>
          <a:p>
            <a:pPr algn="ctr" indent="0" marL="0">
              <a:buNone/>
            </a:pPr>
            <a:r>
              <a:rPr lang="en-US" sz="1050" b="1" dirty="0">
                <a:solidFill>
                  <a:srgbClr val="8A1C1C"/>
                </a:solidFill>
                <a:latin typeface="Calibri" pitchFamily="34" charset="0"/>
                <a:ea typeface="Calibri" pitchFamily="34" charset="-122"/>
                <a:cs typeface="Calibri" pitchFamily="34" charset="-120"/>
              </a:rPr>
              <a:t>acmadDL</a:t>
            </a:r>
            <a:endParaRPr lang="en-US" sz="1050" dirty="0"/>
          </a:p>
          <a:p>
            <a:pPr algn="ctr" indent="0" marL="0">
              <a:buNone/>
            </a:pPr>
            <a:r>
              <a:rPr lang="en-US" sz="1050" b="1" dirty="0">
                <a:solidFill>
                  <a:srgbClr val="8A1C1C"/>
                </a:solidFill>
                <a:latin typeface="Calibri" pitchFamily="34" charset="0"/>
                <a:ea typeface="Calibri" pitchFamily="34" charset="-122"/>
                <a:cs typeface="Calibri" pitchFamily="34" charset="-120"/>
              </a:rPr>
              <a:t>fetch</a:t>
            </a:r>
            <a:endParaRPr lang="en-US" sz="1050" dirty="0"/>
          </a:p>
        </p:txBody>
      </p:sp>
      <p:sp>
        <p:nvSpPr>
          <p:cNvPr id="14" name="Shape 12"/>
          <p:cNvSpPr/>
          <p:nvPr/>
        </p:nvSpPr>
        <p:spPr>
          <a:xfrm>
            <a:off x="10241280" y="2020824"/>
            <a:ext cx="228600" cy="256032"/>
          </a:xfrm>
          <a:prstGeom prst="rightArrow">
            <a:avLst/>
          </a:prstGeom>
          <a:solidFill>
            <a:srgbClr val="111111"/>
          </a:solidFill>
          <a:ln w="12700">
            <a:solidFill>
              <a:srgbClr val="111111"/>
            </a:solidFill>
            <a:prstDash val="solid"/>
          </a:ln>
        </p:spPr>
      </p:sp>
      <p:sp>
        <p:nvSpPr>
          <p:cNvPr id="15" name="Shape 13"/>
          <p:cNvSpPr/>
          <p:nvPr/>
        </p:nvSpPr>
        <p:spPr>
          <a:xfrm>
            <a:off x="10515600" y="1874520"/>
            <a:ext cx="1097280" cy="548640"/>
          </a:xfrm>
          <a:prstGeom prst="rect">
            <a:avLst/>
          </a:prstGeom>
          <a:solidFill>
            <a:srgbClr val="FFFFFF"/>
          </a:solidFill>
          <a:ln w="12700">
            <a:solidFill>
              <a:srgbClr val="111111"/>
            </a:solidFill>
            <a:prstDash val="solid"/>
          </a:ln>
        </p:spPr>
      </p:sp>
      <p:sp>
        <p:nvSpPr>
          <p:cNvPr id="16" name="Text 14"/>
          <p:cNvSpPr txBox="1"/>
          <p:nvPr/>
        </p:nvSpPr>
        <p:spPr>
          <a:xfrm>
            <a:off x="10515600" y="1993392"/>
            <a:ext cx="1097280" cy="320040"/>
          </a:xfrm>
          <a:prstGeom prst="rect">
            <a:avLst/>
          </a:prstGeom>
          <a:noFill/>
          <a:ln/>
        </p:spPr>
        <p:txBody>
          <a:bodyPr wrap="square" lIns="0" tIns="0" rIns="0" bIns="0" rtlCol="0" anchor="t"/>
          <a:lstStyle/>
          <a:p>
            <a:pPr algn="ctr" indent="0" marL="0">
              <a:buNone/>
            </a:pPr>
            <a:r>
              <a:rPr lang="en-US" sz="1050" dirty="0">
                <a:solidFill>
                  <a:srgbClr val="111111"/>
                </a:solidFill>
                <a:latin typeface="Calibri" pitchFamily="34" charset="0"/>
                <a:ea typeface="Calibri" pitchFamily="34" charset="-122"/>
                <a:cs typeface="Calibri" pitchFamily="34" charset="-120"/>
              </a:rPr>
              <a:t>COG cache</a:t>
            </a:r>
            <a:endParaRPr lang="en-US" sz="1050" dirty="0"/>
          </a:p>
          <a:p>
            <a:pPr algn="ctr" indent="0" marL="0">
              <a:buNone/>
            </a:pPr>
            <a:r>
              <a:rPr lang="en-US" sz="1050" dirty="0">
                <a:solidFill>
                  <a:srgbClr val="111111"/>
                </a:solidFill>
                <a:latin typeface="Calibri" pitchFamily="34" charset="0"/>
                <a:ea typeface="Calibri" pitchFamily="34" charset="-122"/>
                <a:cs typeface="Calibri" pitchFamily="34" charset="-120"/>
              </a:rPr>
              <a:t>TiTiler</a:t>
            </a:r>
            <a:endParaRPr lang="en-US" sz="1050" dirty="0"/>
          </a:p>
        </p:txBody>
      </p:sp>
      <p:sp>
        <p:nvSpPr>
          <p:cNvPr id="17" name="Text 15"/>
          <p:cNvSpPr txBox="1"/>
          <p:nvPr/>
        </p:nvSpPr>
        <p:spPr>
          <a:xfrm>
            <a:off x="6400800" y="2651760"/>
            <a:ext cx="5212080" cy="329184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core collection: scheduled monthly, published to GeoServer.</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extended collection: fetched per dataset, year, month on request. Cached, tiled, not archived.</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500 MB per user per day. 5 GB global. 20 GB cache with eviction.</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Requests are logged. Usage decides what gets promoted to core.</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Separate Celery queue. A slow CDS pull does not block the refresh.</a:t>
            </a:r>
            <a:endParaRPr lang="en-US" sz="1400" dirty="0"/>
          </a:p>
        </p:txBody>
      </p:sp>
      <p:sp>
        <p:nvSpPr>
          <p:cNvPr id="18" name="Text 16"/>
          <p:cNvSpPr txBox="1"/>
          <p:nvPr/>
        </p:nvSpPr>
        <p:spPr>
          <a:xfrm>
            <a:off x="548640" y="6400800"/>
            <a:ext cx="11064240" cy="274320"/>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AFRIMET on acmadDL  ·  1 Oct 2026  ·  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000" b="1" dirty="0">
                <a:solidFill>
                  <a:srgbClr val="111111"/>
                </a:solidFill>
                <a:latin typeface="Calibri" pitchFamily="34" charset="0"/>
                <a:ea typeface="Calibri" pitchFamily="34" charset="-122"/>
                <a:cs typeface="Calibri" pitchFamily="34" charset="-120"/>
              </a:rPr>
              <a:t>Status</a:t>
            </a:r>
            <a:endParaRPr lang="en-US" sz="3000" dirty="0"/>
          </a:p>
        </p:txBody>
      </p:sp>
      <p:sp>
        <p:nvSpPr>
          <p:cNvPr id="3" name="Text 1"/>
          <p:cNvSpPr txBox="1"/>
          <p:nvPr/>
        </p:nvSpPr>
        <p:spPr>
          <a:xfrm>
            <a:off x="548640" y="1371600"/>
            <a:ext cx="5394960" cy="365760"/>
          </a:xfrm>
          <a:prstGeom prst="rect">
            <a:avLst/>
          </a:prstGeom>
          <a:noFill/>
          <a:ln/>
        </p:spPr>
        <p:txBody>
          <a:bodyPr wrap="square" lIns="0" tIns="0" rIns="0" bIns="0" rtlCol="0" anchor="t"/>
          <a:lstStyle/>
          <a:p>
            <a:pPr indent="0" marL="0">
              <a:buNone/>
            </a:pPr>
            <a:r>
              <a:rPr lang="en-US" sz="1700" b="1" dirty="0">
                <a:solidFill>
                  <a:srgbClr val="111111"/>
                </a:solidFill>
                <a:latin typeface="Calibri" pitchFamily="34" charset="0"/>
                <a:ea typeface="Calibri" pitchFamily="34" charset="-122"/>
                <a:cs typeface="Calibri" pitchFamily="34" charset="-120"/>
              </a:rPr>
              <a:t>Where it is</a:t>
            </a:r>
            <a:endParaRPr lang="en-US" sz="1700" dirty="0"/>
          </a:p>
        </p:txBody>
      </p:sp>
      <p:sp>
        <p:nvSpPr>
          <p:cNvPr id="4" name="Text 2"/>
          <p:cNvSpPr txBox="1"/>
          <p:nvPr/>
        </p:nvSpPr>
        <p:spPr>
          <a:xfrm>
            <a:off x="548640" y="1828800"/>
            <a:ext cx="5394960" cy="329184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Branch acmadDL on ACMAD-Niamey/afrimet. David Kelly, 9 commits, 8 to 30 Sep.</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Not merged. Not deployed. Pending ACMAD review.</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Tests cover the adapter, COG comparison, pipeline, on-demand API, cache, quotas.</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ACMAD (Collins Asega) landed CI/CD and Docker on develop in parallel.</a:t>
            </a:r>
            <a:endParaRPr lang="en-US" sz="1400" dirty="0"/>
          </a:p>
        </p:txBody>
      </p:sp>
      <p:sp>
        <p:nvSpPr>
          <p:cNvPr id="5" name="Text 3"/>
          <p:cNvSpPr txBox="1"/>
          <p:nvPr/>
        </p:nvSpPr>
        <p:spPr>
          <a:xfrm>
            <a:off x="6400800" y="1371600"/>
            <a:ext cx="5212080" cy="365760"/>
          </a:xfrm>
          <a:prstGeom prst="rect">
            <a:avLst/>
          </a:prstGeom>
          <a:noFill/>
          <a:ln/>
        </p:spPr>
        <p:txBody>
          <a:bodyPr wrap="square" lIns="0" tIns="0" rIns="0" bIns="0" rtlCol="0" anchor="t"/>
          <a:lstStyle/>
          <a:p>
            <a:pPr indent="0" marL="0">
              <a:buNone/>
            </a:pPr>
            <a:r>
              <a:rPr lang="en-US" sz="1700" b="1" dirty="0">
                <a:solidFill>
                  <a:srgbClr val="111111"/>
                </a:solidFill>
                <a:latin typeface="Calibri" pitchFamily="34" charset="0"/>
                <a:ea typeface="Calibri" pitchFamily="34" charset="-122"/>
                <a:cs typeface="Calibri" pitchFamily="34" charset="-120"/>
              </a:rPr>
              <a:t>Next</a:t>
            </a:r>
            <a:endParaRPr lang="en-US" sz="1700" dirty="0"/>
          </a:p>
        </p:txBody>
      </p:sp>
      <p:sp>
        <p:nvSpPr>
          <p:cNvPr id="6" name="Text 4"/>
          <p:cNvSpPr txBox="1"/>
          <p:nvPr/>
        </p:nvSpPr>
        <p:spPr>
          <a:xfrm>
            <a:off x="6400800" y="1828800"/>
            <a:ext cx="5212080" cy="329184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ACMAD review, merge, deploy: core scheduled, extended on demand.</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Forecast systems in Map explorer.</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Migrate ARC2, CRU TS, CFSv2 hindcast.</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africas2s layers: anomalies, terciles, seasonal aggregates.</a:t>
            </a:r>
            <a:endParaRPr lang="en-US" sz="1400" dirty="0"/>
          </a:p>
          <a:p>
            <a:pPr marL="177800" indent="-177800">
              <a:spcAft>
                <a:spcPts val="700"/>
              </a:spcAft>
              <a:buSzPct val="100000"/>
              <a:buChar char="•"/>
            </a:pPr>
            <a:r>
              <a:rPr lang="en-US" sz="1400" dirty="0">
                <a:solidFill>
                  <a:srgbClr val="111111"/>
                </a:solidFill>
                <a:latin typeface="Calibri" pitchFamily="34" charset="0"/>
                <a:ea typeface="Calibri" pitchFamily="34" charset="-122"/>
                <a:cs typeface="Calibri" pitchFamily="34" charset="-120"/>
              </a:rPr>
              <a:t>Same library under ACMAD's NDJF run and s2s-mcp.</a:t>
            </a:r>
            <a:endParaRPr lang="en-US" sz="1400" dirty="0"/>
          </a:p>
        </p:txBody>
      </p:sp>
      <p:sp>
        <p:nvSpPr>
          <p:cNvPr id="7" name="Text 5"/>
          <p:cNvSpPr txBox="1"/>
          <p:nvPr/>
        </p:nvSpPr>
        <p:spPr>
          <a:xfrm>
            <a:off x="548640" y="6400800"/>
            <a:ext cx="11064240" cy="274320"/>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AFRIMET on acmadDL  ·  1 Oct 2026  ·  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0"/>
            <a:ext cx="11064240" cy="822960"/>
          </a:xfrm>
          <a:prstGeom prst="rect">
            <a:avLst/>
          </a:prstGeom>
          <a:noFill/>
          <a:ln/>
        </p:spPr>
        <p:txBody>
          <a:bodyPr wrap="square" lIns="0" tIns="0" rIns="0" bIns="0" rtlCol="0" anchor="t"/>
          <a:lstStyle/>
          <a:p>
            <a:pPr algn="ctr" indent="0" marL="0">
              <a:buNone/>
            </a:pPr>
            <a:r>
              <a:rPr lang="en-US" sz="3600" b="1" dirty="0">
                <a:solidFill>
                  <a:srgbClr val="111111"/>
                </a:solidFill>
                <a:latin typeface="Calibri" pitchFamily="34" charset="0"/>
                <a:ea typeface="Calibri" pitchFamily="34" charset="-122"/>
                <a:cs typeface="Calibri" pitchFamily="34" charset="-120"/>
              </a:rPr>
              <a:t>Weather agent benchmark</a:t>
            </a:r>
            <a:endParaRPr lang="en-US" sz="3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000" b="1" dirty="0">
                <a:solidFill>
                  <a:srgbClr val="111111"/>
                </a:solidFill>
                <a:latin typeface="Calibri" pitchFamily="34" charset="0"/>
                <a:ea typeface="Calibri" pitchFamily="34" charset="-122"/>
                <a:cs typeface="Calibri" pitchFamily="34" charset="-120"/>
              </a:rPr>
              <a:t>Questions for the benchmark</a:t>
            </a:r>
            <a:endParaRPr lang="en-US" sz="3000" dirty="0"/>
          </a:p>
        </p:txBody>
      </p:sp>
      <p:sp>
        <p:nvSpPr>
          <p:cNvPr id="3" name="Text 1"/>
          <p:cNvSpPr txBox="1"/>
          <p:nvPr/>
        </p:nvSpPr>
        <p:spPr>
          <a:xfrm>
            <a:off x="548640" y="1463040"/>
            <a:ext cx="11064240" cy="4114800"/>
          </a:xfrm>
          <a:prstGeom prst="rect">
            <a:avLst/>
          </a:prstGeom>
          <a:noFill/>
          <a:ln/>
        </p:spPr>
        <p:txBody>
          <a:bodyPr wrap="square" lIns="0" tIns="0" rIns="0" bIns="0" rtlCol="0" anchor="t"/>
          <a:lstStyle/>
          <a:p>
            <a:pPr marL="177800" indent="-177800">
              <a:spcAft>
                <a:spcPts val="1600"/>
              </a:spcAft>
              <a:buSzPct val="100000"/>
              <a:buChar char="•"/>
            </a:pPr>
            <a:r>
              <a:rPr lang="en-US" sz="1800" dirty="0">
                <a:solidFill>
                  <a:srgbClr val="111111"/>
                </a:solidFill>
                <a:latin typeface="Calibri" pitchFamily="34" charset="0"/>
                <a:ea typeface="Calibri" pitchFamily="34" charset="-122"/>
                <a:cs typeface="Calibri" pitchFamily="34" charset="-120"/>
              </a:rPr>
              <a:t>Does reusing vetted code improve accuracy or reduce the cost of a complete forecasting workflow?</a:t>
            </a:r>
            <a:endParaRPr lang="en-US" sz="1800" dirty="0"/>
          </a:p>
          <a:p>
            <a:pPr marL="177800" indent="-177800">
              <a:spcAft>
                <a:spcPts val="1600"/>
              </a:spcAft>
              <a:buSzPct val="100000"/>
              <a:buChar char="•"/>
            </a:pPr>
            <a:r>
              <a:rPr lang="en-US" sz="1800" dirty="0">
                <a:solidFill>
                  <a:srgbClr val="111111"/>
                </a:solidFill>
                <a:latin typeface="Calibri" pitchFamily="34" charset="0"/>
                <a:ea typeface="Calibri" pitchFamily="34" charset="-122"/>
                <a:cs typeface="Calibri" pitchFamily="34" charset="-120"/>
              </a:rPr>
              <a:t>Our skills teach agents how to use library APIs from Python. weather-skills primarily exposes parameterized commands.</a:t>
            </a:r>
            <a:endParaRPr lang="en-US" sz="1800" dirty="0"/>
          </a:p>
          <a:p>
            <a:pPr marL="177800" indent="-177800">
              <a:spcAft>
                <a:spcPts val="1600"/>
              </a:spcAft>
              <a:buSzPct val="100000"/>
              <a:buChar char="•"/>
            </a:pPr>
            <a:r>
              <a:rPr lang="en-US" sz="1800" dirty="0">
                <a:solidFill>
                  <a:srgbClr val="111111"/>
                </a:solidFill>
                <a:latin typeface="Calibri" pitchFamily="34" charset="0"/>
                <a:ea typeface="Calibri" pitchFamily="34" charset="-122"/>
                <a:cs typeface="Calibri" pitchFamily="34" charset="-120"/>
              </a:rPr>
              <a:t>Working hypothesis: agents need Python to recover from data, parameter, and workflow errors.</a:t>
            </a:r>
            <a:endParaRPr lang="en-US" sz="1800" dirty="0"/>
          </a:p>
          <a:p>
            <a:pPr marL="177800" indent="-177800">
              <a:spcAft>
                <a:spcPts val="1600"/>
              </a:spcAft>
              <a:buSzPct val="100000"/>
              <a:buChar char="•"/>
            </a:pPr>
            <a:r>
              <a:rPr lang="en-US" sz="1800" dirty="0">
                <a:solidFill>
                  <a:srgbClr val="111111"/>
                </a:solidFill>
                <a:latin typeface="Calibri" pitchFamily="34" charset="0"/>
                <a:ea typeface="Calibri" pitchFamily="34" charset="-122"/>
                <a:cs typeface="Calibri" pitchFamily="34" charset="-120"/>
              </a:rPr>
              <a:t>Compare task success, tokens, cost, and completion time across model sizes. Do not assume skills will win.</a:t>
            </a:r>
            <a:endParaRPr lang="en-US" sz="1800" dirty="0"/>
          </a:p>
        </p:txBody>
      </p:sp>
      <p:sp>
        <p:nvSpPr>
          <p:cNvPr id="4" name="Text 2"/>
          <p:cNvSpPr txBox="1"/>
          <p:nvPr/>
        </p:nvSpPr>
        <p:spPr>
          <a:xfrm>
            <a:off x="548640" y="6400800"/>
            <a:ext cx="11064240" cy="274320"/>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Weather agent benchmark  ·  1 Oct 2026  ·  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000" b="1" dirty="0">
                <a:solidFill>
                  <a:srgbClr val="111111"/>
                </a:solidFill>
                <a:latin typeface="Calibri" pitchFamily="34" charset="0"/>
                <a:ea typeface="Calibri" pitchFamily="34" charset="-122"/>
                <a:cs typeface="Calibri" pitchFamily="34" charset="-120"/>
              </a:rPr>
              <a:t>Earlier experiment: three execution conditions</a:t>
            </a:r>
            <a:endParaRPr lang="en-US" sz="3000" dirty="0"/>
          </a:p>
        </p:txBody>
      </p:sp>
      <p:sp>
        <p:nvSpPr>
          <p:cNvPr id="3" name="Shape 1"/>
          <p:cNvSpPr/>
          <p:nvPr/>
        </p:nvSpPr>
        <p:spPr>
          <a:xfrm>
            <a:off x="548640" y="1463040"/>
            <a:ext cx="3520440" cy="2377440"/>
          </a:xfrm>
          <a:prstGeom prst="rect">
            <a:avLst/>
          </a:prstGeom>
          <a:solidFill>
            <a:srgbClr val="FFFFFF"/>
          </a:solidFill>
          <a:ln w="12700">
            <a:solidFill>
              <a:srgbClr val="111111"/>
            </a:solidFill>
            <a:prstDash val="solid"/>
          </a:ln>
        </p:spPr>
        <p:txBody>
          <a:bodyPr/>
          <a:p/>
        </p:txBody>
      </p:sp>
      <p:sp>
        <p:nvSpPr>
          <p:cNvPr id="4" name="Text 2"/>
          <p:cNvSpPr txBox="1"/>
          <p:nvPr/>
        </p:nvSpPr>
        <p:spPr>
          <a:xfrm>
            <a:off x="731520" y="1600200"/>
            <a:ext cx="3154680" cy="365760"/>
          </a:xfrm>
          <a:prstGeom prst="rect">
            <a:avLst/>
          </a:prstGeom>
          <a:noFill/>
          <a:ln/>
        </p:spPr>
        <p:txBody>
          <a:bodyPr wrap="square" lIns="0" tIns="0" rIns="0" bIns="0" rtlCol="0" anchor="t"/>
          <a:lstStyle/>
          <a:p>
            <a:pPr indent="0" marL="0">
              <a:buNone/>
            </a:pPr>
            <a:r>
              <a:rPr lang="en-US" sz="1600" b="1" dirty="0">
                <a:solidFill>
                  <a:srgbClr val="111111"/>
                </a:solidFill>
                <a:latin typeface="Calibri" pitchFamily="34" charset="0"/>
                <a:ea typeface="Calibri" pitchFamily="34" charset="-122"/>
                <a:cs typeface="Calibri" pitchFamily="34" charset="-120"/>
              </a:rPr>
              <a:t>Python only</a:t>
            </a:r>
            <a:endParaRPr lang="en-US" sz="1600" dirty="0"/>
          </a:p>
        </p:txBody>
      </p:sp>
      <p:sp>
        <p:nvSpPr>
          <p:cNvPr id="5" name="Text 3"/>
          <p:cNvSpPr txBox="1"/>
          <p:nvPr/>
        </p:nvSpPr>
        <p:spPr>
          <a:xfrm>
            <a:off x="731520" y="2057400"/>
            <a:ext cx="3154680" cy="1737360"/>
          </a:xfrm>
          <a:prstGeom prst="rect">
            <a:avLst/>
          </a:prstGeom>
          <a:noFill/>
          <a:ln/>
        </p:spPr>
        <p:txBody>
          <a:bodyPr wrap="square" lIns="0" tIns="0" rIns="0" bIns="0" rtlCol="0" anchor="t"/>
          <a:lstStyle/>
          <a:p>
            <a:pPr indent="0" marL="0">
              <a:buNone/>
            </a:pPr>
            <a:r>
              <a:rPr lang="en-US" sz="1300" dirty="0">
                <a:solidFill>
                  <a:srgbClr val="111111"/>
                </a:solidFill>
                <a:latin typeface="Calibri" pitchFamily="34" charset="0"/>
                <a:ea typeface="Calibri" pitchFamily="34" charset="-122"/>
                <a:cs typeface="Calibri" pitchFamily="34" charset="-120"/>
              </a:rPr>
              <a:t>The agent writes, runs, and revises its own code using standard scientific Python packages.</a:t>
            </a:r>
            <a:endParaRPr lang="en-US" sz="1300" dirty="0"/>
          </a:p>
        </p:txBody>
      </p:sp>
      <p:sp>
        <p:nvSpPr>
          <p:cNvPr id="6" name="Shape 4"/>
          <p:cNvSpPr/>
          <p:nvPr/>
        </p:nvSpPr>
        <p:spPr>
          <a:xfrm>
            <a:off x="4315968" y="1463040"/>
            <a:ext cx="3520440" cy="2377440"/>
          </a:xfrm>
          <a:prstGeom prst="rect">
            <a:avLst/>
          </a:prstGeom>
          <a:solidFill>
            <a:srgbClr val="FFFFFF"/>
          </a:solidFill>
          <a:ln w="12700">
            <a:solidFill>
              <a:srgbClr val="111111"/>
            </a:solidFill>
            <a:prstDash val="solid"/>
          </a:ln>
        </p:spPr>
        <p:txBody>
          <a:bodyPr/>
          <a:p/>
        </p:txBody>
      </p:sp>
      <p:sp>
        <p:nvSpPr>
          <p:cNvPr id="7" name="Text 5"/>
          <p:cNvSpPr txBox="1"/>
          <p:nvPr/>
        </p:nvSpPr>
        <p:spPr>
          <a:xfrm>
            <a:off x="4498848" y="1600200"/>
            <a:ext cx="3154680" cy="365760"/>
          </a:xfrm>
          <a:prstGeom prst="rect">
            <a:avLst/>
          </a:prstGeom>
          <a:noFill/>
          <a:ln/>
        </p:spPr>
        <p:txBody>
          <a:bodyPr wrap="square" lIns="0" tIns="0" rIns="0" bIns="0" rtlCol="0" anchor="t"/>
          <a:lstStyle/>
          <a:p>
            <a:pPr indent="0" marL="0">
              <a:buNone/>
            </a:pPr>
            <a:r>
              <a:rPr lang="en-US" sz="1600" b="1" dirty="0">
                <a:solidFill>
                  <a:srgbClr val="111111"/>
                </a:solidFill>
                <a:latin typeface="Calibri" pitchFamily="34" charset="0"/>
                <a:ea typeface="Calibri" pitchFamily="34" charset="-122"/>
                <a:cs typeface="Calibri" pitchFamily="34" charset="-120"/>
              </a:rPr>
              <a:t>Skills only</a:t>
            </a:r>
            <a:endParaRPr lang="en-US" sz="1600" dirty="0"/>
          </a:p>
        </p:txBody>
      </p:sp>
      <p:sp>
        <p:nvSpPr>
          <p:cNvPr id="8" name="Text 6"/>
          <p:cNvSpPr txBox="1"/>
          <p:nvPr/>
        </p:nvSpPr>
        <p:spPr>
          <a:xfrm>
            <a:off x="4498848" y="2057400"/>
            <a:ext cx="3154680" cy="1737360"/>
          </a:xfrm>
          <a:prstGeom prst="rect">
            <a:avLst/>
          </a:prstGeom>
          <a:noFill/>
          <a:ln/>
        </p:spPr>
        <p:txBody>
          <a:bodyPr wrap="square" lIns="0" tIns="0" rIns="0" bIns="0" rtlCol="0" anchor="t"/>
          <a:lstStyle/>
          <a:p>
            <a:pPr indent="0" marL="0">
              <a:buNone/>
            </a:pPr>
            <a:r>
              <a:rPr lang="en-US" sz="1300" dirty="0">
                <a:solidFill>
                  <a:srgbClr val="111111"/>
                </a:solidFill>
                <a:latin typeface="Calibri" pitchFamily="34" charset="0"/>
                <a:ea typeface="Calibri" pitchFamily="34" charset="-122"/>
                <a:cs typeface="Calibri" pitchFamily="34" charset="-120"/>
              </a:rPr>
              <a:t>The agent reads guides and invokes weather-skills operations; custom Python is disabled.</a:t>
            </a:r>
            <a:endParaRPr lang="en-US" sz="1300" dirty="0"/>
          </a:p>
        </p:txBody>
      </p:sp>
      <p:sp>
        <p:nvSpPr>
          <p:cNvPr id="9" name="Shape 7"/>
          <p:cNvSpPr/>
          <p:nvPr/>
        </p:nvSpPr>
        <p:spPr>
          <a:xfrm>
            <a:off x="8092440" y="1463040"/>
            <a:ext cx="3520440" cy="2377440"/>
          </a:xfrm>
          <a:prstGeom prst="rect">
            <a:avLst/>
          </a:prstGeom>
          <a:solidFill>
            <a:srgbClr val="FFFFFF"/>
          </a:solidFill>
          <a:ln w="25400">
            <a:solidFill>
              <a:srgbClr val="8A1C1C"/>
            </a:solidFill>
            <a:prstDash val="solid"/>
          </a:ln>
        </p:spPr>
        <p:txBody>
          <a:bodyPr/>
          <a:p/>
        </p:txBody>
      </p:sp>
      <p:sp>
        <p:nvSpPr>
          <p:cNvPr id="10" name="Text 8"/>
          <p:cNvSpPr txBox="1"/>
          <p:nvPr/>
        </p:nvSpPr>
        <p:spPr>
          <a:xfrm>
            <a:off x="8275320" y="1600200"/>
            <a:ext cx="3154680" cy="365760"/>
          </a:xfrm>
          <a:prstGeom prst="rect">
            <a:avLst/>
          </a:prstGeom>
          <a:noFill/>
          <a:ln/>
        </p:spPr>
        <p:txBody>
          <a:bodyPr wrap="square" lIns="0" tIns="0" rIns="0" bIns="0" rtlCol="0" anchor="t"/>
          <a:lstStyle/>
          <a:p>
            <a:pPr indent="0" marL="0">
              <a:buNone/>
            </a:pPr>
            <a:r>
              <a:rPr lang="en-US" sz="1600" b="1" dirty="0">
                <a:solidFill>
                  <a:srgbClr val="8A1C1C"/>
                </a:solidFill>
                <a:latin typeface="Calibri" pitchFamily="34" charset="0"/>
                <a:ea typeface="Calibri" pitchFamily="34" charset="-122"/>
                <a:cs typeface="Calibri" pitchFamily="34" charset="-120"/>
              </a:rPr>
              <a:t>Python + skills</a:t>
            </a:r>
            <a:endParaRPr lang="en-US" sz="1600" dirty="0"/>
          </a:p>
        </p:txBody>
      </p:sp>
      <p:sp>
        <p:nvSpPr>
          <p:cNvPr id="11" name="Text 9"/>
          <p:cNvSpPr txBox="1"/>
          <p:nvPr/>
        </p:nvSpPr>
        <p:spPr>
          <a:xfrm>
            <a:off x="8275320" y="2057400"/>
            <a:ext cx="3154680" cy="1737360"/>
          </a:xfrm>
          <a:prstGeom prst="rect">
            <a:avLst/>
          </a:prstGeom>
          <a:noFill/>
          <a:ln/>
        </p:spPr>
        <p:txBody>
          <a:bodyPr wrap="square" lIns="0" tIns="0" rIns="0" bIns="0" rtlCol="0" anchor="t"/>
          <a:lstStyle/>
          <a:p>
            <a:pPr indent="0" marL="0">
              <a:buNone/>
            </a:pPr>
            <a:r>
              <a:rPr lang="en-US" sz="1300" dirty="0">
                <a:solidFill>
                  <a:srgbClr val="111111"/>
                </a:solidFill>
                <a:latin typeface="Calibri" pitchFamily="34" charset="0"/>
                <a:ea typeface="Calibri" pitchFamily="34" charset="-122"/>
                <a:cs typeface="Calibri" pitchFamily="34" charset="-120"/>
              </a:rPr>
              <a:t>The agent can combine catalog operations with its own Python. Skill use is measured, not assumed.</a:t>
            </a:r>
            <a:endParaRPr lang="en-US" sz="1300" dirty="0"/>
          </a:p>
        </p:txBody>
      </p:sp>
      <p:sp>
        <p:nvSpPr>
          <p:cNvPr id="12" name="Text 10"/>
          <p:cNvSpPr txBox="1"/>
          <p:nvPr/>
        </p:nvSpPr>
        <p:spPr>
          <a:xfrm>
            <a:off x="548640" y="4206240"/>
            <a:ext cx="11064240" cy="1463040"/>
          </a:xfrm>
          <a:prstGeom prst="rect">
            <a:avLst/>
          </a:prstGeom>
          <a:noFill/>
          <a:ln/>
        </p:spPr>
        <p:txBody>
          <a:bodyPr wrap="square" lIns="0" tIns="0" rIns="0" bIns="0" rtlCol="0" anchor="t"/>
          <a:lstStyle/>
          <a:p>
            <a:pPr marL="177800" indent="-177800">
              <a:spcAft>
                <a:spcPts val="1200"/>
              </a:spcAft>
              <a:buSzPct val="100000"/>
              <a:buChar char="•"/>
            </a:pPr>
            <a:r>
              <a:rPr lang="en-US" sz="1500" dirty="0">
                <a:solidFill>
                  <a:srgbClr val="111111"/>
                </a:solidFill>
                <a:latin typeface="Calibri" pitchFamily="34" charset="0"/>
                <a:ea typeface="Calibri" pitchFamily="34" charset="-122"/>
                <a:cs typeface="Calibri" pitchFamily="34" charset="-120"/>
              </a:rPr>
              <a:t>Ten models, one task, three conditions: 30 planned attempts. The small-model tier includes 1B, 3B, 7B, 8B, and 9B models.</a:t>
            </a:r>
            <a:endParaRPr lang="en-US" sz="1500" dirty="0"/>
          </a:p>
          <a:p>
            <a:pPr marL="177800" indent="-177800">
              <a:spcAft>
                <a:spcPts val="1200"/>
              </a:spcAft>
              <a:buSzPct val="100000"/>
              <a:buChar char="•"/>
            </a:pPr>
            <a:r>
              <a:rPr lang="en-US" sz="1500" dirty="0">
                <a:solidFill>
                  <a:srgbClr val="111111"/>
                </a:solidFill>
                <a:latin typeface="Calibri" pitchFamily="34" charset="0"/>
                <a:ea typeface="Calibri" pitchFamily="34" charset="-122"/>
                <a:cs typeface="Calibri" pitchFamily="34" charset="-120"/>
              </a:rPr>
              <a:t>Astra is excluded because it helped develop the benchmark. Earlier runs remain archived.</a:t>
            </a:r>
            <a:endParaRPr lang="en-US" sz="1500" dirty="0"/>
          </a:p>
        </p:txBody>
      </p:sp>
      <p:sp>
        <p:nvSpPr>
          <p:cNvPr id="13" name="Text 11"/>
          <p:cNvSpPr txBox="1"/>
          <p:nvPr/>
        </p:nvSpPr>
        <p:spPr>
          <a:xfrm>
            <a:off x="548640" y="6400800"/>
            <a:ext cx="11064240" cy="274320"/>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Weather agent benchmark  ·  1 Oct 2026  ·  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000" b="1" dirty="0">
                <a:solidFill>
                  <a:srgbClr val="111111"/>
                </a:solidFill>
                <a:latin typeface="Calibri" pitchFamily="34" charset="0"/>
                <a:ea typeface="Calibri" pitchFamily="34" charset="-122"/>
                <a:cs typeface="Calibri" pitchFamily="34" charset="-120"/>
              </a:rPr>
              <a:t>Earlier task: a two-week Kenya heat outlook</a:t>
            </a:r>
            <a:endParaRPr lang="en-US" sz="3000" dirty="0"/>
          </a:p>
        </p:txBody>
      </p:sp>
      <p:sp>
        <p:nvSpPr>
          <p:cNvPr id="3" name="Shape 1"/>
          <p:cNvSpPr/>
          <p:nvPr/>
        </p:nvSpPr>
        <p:spPr>
          <a:xfrm>
            <a:off x="548640" y="1463040"/>
            <a:ext cx="3200400" cy="685800"/>
          </a:xfrm>
          <a:prstGeom prst="rect">
            <a:avLst/>
          </a:prstGeom>
          <a:solidFill>
            <a:srgbClr val="FFFFFF"/>
          </a:solidFill>
          <a:ln w="12700">
            <a:solidFill>
              <a:srgbClr val="111111"/>
            </a:solidFill>
            <a:prstDash val="solid"/>
          </a:ln>
        </p:spPr>
        <p:txBody>
          <a:bodyPr/>
          <a:p/>
        </p:txBody>
      </p:sp>
      <p:sp>
        <p:nvSpPr>
          <p:cNvPr id="4" name="Text 2"/>
          <p:cNvSpPr txBox="1"/>
          <p:nvPr/>
        </p:nvSpPr>
        <p:spPr>
          <a:xfrm>
            <a:off x="640080" y="1554480"/>
            <a:ext cx="3017520" cy="548640"/>
          </a:xfrm>
          <a:prstGeom prst="rect">
            <a:avLst/>
          </a:prstGeom>
          <a:noFill/>
          <a:ln/>
        </p:spPr>
        <p:txBody>
          <a:bodyPr wrap="square" lIns="0" tIns="0" rIns="0" bIns="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cosine-latitude spatial mean</a:t>
            </a:r>
            <a:endParaRPr lang="en-US" sz="1150" dirty="0"/>
          </a:p>
          <a:p>
            <a:pPr algn="ctr" indent="0" marL="0">
              <a:buNone/>
            </a:pPr>
            <a:r>
              <a:rPr lang="en-US" sz="1150" dirty="0">
                <a:solidFill>
                  <a:srgbClr val="111111"/>
                </a:solidFill>
                <a:latin typeface="Calibri" pitchFamily="34" charset="0"/>
                <a:ea typeface="Calibri" pitchFamily="34" charset="-122"/>
                <a:cs typeface="Calibri" pitchFamily="34" charset="-120"/>
              </a:rPr>
              <a:t>for each member and day</a:t>
            </a:r>
            <a:endParaRPr lang="en-US" sz="1150" dirty="0"/>
          </a:p>
        </p:txBody>
      </p:sp>
      <p:sp>
        <p:nvSpPr>
          <p:cNvPr id="5" name="Shape 3"/>
          <p:cNvSpPr/>
          <p:nvPr/>
        </p:nvSpPr>
        <p:spPr>
          <a:xfrm>
            <a:off x="3840480" y="1682496"/>
            <a:ext cx="365760" cy="256032"/>
          </a:xfrm>
          <a:prstGeom prst="rightArrow">
            <a:avLst/>
          </a:prstGeom>
          <a:solidFill>
            <a:srgbClr val="111111"/>
          </a:solidFill>
          <a:ln w="12700">
            <a:solidFill>
              <a:srgbClr val="111111"/>
            </a:solidFill>
            <a:prstDash val="solid"/>
          </a:ln>
        </p:spPr>
        <p:txBody>
          <a:bodyPr/>
          <a:p/>
        </p:txBody>
      </p:sp>
      <p:sp>
        <p:nvSpPr>
          <p:cNvPr id="6" name="Shape 4"/>
          <p:cNvSpPr/>
          <p:nvPr/>
        </p:nvSpPr>
        <p:spPr>
          <a:xfrm>
            <a:off x="4297680" y="1463040"/>
            <a:ext cx="3200400" cy="685800"/>
          </a:xfrm>
          <a:prstGeom prst="rect">
            <a:avLst/>
          </a:prstGeom>
          <a:solidFill>
            <a:srgbClr val="FFFFFF"/>
          </a:solidFill>
          <a:ln w="12700">
            <a:solidFill>
              <a:srgbClr val="111111"/>
            </a:solidFill>
            <a:prstDash val="solid"/>
          </a:ln>
        </p:spPr>
        <p:txBody>
          <a:bodyPr/>
          <a:p/>
        </p:txBody>
      </p:sp>
      <p:sp>
        <p:nvSpPr>
          <p:cNvPr id="7" name="Text 5"/>
          <p:cNvSpPr txBox="1"/>
          <p:nvPr/>
        </p:nvSpPr>
        <p:spPr>
          <a:xfrm>
            <a:off x="4389120" y="1554480"/>
            <a:ext cx="3017520" cy="548640"/>
          </a:xfrm>
          <a:prstGeom prst="rect">
            <a:avLst/>
          </a:prstGeom>
          <a:noFill/>
          <a:ln/>
        </p:spPr>
        <p:txBody>
          <a:bodyPr wrap="square" lIns="0" tIns="0" rIns="0" bIns="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weekly peak</a:t>
            </a:r>
            <a:endParaRPr lang="en-US" sz="1150" dirty="0"/>
          </a:p>
          <a:p>
            <a:pPr algn="ctr" indent="0" marL="0">
              <a:buNone/>
            </a:pPr>
            <a:r>
              <a:rPr lang="en-US" sz="1150" dirty="0">
                <a:solidFill>
                  <a:srgbClr val="111111"/>
                </a:solidFill>
                <a:latin typeface="Calibri" pitchFamily="34" charset="0"/>
                <a:ea typeface="Calibri" pitchFamily="34" charset="-122"/>
                <a:cs typeface="Calibri" pitchFamily="34" charset="-120"/>
              </a:rPr>
              <a:t>per member</a:t>
            </a:r>
            <a:endParaRPr lang="en-US" sz="1150" dirty="0"/>
          </a:p>
        </p:txBody>
      </p:sp>
      <p:sp>
        <p:nvSpPr>
          <p:cNvPr id="8" name="Shape 6"/>
          <p:cNvSpPr/>
          <p:nvPr/>
        </p:nvSpPr>
        <p:spPr>
          <a:xfrm>
            <a:off x="7589520" y="1682496"/>
            <a:ext cx="365760" cy="256032"/>
          </a:xfrm>
          <a:prstGeom prst="rightArrow">
            <a:avLst/>
          </a:prstGeom>
          <a:solidFill>
            <a:srgbClr val="111111"/>
          </a:solidFill>
          <a:ln w="12700">
            <a:solidFill>
              <a:srgbClr val="111111"/>
            </a:solidFill>
            <a:prstDash val="solid"/>
          </a:ln>
        </p:spPr>
        <p:txBody>
          <a:bodyPr/>
          <a:p/>
        </p:txBody>
      </p:sp>
      <p:sp>
        <p:nvSpPr>
          <p:cNvPr id="9" name="Shape 7"/>
          <p:cNvSpPr/>
          <p:nvPr/>
        </p:nvSpPr>
        <p:spPr>
          <a:xfrm>
            <a:off x="8046720" y="1463040"/>
            <a:ext cx="3566160" cy="685800"/>
          </a:xfrm>
          <a:prstGeom prst="rect">
            <a:avLst/>
          </a:prstGeom>
          <a:solidFill>
            <a:srgbClr val="FFFFFF"/>
          </a:solidFill>
          <a:ln w="12700">
            <a:solidFill>
              <a:srgbClr val="111111"/>
            </a:solidFill>
            <a:prstDash val="solid"/>
          </a:ln>
        </p:spPr>
        <p:txBody>
          <a:bodyPr/>
          <a:p/>
        </p:txBody>
      </p:sp>
      <p:sp>
        <p:nvSpPr>
          <p:cNvPr id="10" name="Text 8"/>
          <p:cNvSpPr txBox="1"/>
          <p:nvPr/>
        </p:nvSpPr>
        <p:spPr>
          <a:xfrm>
            <a:off x="8138160" y="1554480"/>
            <a:ext cx="3383280" cy="548640"/>
          </a:xfrm>
          <a:prstGeom prst="rect">
            <a:avLst/>
          </a:prstGeom>
          <a:noFill/>
          <a:ln/>
        </p:spPr>
        <p:txBody>
          <a:bodyPr wrap="square" lIns="0" tIns="0" rIns="0" bIns="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ensemble median, spread,</a:t>
            </a:r>
            <a:endParaRPr lang="en-US" sz="1150" dirty="0"/>
          </a:p>
          <a:p>
            <a:pPr algn="ctr" indent="0" marL="0">
              <a:buNone/>
            </a:pPr>
            <a:r>
              <a:rPr lang="en-US" sz="1150" dirty="0">
                <a:solidFill>
                  <a:srgbClr val="111111"/>
                </a:solidFill>
                <a:latin typeface="Calibri" pitchFamily="34" charset="0"/>
                <a:ea typeface="Calibri" pitchFamily="34" charset="-122"/>
                <a:cs typeface="Calibri" pitchFamily="34" charset="-120"/>
              </a:rPr>
              <a:t>minimum, and maximum</a:t>
            </a:r>
            <a:endParaRPr lang="en-US" sz="1150" dirty="0"/>
          </a:p>
        </p:txBody>
      </p:sp>
      <p:sp>
        <p:nvSpPr>
          <p:cNvPr id="11" name="Text 9"/>
          <p:cNvSpPr txBox="1"/>
          <p:nvPr/>
        </p:nvSpPr>
        <p:spPr>
          <a:xfrm>
            <a:off x="548640" y="2468880"/>
            <a:ext cx="11064240" cy="3566160"/>
          </a:xfrm>
          <a:prstGeom prst="rect">
            <a:avLst/>
          </a:prstGeom>
          <a:noFill/>
          <a:ln/>
        </p:spPr>
        <p:txBody>
          <a:bodyPr wrap="square" lIns="0" tIns="0" rIns="0" bIns="0" rtlCol="0" anchor="t"/>
          <a:lstStyle/>
          <a:p>
            <a:pPr marL="177800" indent="-177800">
              <a:spcAft>
                <a:spcPts val="1200"/>
              </a:spcAft>
              <a:buSzPct val="100000"/>
              <a:buChar char="•"/>
            </a:pPr>
            <a:r>
              <a:rPr lang="en-US" sz="1500" dirty="0">
                <a:solidFill>
                  <a:srgbClr val="111111"/>
                </a:solidFill>
                <a:latin typeface="Calibri" pitchFamily="34" charset="0"/>
                <a:ea typeface="Calibri" pitchFamily="34" charset="-122"/>
                <a:cs typeface="Calibri" pitchFamily="34" charset="-120"/>
              </a:rPr>
              <a:t>Use a real, archived ECMWF S2S forecast to calculate the hottest daily regional-mean temperature in each week.</a:t>
            </a:r>
            <a:endParaRPr lang="en-US" sz="1500" dirty="0"/>
          </a:p>
          <a:p>
            <a:pPr marL="177800" indent="-177800">
              <a:spcAft>
                <a:spcPts val="1200"/>
              </a:spcAft>
              <a:buSzPct val="100000"/>
              <a:buChar char="•"/>
            </a:pPr>
            <a:r>
              <a:rPr lang="en-US" sz="1500" dirty="0">
                <a:solidFill>
                  <a:srgbClr val="111111"/>
                </a:solidFill>
                <a:latin typeface="Calibri" pitchFamily="34" charset="0"/>
                <a:ea typeface="Calibri" pitchFamily="34" charset="-122"/>
                <a:cs typeface="Calibri" pitchFamily="34" charset="-120"/>
              </a:rPr>
              <a:t>Pass requires a structured answer matching an independent numeric reference, correct units and source citation, and a valid, nonblank figure.</a:t>
            </a:r>
            <a:endParaRPr lang="en-US" sz="1500" dirty="0"/>
          </a:p>
          <a:p>
            <a:pPr marL="177800" indent="-177800">
              <a:spcAft>
                <a:spcPts val="1200"/>
              </a:spcAft>
              <a:buSzPct val="100000"/>
              <a:buChar char="•"/>
            </a:pPr>
            <a:r>
              <a:rPr lang="en-US" sz="1500" dirty="0">
                <a:solidFill>
                  <a:srgbClr val="111111"/>
                </a:solidFill>
                <a:latin typeface="Calibri" pitchFamily="34" charset="0"/>
                <a:ea typeface="Calibri" pitchFamily="34" charset="-122"/>
                <a:cs typeface="Calibri" pitchFamily="34" charset="-120"/>
              </a:rPr>
              <a:t>Every attempt gets the same cached raw data and an empty workspace. Intermediate results stay within that attempt; no outputs or history cross runs.</a:t>
            </a:r>
            <a:endParaRPr lang="en-US" sz="1500" dirty="0"/>
          </a:p>
          <a:p>
            <a:pPr marL="177800" indent="-177800">
              <a:spcAft>
                <a:spcPts val="1200"/>
              </a:spcAft>
              <a:buSzPct val="100000"/>
              <a:buChar char="•"/>
            </a:pPr>
            <a:r>
              <a:rPr lang="en-US" sz="1500" dirty="0">
                <a:solidFill>
                  <a:srgbClr val="111111"/>
                </a:solidFill>
                <a:latin typeface="Calibri" pitchFamily="34" charset="0"/>
                <a:ea typeface="Calibri" pitchFamily="34" charset="-122"/>
                <a:cs typeface="Calibri" pitchFamily="34" charset="-120"/>
              </a:rPr>
              <a:t>Equal ceilings: 24 model calls, 40 executions, 200k tokens, 600 seconds.</a:t>
            </a:r>
            <a:endParaRPr lang="en-US" sz="1500" dirty="0"/>
          </a:p>
          <a:p>
            <a:pPr marL="177800" indent="-177800">
              <a:spcAft>
                <a:spcPts val="1200"/>
              </a:spcAft>
              <a:buSzPct val="100000"/>
              <a:buChar char="•"/>
            </a:pPr>
            <a:r>
              <a:rPr lang="en-US" sz="1500" dirty="0">
                <a:solidFill>
                  <a:srgbClr val="111111"/>
                </a:solidFill>
                <a:latin typeface="Calibri" pitchFamily="34" charset="0"/>
                <a:ea typeface="Calibri" pitchFamily="34" charset="-122"/>
                <a:cs typeface="Calibri" pitchFamily="34" charset="-120"/>
              </a:rPr>
              <a:t>Download and setup are excluded so solve time measures analysis, not data transfer.</a:t>
            </a:r>
            <a:endParaRPr lang="en-US" sz="1500" dirty="0"/>
          </a:p>
        </p:txBody>
      </p:sp>
      <p:sp>
        <p:nvSpPr>
          <p:cNvPr id="12" name="Text 10"/>
          <p:cNvSpPr txBox="1"/>
          <p:nvPr/>
        </p:nvSpPr>
        <p:spPr>
          <a:xfrm>
            <a:off x="548640" y="6400800"/>
            <a:ext cx="11064240" cy="274320"/>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Weather agent benchmark  ·  1 Oct 2026  ·  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000" b="1" dirty="0">
                <a:solidFill>
                  <a:srgbClr val="111111"/>
                </a:solidFill>
                <a:latin typeface="Calibri" pitchFamily="34" charset="0"/>
                <a:ea typeface="Calibri" pitchFamily="34" charset="-122"/>
                <a:cs typeface="Calibri" pitchFamily="34" charset="-120"/>
              </a:rPr>
              <a:t>Interim snapshot: 17 of 30 attempts</a:t>
            </a:r>
            <a:endParaRPr lang="en-US" sz="3000" dirty="0"/>
          </a:p>
        </p:txBody>
      </p:sp>
      <p:pic>
        <p:nvPicPr>
          <p:cNvPr id="3" name="Image 0" descr="/Users/brandonrose/repos/bmgf/accord/programmatic/meeting-slides/benchmark-dashboard.png">    </p:cNvPr>
          <p:cNvPicPr>
            <a:picLocks noChangeAspect="1"/>
          </p:cNvPicPr>
          <p:nvPr/>
        </p:nvPicPr>
        <p:blipFill>
          <a:blip r:embed="rId1"/>
          <a:stretch>
            <a:fillRect/>
          </a:stretch>
        </p:blipFill>
        <p:spPr>
          <a:xfrm>
            <a:off x="1709928" y="1325880"/>
            <a:ext cx="8778240" cy="4608576"/>
          </a:xfrm>
          <a:prstGeom prst="rect">
            <a:avLst/>
          </a:prstGeom>
        </p:spPr>
      </p:pic>
      <p:sp>
        <p:nvSpPr>
          <p:cNvPr id="4" name="Text 1"/>
          <p:cNvSpPr txBox="1"/>
          <p:nvPr/>
        </p:nvSpPr>
        <p:spPr>
          <a:xfrm>
            <a:off x="1709928" y="5989320"/>
            <a:ext cx="8778240" cy="320040"/>
          </a:xfrm>
          <a:prstGeom prst="rect">
            <a:avLst/>
          </a:prstGeom>
          <a:noFill/>
          <a:ln/>
        </p:spPr>
        <p:txBody>
          <a:bodyPr wrap="square" lIns="0" tIns="0" rIns="0" bIns="0" rtlCol="0" anchor="t"/>
          <a:lstStyle/>
          <a:p>
            <a:pPr indent="0" marL="0">
              <a:buNone/>
            </a:pPr>
            <a:r>
              <a:rPr lang="en-US" sz="1100" dirty="0">
                <a:solidFill>
                  <a:srgbClr val="6B6B6B"/>
                </a:solidFill>
                <a:latin typeface="Calibri" pitchFamily="34" charset="0"/>
                <a:ea typeface="Calibri" pitchFamily="34" charset="-122"/>
                <a:cs typeface="Calibri" pitchFamily="34" charset="-120"/>
              </a:rPr>
              <a:t>Landing page of the benchmark dashboard. Select a result to inspect its trace. Not a ranking.</a:t>
            </a:r>
            <a:endParaRPr lang="en-US" sz="1100" dirty="0"/>
          </a:p>
        </p:txBody>
      </p:sp>
      <p:sp>
        <p:nvSpPr>
          <p:cNvPr id="5" name="Text 2"/>
          <p:cNvSpPr txBox="1"/>
          <p:nvPr/>
        </p:nvSpPr>
        <p:spPr>
          <a:xfrm>
            <a:off x="548640" y="6400800"/>
            <a:ext cx="11064240" cy="274320"/>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Weather agent benchmark  ·  1 Oct 2026  ·  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000" b="1" dirty="0">
                <a:solidFill>
                  <a:srgbClr val="111111"/>
                </a:solidFill>
                <a:latin typeface="Calibri" pitchFamily="34" charset="0"/>
                <a:ea typeface="Calibri" pitchFamily="34" charset="-122"/>
                <a:cs typeface="Calibri" pitchFamily="34" charset="-120"/>
              </a:rPr>
              <a:t>Observed failure modes</a:t>
            </a:r>
            <a:endParaRPr lang="en-US" sz="3000" dirty="0"/>
          </a:p>
        </p:txBody>
      </p:sp>
      <p:sp>
        <p:nvSpPr>
          <p:cNvPr id="3" name="Text 1"/>
          <p:cNvSpPr txBox="1"/>
          <p:nvPr/>
        </p:nvSpPr>
        <p:spPr>
          <a:xfrm>
            <a:off x="548640" y="1463040"/>
            <a:ext cx="11064240" cy="4023360"/>
          </a:xfrm>
          <a:prstGeom prst="rect">
            <a:avLst/>
          </a:prstGeom>
          <a:noFill/>
          <a:ln/>
        </p:spPr>
        <p:txBody>
          <a:bodyPr wrap="square" lIns="0" tIns="0" rIns="0" bIns="0" rtlCol="0" anchor="t"/>
          <a:lstStyle/>
          <a:p>
            <a:pPr marL="177800" indent="-177800">
              <a:spcAft>
                <a:spcPts val="1600"/>
              </a:spcAft>
              <a:buSzPct val="100000"/>
              <a:buChar char="•"/>
            </a:pPr>
            <a:r>
              <a:rPr lang="en-US" sz="1700" b="1" dirty="0">
                <a:solidFill>
                  <a:srgbClr val="111111"/>
                </a:solidFill>
                <a:latin typeface="Calibri" pitchFamily="34" charset="0"/>
                <a:ea typeface="Calibri" pitchFamily="34" charset="-122"/>
                <a:cs typeface="Calibri" pitchFamily="34" charset="-120"/>
              </a:rPr>
              <a:t>Skills bypassed: </a:t>
            </a:r>
            <a:pPr indent="0" marL="0">
              <a:buNone/>
            </a:pPr>
            <a:r>
              <a:rPr lang="en-US" sz="1700" dirty="0">
                <a:solidFill>
                  <a:srgbClr val="111111"/>
                </a:solidFill>
                <a:latin typeface="Calibri" pitchFamily="34" charset="0"/>
                <a:ea typeface="Calibri" pitchFamily="34" charset="-122"/>
                <a:cs typeface="Calibri" pitchFamily="34" charset="-120"/>
              </a:rPr>
              <a:t>0 of 6 Python + skills attempts invoked a skill. The prompt makes skills optional; this condition tests availability, not actual reuse.</a:t>
            </a:r>
            <a:endParaRPr lang="en-US" sz="1700" dirty="0"/>
          </a:p>
          <a:p>
            <a:pPr marL="177800" indent="-177800">
              <a:spcAft>
                <a:spcPts val="1600"/>
              </a:spcAft>
              <a:buSzPct val="100000"/>
              <a:buChar char="•"/>
            </a:pPr>
            <a:r>
              <a:rPr lang="en-US" sz="1700" b="1" dirty="0">
                <a:solidFill>
                  <a:srgbClr val="111111"/>
                </a:solidFill>
                <a:latin typeface="Calibri" pitchFamily="34" charset="0"/>
                <a:ea typeface="Calibri" pitchFamily="34" charset="-122"/>
                <a:cs typeface="Calibri" pitchFamily="34" charset="-120"/>
              </a:rPr>
              <a:t>Interface friction: </a:t>
            </a:r>
            <a:pPr indent="0" marL="0">
              <a:buNone/>
            </a:pPr>
            <a:r>
              <a:rPr lang="en-US" sz="1700" dirty="0">
                <a:solidFill>
                  <a:srgbClr val="111111"/>
                </a:solidFill>
                <a:latin typeface="Calibri" pitchFamily="34" charset="0"/>
                <a:ea typeface="Calibri" pitchFamily="34" charset="-122"/>
                <a:cs typeface="Calibri" pitchFamily="34" charset="-120"/>
              </a:rPr>
              <a:t>wrong action names, XML tool-call wrappers, guide-read requirements, and invalid CLI arguments consumed turns.</a:t>
            </a:r>
            <a:endParaRPr lang="en-US" sz="1700" dirty="0"/>
          </a:p>
          <a:p>
            <a:pPr marL="177800" indent="-177800">
              <a:spcAft>
                <a:spcPts val="1600"/>
              </a:spcAft>
              <a:buSzPct val="100000"/>
              <a:buChar char="•"/>
            </a:pPr>
            <a:r>
              <a:rPr lang="en-US" sz="1700" b="1" dirty="0">
                <a:solidFill>
                  <a:srgbClr val="111111"/>
                </a:solidFill>
                <a:latin typeface="Calibri" pitchFamily="34" charset="0"/>
                <a:ea typeface="Calibri" pitchFamily="34" charset="-122"/>
                <a:cs typeface="Calibri" pitchFamily="34" charset="-120"/>
              </a:rPr>
              <a:t>Recovery and delivery: </a:t>
            </a:r>
            <a:pPr indent="0" marL="0">
              <a:buNone/>
            </a:pPr>
            <a:r>
              <a:rPr lang="en-US" sz="1700" dirty="0">
                <a:solidFill>
                  <a:srgbClr val="111111"/>
                </a:solidFill>
                <a:latin typeface="Calibri" pitchFamily="34" charset="0"/>
                <a:ea typeface="Calibri" pitchFamily="34" charset="-122"/>
                <a:cs typeface="Calibri" pitchFamily="34" charset="-120"/>
              </a:rPr>
              <a:t>Python indexing and unit errors required retries. Sonnet produced a figure but failed the strict artifact-submission contract.</a:t>
            </a:r>
            <a:endParaRPr lang="en-US" sz="1700" dirty="0"/>
          </a:p>
          <a:p>
            <a:pPr marL="177800" indent="-177800">
              <a:spcAft>
                <a:spcPts val="1600"/>
              </a:spcAft>
              <a:buSzPct val="100000"/>
              <a:buChar char="•"/>
            </a:pPr>
            <a:r>
              <a:rPr lang="en-US" sz="1700" b="1" dirty="0">
                <a:solidFill>
                  <a:srgbClr val="111111"/>
                </a:solidFill>
                <a:latin typeface="Calibri" pitchFamily="34" charset="0"/>
                <a:ea typeface="Calibri" pitchFamily="34" charset="-122"/>
                <a:cs typeface="Calibri" pitchFamily="34" charset="-120"/>
              </a:rPr>
              <a:t>Budget exhaustion: </a:t>
            </a:r>
            <a:pPr indent="0" marL="0">
              <a:buNone/>
            </a:pPr>
            <a:r>
              <a:rPr lang="en-US" sz="1700" dirty="0">
                <a:solidFill>
                  <a:srgbClr val="111111"/>
                </a:solidFill>
                <a:latin typeface="Calibri" pitchFamily="34" charset="0"/>
                <a:ea typeface="Calibri" pitchFamily="34" charset="-122"/>
                <a:cs typeface="Calibri" pitchFamily="34" charset="-120"/>
              </a:rPr>
              <a:t>6 of 7 failures hit the token limit; Qwen's hybrid run hit the time limit. Repeated context and unusable responses contributed.</a:t>
            </a:r>
            <a:endParaRPr lang="en-US" sz="1700" dirty="0"/>
          </a:p>
        </p:txBody>
      </p:sp>
      <p:sp>
        <p:nvSpPr>
          <p:cNvPr id="4" name="Text 2"/>
          <p:cNvSpPr txBox="1"/>
          <p:nvPr/>
        </p:nvSpPr>
        <p:spPr>
          <a:xfrm>
            <a:off x="548640" y="5669280"/>
            <a:ext cx="11064240" cy="320040"/>
          </a:xfrm>
          <a:prstGeom prst="rect">
            <a:avLst/>
          </a:prstGeom>
          <a:noFill/>
          <a:ln/>
        </p:spPr>
        <p:txBody>
          <a:bodyPr wrap="square" lIns="0" tIns="0" rIns="0" bIns="0" rtlCol="0" anchor="t"/>
          <a:lstStyle/>
          <a:p>
            <a:pPr indent="0" marL="0">
              <a:buNone/>
            </a:pPr>
            <a:r>
              <a:rPr lang="en-US" sz="1200" dirty="0">
                <a:solidFill>
                  <a:srgbClr val="6B6B6B"/>
                </a:solidFill>
                <a:latin typeface="Calibri" pitchFamily="34" charset="0"/>
                <a:ea typeface="Calibri" pitchFamily="34" charset="-122"/>
                <a:cs typeface="Calibri" pitchFamily="34" charset="-120"/>
              </a:rPr>
              <a:t>Initial six-model batch: 18 attempts, 7 failures. One attempt per model and condition.</a:t>
            </a:r>
            <a:endParaRPr lang="en-US" sz="1200" dirty="0"/>
          </a:p>
        </p:txBody>
      </p:sp>
      <p:sp>
        <p:nvSpPr>
          <p:cNvPr id="5" name="Text 3"/>
          <p:cNvSpPr txBox="1"/>
          <p:nvPr/>
        </p:nvSpPr>
        <p:spPr>
          <a:xfrm>
            <a:off x="548640" y="6400800"/>
            <a:ext cx="11064240" cy="274320"/>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Weather agent benchmark  ·  1 Oct 2026  ·  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000" b="1" dirty="0">
                <a:solidFill>
                  <a:srgbClr val="111111"/>
                </a:solidFill>
                <a:latin typeface="Calibri" pitchFamily="34" charset="0"/>
                <a:ea typeface="Calibri" pitchFamily="34" charset="-122"/>
                <a:cs typeface="Calibri" pitchFamily="34" charset="-120"/>
              </a:rPr>
              <a:t>Earlier proposal: test the libraries and their skill guides directly</a:t>
            </a:r>
            <a:endParaRPr lang="en-US" sz="3000" dirty="0"/>
          </a:p>
        </p:txBody>
      </p:sp>
      <p:sp>
        <p:nvSpPr>
          <p:cNvPr id="3" name="Shape 1"/>
          <p:cNvSpPr/>
          <p:nvPr/>
        </p:nvSpPr>
        <p:spPr>
          <a:xfrm>
            <a:off x="548640" y="1463040"/>
            <a:ext cx="3520440" cy="2194560"/>
          </a:xfrm>
          <a:prstGeom prst="rect">
            <a:avLst/>
          </a:prstGeom>
          <a:solidFill>
            <a:srgbClr val="FFFFFF"/>
          </a:solidFill>
          <a:ln w="12700">
            <a:solidFill>
              <a:srgbClr val="111111"/>
            </a:solidFill>
            <a:prstDash val="solid"/>
          </a:ln>
        </p:spPr>
        <p:txBody>
          <a:bodyPr/>
          <a:p/>
        </p:txBody>
      </p:sp>
      <p:sp>
        <p:nvSpPr>
          <p:cNvPr id="4" name="Text 2"/>
          <p:cNvSpPr txBox="1"/>
          <p:nvPr/>
        </p:nvSpPr>
        <p:spPr>
          <a:xfrm>
            <a:off x="731520" y="1600200"/>
            <a:ext cx="3154680" cy="365760"/>
          </a:xfrm>
          <a:prstGeom prst="rect">
            <a:avLst/>
          </a:prstGeom>
          <a:noFill/>
          <a:ln/>
        </p:spPr>
        <p:txBody>
          <a:bodyPr wrap="square" lIns="0" tIns="0" rIns="0" bIns="0" rtlCol="0" anchor="t"/>
          <a:lstStyle/>
          <a:p>
            <a:pPr indent="0" marL="0">
              <a:buNone/>
            </a:pPr>
            <a:r>
              <a:rPr lang="en-US" sz="1600" b="1" dirty="0">
                <a:solidFill>
                  <a:srgbClr val="111111"/>
                </a:solidFill>
                <a:latin typeface="Calibri" pitchFamily="34" charset="0"/>
                <a:ea typeface="Calibri" pitchFamily="34" charset="-122"/>
                <a:cs typeface="Calibri" pitchFamily="34" charset="-120"/>
              </a:rPr>
              <a:t>Baseline</a:t>
            </a:r>
            <a:endParaRPr lang="en-US" sz="1600" dirty="0"/>
          </a:p>
        </p:txBody>
      </p:sp>
      <p:sp>
        <p:nvSpPr>
          <p:cNvPr id="5" name="Text 3"/>
          <p:cNvSpPr txBox="1"/>
          <p:nvPr/>
        </p:nvSpPr>
        <p:spPr>
          <a:xfrm>
            <a:off x="731520" y="2057400"/>
            <a:ext cx="3154680" cy="1554480"/>
          </a:xfrm>
          <a:prstGeom prst="rect">
            <a:avLst/>
          </a:prstGeom>
          <a:noFill/>
          <a:ln/>
        </p:spPr>
        <p:txBody>
          <a:bodyPr wrap="square" lIns="0" tIns="0" rIns="0" bIns="0" rtlCol="0" anchor="t"/>
          <a:lstStyle/>
          <a:p>
            <a:pPr indent="0" marL="0">
              <a:buNone/>
            </a:pPr>
            <a:r>
              <a:rPr lang="en-US" sz="1300" dirty="0">
                <a:solidFill>
                  <a:srgbClr val="111111"/>
                </a:solidFill>
                <a:latin typeface="Calibri" pitchFamily="34" charset="0"/>
                <a:ea typeface="Calibri" pitchFamily="34" charset="-122"/>
                <a:cs typeface="Calibri" pitchFamily="34" charset="-120"/>
              </a:rPr>
              <a:t>General scientific Python; the agent implements the workflow itself.</a:t>
            </a:r>
            <a:endParaRPr lang="en-US" sz="1300" dirty="0"/>
          </a:p>
        </p:txBody>
      </p:sp>
      <p:sp>
        <p:nvSpPr>
          <p:cNvPr id="6" name="Shape 4"/>
          <p:cNvSpPr/>
          <p:nvPr/>
        </p:nvSpPr>
        <p:spPr>
          <a:xfrm>
            <a:off x="4315968" y="1463040"/>
            <a:ext cx="3520440" cy="2194560"/>
          </a:xfrm>
          <a:prstGeom prst="rect">
            <a:avLst/>
          </a:prstGeom>
          <a:solidFill>
            <a:srgbClr val="FFFFFF"/>
          </a:solidFill>
          <a:ln w="12700">
            <a:solidFill>
              <a:srgbClr val="111111"/>
            </a:solidFill>
            <a:prstDash val="solid"/>
          </a:ln>
        </p:spPr>
        <p:txBody>
          <a:bodyPr/>
          <a:p/>
        </p:txBody>
      </p:sp>
      <p:sp>
        <p:nvSpPr>
          <p:cNvPr id="7" name="Text 5"/>
          <p:cNvSpPr txBox="1"/>
          <p:nvPr/>
        </p:nvSpPr>
        <p:spPr>
          <a:xfrm>
            <a:off x="4498848" y="1600200"/>
            <a:ext cx="3154680" cy="365760"/>
          </a:xfrm>
          <a:prstGeom prst="rect">
            <a:avLst/>
          </a:prstGeom>
          <a:noFill/>
          <a:ln/>
        </p:spPr>
        <p:txBody>
          <a:bodyPr wrap="square" lIns="0" tIns="0" rIns="0" bIns="0" rtlCol="0" anchor="t"/>
          <a:lstStyle/>
          <a:p>
            <a:pPr indent="0" marL="0">
              <a:buNone/>
            </a:pPr>
            <a:r>
              <a:rPr lang="en-US" sz="1600" b="1" dirty="0">
                <a:solidFill>
                  <a:srgbClr val="111111"/>
                </a:solidFill>
                <a:latin typeface="Calibri" pitchFamily="34" charset="0"/>
                <a:ea typeface="Calibri" pitchFamily="34" charset="-122"/>
                <a:cs typeface="Calibri" pitchFamily="34" charset="-120"/>
              </a:rPr>
              <a:t>Libraries</a:t>
            </a:r>
            <a:endParaRPr lang="en-US" sz="1600" dirty="0"/>
          </a:p>
        </p:txBody>
      </p:sp>
      <p:sp>
        <p:nvSpPr>
          <p:cNvPr id="8" name="Text 6"/>
          <p:cNvSpPr txBox="1"/>
          <p:nvPr/>
        </p:nvSpPr>
        <p:spPr>
          <a:xfrm>
            <a:off x="4498848" y="2057400"/>
            <a:ext cx="3154680" cy="1554480"/>
          </a:xfrm>
          <a:prstGeom prst="rect">
            <a:avLst/>
          </a:prstGeom>
          <a:noFill/>
          <a:ln/>
        </p:spPr>
        <p:txBody>
          <a:bodyPr wrap="square" lIns="0" tIns="0" rIns="0" bIns="0" rtlCol="0" anchor="t"/>
          <a:lstStyle/>
          <a:p>
            <a:pPr indent="0" marL="0">
              <a:buNone/>
            </a:pPr>
            <a:r>
              <a:rPr lang="en-US" sz="1300" dirty="0">
                <a:solidFill>
                  <a:srgbClr val="111111"/>
                </a:solidFill>
                <a:latin typeface="Calibri" pitchFamily="34" charset="0"/>
                <a:ea typeface="Calibri" pitchFamily="34" charset="-122"/>
                <a:cs typeface="Calibri" pitchFamily="34" charset="-120"/>
              </a:rPr>
              <a:t>The same Python environment plus acmadDL and africaS2S, with ordinary API documentation.</a:t>
            </a:r>
            <a:endParaRPr lang="en-US" sz="1300" dirty="0"/>
          </a:p>
        </p:txBody>
      </p:sp>
      <p:sp>
        <p:nvSpPr>
          <p:cNvPr id="9" name="Shape 7"/>
          <p:cNvSpPr/>
          <p:nvPr/>
        </p:nvSpPr>
        <p:spPr>
          <a:xfrm>
            <a:off x="8092440" y="1463040"/>
            <a:ext cx="3520440" cy="2194560"/>
          </a:xfrm>
          <a:prstGeom prst="rect">
            <a:avLst/>
          </a:prstGeom>
          <a:solidFill>
            <a:srgbClr val="FFFFFF"/>
          </a:solidFill>
          <a:ln w="25400">
            <a:solidFill>
              <a:srgbClr val="8A1C1C"/>
            </a:solidFill>
            <a:prstDash val="solid"/>
          </a:ln>
        </p:spPr>
        <p:txBody>
          <a:bodyPr/>
          <a:p/>
        </p:txBody>
      </p:sp>
      <p:sp>
        <p:nvSpPr>
          <p:cNvPr id="10" name="Text 8"/>
          <p:cNvSpPr txBox="1"/>
          <p:nvPr/>
        </p:nvSpPr>
        <p:spPr>
          <a:xfrm>
            <a:off x="8275320" y="1600200"/>
            <a:ext cx="3154680" cy="365760"/>
          </a:xfrm>
          <a:prstGeom prst="rect">
            <a:avLst/>
          </a:prstGeom>
          <a:noFill/>
          <a:ln/>
        </p:spPr>
        <p:txBody>
          <a:bodyPr wrap="square" lIns="0" tIns="0" rIns="0" bIns="0" rtlCol="0" anchor="t"/>
          <a:lstStyle/>
          <a:p>
            <a:pPr indent="0" marL="0">
              <a:buNone/>
            </a:pPr>
            <a:r>
              <a:rPr lang="en-US" sz="1600" b="1" dirty="0">
                <a:solidFill>
                  <a:srgbClr val="8A1C1C"/>
                </a:solidFill>
                <a:latin typeface="Calibri" pitchFamily="34" charset="0"/>
                <a:ea typeface="Calibri" pitchFamily="34" charset="-122"/>
                <a:cs typeface="Calibri" pitchFamily="34" charset="-120"/>
              </a:rPr>
              <a:t>Libraries + skills</a:t>
            </a:r>
            <a:endParaRPr lang="en-US" sz="1600" dirty="0"/>
          </a:p>
        </p:txBody>
      </p:sp>
      <p:sp>
        <p:nvSpPr>
          <p:cNvPr id="11" name="Text 9"/>
          <p:cNvSpPr txBox="1"/>
          <p:nvPr/>
        </p:nvSpPr>
        <p:spPr>
          <a:xfrm>
            <a:off x="8275320" y="2057400"/>
            <a:ext cx="3154680" cy="1554480"/>
          </a:xfrm>
          <a:prstGeom prst="rect">
            <a:avLst/>
          </a:prstGeom>
          <a:noFill/>
          <a:ln/>
        </p:spPr>
        <p:txBody>
          <a:bodyPr wrap="square" lIns="0" tIns="0" rIns="0" bIns="0" rtlCol="0" anchor="t"/>
          <a:lstStyle/>
          <a:p>
            <a:pPr indent="0" marL="0">
              <a:buNone/>
            </a:pPr>
            <a:r>
              <a:rPr lang="en-US" sz="1300" dirty="0">
                <a:solidFill>
                  <a:srgbClr val="111111"/>
                </a:solidFill>
                <a:latin typeface="Calibri" pitchFamily="34" charset="0"/>
                <a:ea typeface="Calibri" pitchFamily="34" charset="-122"/>
                <a:cs typeface="Calibri" pitchFamily="34" charset="-120"/>
              </a:rPr>
              <a:t>The same libraries plus agent guides and progressively disclosed workflow references.</a:t>
            </a:r>
            <a:endParaRPr lang="en-US" sz="1300" dirty="0"/>
          </a:p>
        </p:txBody>
      </p:sp>
      <p:sp>
        <p:nvSpPr>
          <p:cNvPr id="12" name="Text 10"/>
          <p:cNvSpPr txBox="1"/>
          <p:nvPr/>
        </p:nvSpPr>
        <p:spPr>
          <a:xfrm>
            <a:off x="548640" y="4023360"/>
            <a:ext cx="11064240" cy="1645920"/>
          </a:xfrm>
          <a:prstGeom prst="rect">
            <a:avLst/>
          </a:prstGeom>
          <a:noFill/>
          <a:ln/>
        </p:spPr>
        <p:txBody>
          <a:bodyPr wrap="square" lIns="0" tIns="0" rIns="0" bIns="0" rtlCol="0" anchor="t"/>
          <a:lstStyle/>
          <a:p>
            <a:pPr marL="177800" indent="-177800">
              <a:spcAft>
                <a:spcPts val="1200"/>
              </a:spcAft>
              <a:buSzPct val="100000"/>
              <a:buChar char="•"/>
            </a:pPr>
            <a:r>
              <a:rPr lang="en-US" sz="1500" dirty="0">
                <a:solidFill>
                  <a:srgbClr val="111111"/>
                </a:solidFill>
                <a:latin typeface="Calibri" pitchFamily="34" charset="0"/>
                <a:ea typeface="Calibri" pitchFamily="34" charset="-122"/>
                <a:cs typeface="Calibri" pitchFamily="34" charset="-120"/>
              </a:rPr>
              <a:t>Keep Python available in every condition. Use seasonal tasks covering data acquisition, downscaling, held-out verification, and forecast delivery.</a:t>
            </a:r>
            <a:endParaRPr lang="en-US" sz="1500" dirty="0"/>
          </a:p>
          <a:p>
            <a:pPr marL="177800" indent="-177800">
              <a:spcAft>
                <a:spcPts val="1200"/>
              </a:spcAft>
              <a:buSzPct val="100000"/>
              <a:buChar char="•"/>
            </a:pPr>
            <a:r>
              <a:rPr lang="en-US" sz="1500" dirty="0">
                <a:solidFill>
                  <a:srgbClr val="111111"/>
                </a:solidFill>
                <a:latin typeface="Calibri" pitchFamily="34" charset="0"/>
                <a:ea typeface="Calibri" pitchFamily="34" charset="-122"/>
                <a:cs typeface="Calibri" pitchFamily="34" charset="-120"/>
              </a:rPr>
              <a:t>Predeclare tasks and scoring; freeze versions and seeds; repeat across regions, methods, and models.</a:t>
            </a:r>
            <a:endParaRPr lang="en-US" sz="1500" dirty="0"/>
          </a:p>
        </p:txBody>
      </p:sp>
      <p:sp>
        <p:nvSpPr>
          <p:cNvPr id="13" name="Text 11"/>
          <p:cNvSpPr txBox="1"/>
          <p:nvPr/>
        </p:nvSpPr>
        <p:spPr>
          <a:xfrm>
            <a:off x="548640" y="6400800"/>
            <a:ext cx="11064240" cy="274320"/>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Weather agent benchmark  ·  1 Oct 2026  ·  15</a:t>
            </a:r>
            <a:endParaRPr lang="en-US" sz="1000"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a:spAutoFit/>
          </a:bodyPr>
          <a:lstStyle/>
          <a:p>
            <a:pPr>
              <a:spcAft>
                <a:spcPts val="1200"/>
              </a:spcAft>
              <a:defRPr sz="3000" b="1">
                <a:solidFill>
                  <a:srgbClr val="111111"/>
                </a:solidFill>
                <a:latin typeface="Calibri"/>
              </a:defRPr>
            </a:pPr>
            <a:r>
              <a:t>Can a coding agent build a seasonal forecast workflow?</a:t>
            </a:r>
          </a:p>
        </p:txBody>
      </p:sp>
      <p:sp>
        <p:nvSpPr>
          <p:cNvPr id="3" name="TextBox 2"/>
          <p:cNvSpPr txBox="1"/>
          <p:nvPr/>
        </p:nvSpPr>
        <p:spPr>
          <a:xfrm>
            <a:off x="548640" y="6400800"/>
            <a:ext cx="11064240" cy="274320"/>
          </a:xfrm>
          <a:prstGeom prst="rect">
            <a:avLst/>
          </a:prstGeom>
          <a:noFill/>
        </p:spPr>
        <p:txBody>
          <a:bodyPr wrap="square" lIns="0" rIns="0">
            <a:spAutoFit/>
          </a:bodyPr>
          <a:lstStyle/>
          <a:p>
            <a:pPr>
              <a:spcAft>
                <a:spcPts val="1200"/>
              </a:spcAft>
              <a:defRPr sz="1000" b="0">
                <a:solidFill>
                  <a:srgbClr val="6B6B6B"/>
                </a:solidFill>
                <a:latin typeface="Calibri"/>
              </a:defRPr>
            </a:pPr>
            <a:r>
              <a:t>ACCORD weather pilot · development smoke · 1 Oct 2026 · 16</a:t>
            </a:r>
          </a:p>
        </p:txBody>
      </p:sp>
      <p:sp>
        <p:nvSpPr>
          <p:cNvPr id="4" name="TextBox 3"/>
          <p:cNvSpPr txBox="1"/>
          <p:nvPr/>
        </p:nvSpPr>
        <p:spPr>
          <a:xfrm>
            <a:off x="548640" y="1371600"/>
            <a:ext cx="11064240" cy="960120"/>
          </a:xfrm>
          <a:prstGeom prst="rect">
            <a:avLst/>
          </a:prstGeom>
          <a:noFill/>
        </p:spPr>
        <p:txBody>
          <a:bodyPr wrap="square" lIns="0" rIns="0">
            <a:spAutoFit/>
          </a:bodyPr>
          <a:lstStyle/>
          <a:p>
            <a:pPr>
              <a:spcAft>
                <a:spcPts val="1200"/>
              </a:spcAft>
              <a:defRPr sz="1800" b="0">
                <a:solidFill>
                  <a:srgbClr val="111111"/>
                </a:solidFill>
                <a:latin typeface="Calibri"/>
              </a:defRPr>
            </a:pPr>
            <a:r>
              <a:t>September-issued OND rainfall in a Kenyan study box.</a:t>
            </a:r>
          </a:p>
          <a:p>
            <a:pPr>
              <a:spcAft>
                <a:spcPts val="1200"/>
              </a:spcAft>
              <a:defRPr sz="1800" b="0">
                <a:solidFill>
                  <a:srgbClr val="111111"/>
                </a:solidFill>
                <a:latin typeface="Calibri"/>
              </a:defRPr>
            </a:pPr>
            <a:r>
              <a:t>Aggregate monthly inputs, fit a calibration, save the fitted model, and produce a new forecast.</a:t>
            </a:r>
          </a:p>
        </p:txBody>
      </p:sp>
      <p:graphicFrame>
        <p:nvGraphicFramePr>
          <p:cNvPr id="5" name="Table 4"/>
          <p:cNvGraphicFramePr>
            <a:graphicFrameLocks noGrp="1"/>
          </p:cNvGraphicFramePr>
          <p:nvPr/>
        </p:nvGraphicFramePr>
        <p:xfrm>
          <a:off x="548640" y="2560320"/>
          <a:ext cx="11064240" cy="1591055"/>
        </p:xfrm>
        <a:graphic>
          <a:graphicData uri="http://schemas.openxmlformats.org/drawingml/2006/table">
            <a:tbl>
              <a:tblPr firstRow="1" bandRow="1">
                <a:tableStyleId>{5C22544A-7EE6-4342-B048-85BDC9FD1C3A}</a:tableStyleId>
              </a:tblPr>
              <a:tblGrid>
                <a:gridCol w="2743200"/>
                <a:gridCol w="2080260"/>
                <a:gridCol w="2080260"/>
                <a:gridCol w="2080260"/>
                <a:gridCol w="2080260"/>
              </a:tblGrid>
              <a:tr h="530351">
                <a:tc>
                  <a:txBody>
                    <a:bodyPr/>
                    <a:lstStyle/>
                    <a:p>
                      <a:pPr>
                        <a:defRPr sz="1600" b="1">
                          <a:solidFill>
                            <a:srgbClr val="111111"/>
                          </a:solidFill>
                          <a:latin typeface="Calibri"/>
                        </a:defRPr>
                      </a:pPr>
                      <a:r>
                        <a:t>Scratch model</a:t>
                      </a:r>
                    </a:p>
                  </a:txBody>
                  <a:tcPr marL="91440" marT="91440">
                    <a:solidFill>
                      <a:srgbClr val="EEEEEE"/>
                    </a:solidFill>
                  </a:tcPr>
                </a:tc>
                <a:tc>
                  <a:txBody>
                    <a:bodyPr/>
                    <a:lstStyle/>
                    <a:p>
                      <a:pPr>
                        <a:defRPr sz="1600" b="1">
                          <a:solidFill>
                            <a:srgbClr val="111111"/>
                          </a:solidFill>
                          <a:latin typeface="Calibri"/>
                        </a:defRPr>
                      </a:pPr>
                      <a:r>
                        <a:t>Checks passed</a:t>
                      </a:r>
                    </a:p>
                  </a:txBody>
                  <a:tcPr marL="91440" marT="91440">
                    <a:solidFill>
                      <a:srgbClr val="EEEEEE"/>
                    </a:solidFill>
                  </a:tcPr>
                </a:tc>
                <a:tc>
                  <a:txBody>
                    <a:bodyPr/>
                    <a:lstStyle/>
                    <a:p>
                      <a:pPr>
                        <a:defRPr sz="1600" b="1">
                          <a:solidFill>
                            <a:srgbClr val="111111"/>
                          </a:solidFill>
                          <a:latin typeface="Calibri"/>
                        </a:defRPr>
                      </a:pPr>
                      <a:r>
                        <a:t>Tokens</a:t>
                      </a:r>
                    </a:p>
                  </a:txBody>
                  <a:tcPr marL="91440" marT="91440">
                    <a:solidFill>
                      <a:srgbClr val="EEEEEE"/>
                    </a:solidFill>
                  </a:tcPr>
                </a:tc>
                <a:tc>
                  <a:txBody>
                    <a:bodyPr/>
                    <a:lstStyle/>
                    <a:p>
                      <a:pPr>
                        <a:defRPr sz="1600" b="1">
                          <a:solidFill>
                            <a:srgbClr val="111111"/>
                          </a:solidFill>
                          <a:latin typeface="Calibri"/>
                        </a:defRPr>
                      </a:pPr>
                      <a:r>
                        <a:t>Cost</a:t>
                      </a:r>
                    </a:p>
                  </a:txBody>
                  <a:tcPr marL="91440" marT="91440">
                    <a:solidFill>
                      <a:srgbClr val="EEEEEE"/>
                    </a:solidFill>
                  </a:tcPr>
                </a:tc>
                <a:tc>
                  <a:txBody>
                    <a:bodyPr/>
                    <a:lstStyle/>
                    <a:p>
                      <a:pPr>
                        <a:defRPr sz="1600" b="1">
                          <a:solidFill>
                            <a:srgbClr val="111111"/>
                          </a:solidFill>
                          <a:latin typeface="Calibri"/>
                        </a:defRPr>
                      </a:pPr>
                      <a:r>
                        <a:t>Time</a:t>
                      </a:r>
                    </a:p>
                  </a:txBody>
                  <a:tcPr marL="91440" marT="91440">
                    <a:solidFill>
                      <a:srgbClr val="EEEEEE"/>
                    </a:solidFill>
                  </a:tcPr>
                </a:tc>
              </a:tr>
              <a:tr h="530351">
                <a:tc>
                  <a:txBody>
                    <a:bodyPr/>
                    <a:lstStyle/>
                    <a:p>
                      <a:pPr>
                        <a:defRPr sz="1600" b="0">
                          <a:solidFill>
                            <a:srgbClr val="111111"/>
                          </a:solidFill>
                          <a:latin typeface="Calibri"/>
                        </a:defRPr>
                      </a:pPr>
                      <a:r>
                        <a:t>Fable 5.1</a:t>
                      </a:r>
                    </a:p>
                  </a:txBody>
                  <a:tcPr marL="91440" marT="91440">
                    <a:solidFill>
                      <a:srgbClr val="FFFFFF"/>
                    </a:solidFill>
                  </a:tcPr>
                </a:tc>
                <a:tc>
                  <a:txBody>
                    <a:bodyPr/>
                    <a:lstStyle/>
                    <a:p>
                      <a:pPr>
                        <a:defRPr sz="1600" b="0">
                          <a:solidFill>
                            <a:srgbClr val="111111"/>
                          </a:solidFill>
                          <a:latin typeface="Calibri"/>
                        </a:defRPr>
                      </a:pPr>
                      <a:r>
                        <a:t>0/12</a:t>
                      </a:r>
                    </a:p>
                  </a:txBody>
                  <a:tcPr marL="91440" marT="91440">
                    <a:solidFill>
                      <a:srgbClr val="FFFFFF"/>
                    </a:solidFill>
                  </a:tcPr>
                </a:tc>
                <a:tc>
                  <a:txBody>
                    <a:bodyPr/>
                    <a:lstStyle/>
                    <a:p>
                      <a:pPr>
                        <a:defRPr sz="1600" b="0">
                          <a:solidFill>
                            <a:srgbClr val="111111"/>
                          </a:solidFill>
                          <a:latin typeface="Calibri"/>
                        </a:defRPr>
                      </a:pPr>
                      <a:r>
                        <a:t>236,218</a:t>
                      </a:r>
                    </a:p>
                  </a:txBody>
                  <a:tcPr marL="91440" marT="91440">
                    <a:solidFill>
                      <a:srgbClr val="FFFFFF"/>
                    </a:solidFill>
                  </a:tcPr>
                </a:tc>
                <a:tc>
                  <a:txBody>
                    <a:bodyPr/>
                    <a:lstStyle/>
                    <a:p>
                      <a:pPr>
                        <a:defRPr sz="1600" b="0">
                          <a:solidFill>
                            <a:srgbClr val="111111"/>
                          </a:solidFill>
                          <a:latin typeface="Calibri"/>
                        </a:defRPr>
                      </a:pPr>
                      <a:r>
                        <a:t>$4.38</a:t>
                      </a:r>
                    </a:p>
                  </a:txBody>
                  <a:tcPr marL="91440" marT="91440">
                    <a:solidFill>
                      <a:srgbClr val="FFFFFF"/>
                    </a:solidFill>
                  </a:tcPr>
                </a:tc>
                <a:tc>
                  <a:txBody>
                    <a:bodyPr/>
                    <a:lstStyle/>
                    <a:p>
                      <a:pPr>
                        <a:defRPr sz="1600" b="0">
                          <a:solidFill>
                            <a:srgbClr val="111111"/>
                          </a:solidFill>
                          <a:latin typeface="Calibri"/>
                        </a:defRPr>
                      </a:pPr>
                      <a:r>
                        <a:t>9.6 min</a:t>
                      </a:r>
                    </a:p>
                  </a:txBody>
                  <a:tcPr marL="91440" marT="91440">
                    <a:solidFill>
                      <a:srgbClr val="FFFFFF"/>
                    </a:solidFill>
                  </a:tcPr>
                </a:tc>
              </a:tr>
              <a:tr h="530353">
                <a:tc>
                  <a:txBody>
                    <a:bodyPr/>
                    <a:lstStyle/>
                    <a:p>
                      <a:pPr>
                        <a:defRPr sz="1600" b="0">
                          <a:solidFill>
                            <a:srgbClr val="111111"/>
                          </a:solidFill>
                          <a:latin typeface="Calibri"/>
                        </a:defRPr>
                      </a:pPr>
                      <a:r>
                        <a:t>Haiku 4.5</a:t>
                      </a:r>
                    </a:p>
                  </a:txBody>
                  <a:tcPr marL="91440" marT="91440">
                    <a:solidFill>
                      <a:srgbClr val="FFFFFF"/>
                    </a:solidFill>
                  </a:tcPr>
                </a:tc>
                <a:tc>
                  <a:txBody>
                    <a:bodyPr/>
                    <a:lstStyle/>
                    <a:p>
                      <a:pPr>
                        <a:defRPr sz="1600" b="0">
                          <a:solidFill>
                            <a:srgbClr val="111111"/>
                          </a:solidFill>
                          <a:latin typeface="Calibri"/>
                        </a:defRPr>
                      </a:pPr>
                      <a:r>
                        <a:t>6/12</a:t>
                      </a:r>
                    </a:p>
                  </a:txBody>
                  <a:tcPr marL="91440" marT="91440">
                    <a:solidFill>
                      <a:srgbClr val="FFFFFF"/>
                    </a:solidFill>
                  </a:tcPr>
                </a:tc>
                <a:tc>
                  <a:txBody>
                    <a:bodyPr/>
                    <a:lstStyle/>
                    <a:p>
                      <a:pPr>
                        <a:defRPr sz="1600" b="0">
                          <a:solidFill>
                            <a:srgbClr val="111111"/>
                          </a:solidFill>
                          <a:latin typeface="Calibri"/>
                        </a:defRPr>
                      </a:pPr>
                      <a:r>
                        <a:t>473,419</a:t>
                      </a:r>
                    </a:p>
                  </a:txBody>
                  <a:tcPr marL="91440" marT="91440">
                    <a:solidFill>
                      <a:srgbClr val="FFFFFF"/>
                    </a:solidFill>
                  </a:tcPr>
                </a:tc>
                <a:tc>
                  <a:txBody>
                    <a:bodyPr/>
                    <a:lstStyle/>
                    <a:p>
                      <a:pPr>
                        <a:defRPr sz="1600" b="0">
                          <a:solidFill>
                            <a:srgbClr val="111111"/>
                          </a:solidFill>
                          <a:latin typeface="Calibri"/>
                        </a:defRPr>
                      </a:pPr>
                      <a:r>
                        <a:t>$0.60</a:t>
                      </a:r>
                    </a:p>
                  </a:txBody>
                  <a:tcPr marL="91440" marT="91440">
                    <a:solidFill>
                      <a:srgbClr val="FFFFFF"/>
                    </a:solidFill>
                  </a:tcPr>
                </a:tc>
                <a:tc>
                  <a:txBody>
                    <a:bodyPr/>
                    <a:lstStyle/>
                    <a:p>
                      <a:pPr>
                        <a:defRPr sz="1600" b="0">
                          <a:solidFill>
                            <a:srgbClr val="111111"/>
                          </a:solidFill>
                          <a:latin typeface="Calibri"/>
                        </a:defRPr>
                      </a:pPr>
                      <a:r>
                        <a:t>4.3 min</a:t>
                      </a:r>
                    </a:p>
                  </a:txBody>
                  <a:tcPr marL="91440" marT="91440">
                    <a:solidFill>
                      <a:srgbClr val="FFFFFF"/>
                    </a:solidFill>
                  </a:tcPr>
                </a:tc>
              </a:tr>
            </a:tbl>
          </a:graphicData>
        </a:graphic>
      </p:graphicFrame>
      <p:sp>
        <p:nvSpPr>
          <p:cNvPr id="6" name="TextBox 5"/>
          <p:cNvSpPr txBox="1"/>
          <p:nvPr/>
        </p:nvSpPr>
        <p:spPr>
          <a:xfrm>
            <a:off x="548640" y="4434840"/>
            <a:ext cx="11064240" cy="914400"/>
          </a:xfrm>
          <a:prstGeom prst="rect">
            <a:avLst/>
          </a:prstGeom>
          <a:noFill/>
        </p:spPr>
        <p:txBody>
          <a:bodyPr wrap="square" lIns="0" rIns="0">
            <a:spAutoFit/>
          </a:bodyPr>
          <a:lstStyle/>
          <a:p>
            <a:pPr>
              <a:spcAft>
                <a:spcPts val="1200"/>
              </a:spcAft>
              <a:defRPr sz="1800" b="0">
                <a:solidFill>
                  <a:srgbClr val="111111"/>
                </a:solidFill>
                <a:latin typeface="Calibri"/>
              </a:defRPr>
            </a:pPr>
            <a:r>
              <a:t>Neither scratch model completed its initial attempt. Fable later reached 11/12 checks using saved work; this pilot does not establish a model capability threshold.</a:t>
            </a:r>
          </a:p>
        </p:txBody>
      </p:sp>
      <p:sp>
        <p:nvSpPr>
          <p:cNvPr id="7" name="TextBox 6"/>
          <p:cNvSpPr txBox="1"/>
          <p:nvPr/>
        </p:nvSpPr>
        <p:spPr>
          <a:xfrm>
            <a:off x="548640" y="5532120"/>
            <a:ext cx="11064240" cy="685800"/>
          </a:xfrm>
          <a:prstGeom prst="rect">
            <a:avLst/>
          </a:prstGeom>
          <a:noFill/>
        </p:spPr>
        <p:txBody>
          <a:bodyPr wrap="square" lIns="0" rIns="0">
            <a:spAutoFit/>
          </a:bodyPr>
          <a:lstStyle/>
          <a:p>
            <a:pPr>
              <a:spcAft>
                <a:spcPts val="1200"/>
              </a:spcAft>
              <a:defRPr sz="1300" b="0">
                <a:solidFill>
                  <a:srgbClr val="6B6B6B"/>
                </a:solidFill>
                <a:latin typeface="Calibri"/>
              </a:defRPr>
            </a:pPr>
            <a:r>
              <a:t>Same inputs and attempt limits. One attempt per condition: an illustration, not a general model ranking.</a:t>
            </a:r>
          </a:p>
          <a:p>
            <a:pPr>
              <a:spcAft>
                <a:spcPts val="1200"/>
              </a:spcAft>
              <a:defRPr sz="1300" b="0">
                <a:solidFill>
                  <a:srgbClr val="6B6B6B"/>
                </a:solidFill>
                <a:latin typeface="Calibri"/>
              </a:defRPr>
            </a:pPr>
            <a:r>
              <a:t>Monthly data was supplied; live data discovery and retrieval were not tested.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a:spAutoFit/>
          </a:bodyPr>
          <a:lstStyle/>
          <a:p>
            <a:pPr>
              <a:spcAft>
                <a:spcPts val="1200"/>
              </a:spcAft>
              <a:defRPr sz="3000" b="1">
                <a:solidFill>
                  <a:srgbClr val="111111"/>
                </a:solidFill>
                <a:latin typeface="Calibri"/>
              </a:defRPr>
            </a:pPr>
            <a:r>
              <a:t>Do skills and domain libraries reduce the work?</a:t>
            </a:r>
          </a:p>
        </p:txBody>
      </p:sp>
      <p:sp>
        <p:nvSpPr>
          <p:cNvPr id="3" name="TextBox 2"/>
          <p:cNvSpPr txBox="1"/>
          <p:nvPr/>
        </p:nvSpPr>
        <p:spPr>
          <a:xfrm>
            <a:off x="548640" y="6400800"/>
            <a:ext cx="11064240" cy="274320"/>
          </a:xfrm>
          <a:prstGeom prst="rect">
            <a:avLst/>
          </a:prstGeom>
          <a:noFill/>
        </p:spPr>
        <p:txBody>
          <a:bodyPr wrap="square" lIns="0" rIns="0">
            <a:spAutoFit/>
          </a:bodyPr>
          <a:lstStyle/>
          <a:p>
            <a:pPr>
              <a:spcAft>
                <a:spcPts val="1200"/>
              </a:spcAft>
              <a:defRPr sz="1000" b="0">
                <a:solidFill>
                  <a:srgbClr val="6B6B6B"/>
                </a:solidFill>
                <a:latin typeface="Calibri"/>
              </a:defRPr>
            </a:pPr>
            <a:r>
              <a:t>ACCORD weather pilot · development smoke · 1 Oct 2026 · 17</a:t>
            </a:r>
          </a:p>
        </p:txBody>
      </p:sp>
      <p:sp>
        <p:nvSpPr>
          <p:cNvPr id="4" name="TextBox 3"/>
          <p:cNvSpPr txBox="1"/>
          <p:nvPr/>
        </p:nvSpPr>
        <p:spPr>
          <a:xfrm>
            <a:off x="548640" y="1371600"/>
            <a:ext cx="11064240" cy="640080"/>
          </a:xfrm>
          <a:prstGeom prst="rect">
            <a:avLst/>
          </a:prstGeom>
          <a:noFill/>
        </p:spPr>
        <p:txBody>
          <a:bodyPr wrap="square" lIns="0" rIns="0">
            <a:spAutoFit/>
          </a:bodyPr>
          <a:lstStyle/>
          <a:p>
            <a:pPr>
              <a:spcAft>
                <a:spcPts val="1200"/>
              </a:spcAft>
              <a:defRPr sz="1800" b="0">
                <a:solidFill>
                  <a:srgbClr val="111111"/>
                </a:solidFill>
                <a:latin typeface="Calibri"/>
              </a:defRPr>
            </a:pPr>
            <a:r>
              <a:t>Same Fable 5.1 model, task, normalized inputs, resources and limits. Only the available domain tools differ.</a:t>
            </a:r>
          </a:p>
        </p:txBody>
      </p:sp>
      <p:graphicFrame>
        <p:nvGraphicFramePr>
          <p:cNvPr id="5" name="Table 4"/>
          <p:cNvGraphicFramePr>
            <a:graphicFrameLocks noGrp="1"/>
          </p:cNvGraphicFramePr>
          <p:nvPr/>
        </p:nvGraphicFramePr>
        <p:xfrm>
          <a:off x="548640" y="2331720"/>
          <a:ext cx="11064240" cy="2121408"/>
        </p:xfrm>
        <a:graphic>
          <a:graphicData uri="http://schemas.openxmlformats.org/drawingml/2006/table">
            <a:tbl>
              <a:tblPr firstRow="1" bandRow="1">
                <a:tableStyleId>{5C22544A-7EE6-4342-B048-85BDC9FD1C3A}</a:tableStyleId>
              </a:tblPr>
              <a:tblGrid>
                <a:gridCol w="2468880"/>
                <a:gridCol w="1280160"/>
                <a:gridCol w="1828800"/>
                <a:gridCol w="1280160"/>
                <a:gridCol w="1554480"/>
                <a:gridCol w="2651760"/>
              </a:tblGrid>
              <a:tr h="530352">
                <a:tc>
                  <a:txBody>
                    <a:bodyPr/>
                    <a:lstStyle/>
                    <a:p>
                      <a:pPr>
                        <a:defRPr sz="1600" b="1">
                          <a:solidFill>
                            <a:srgbClr val="111111"/>
                          </a:solidFill>
                          <a:latin typeface="Calibri"/>
                        </a:defRPr>
                      </a:pPr>
                      <a:r>
                        <a:t>Arm</a:t>
                      </a:r>
                    </a:p>
                  </a:txBody>
                  <a:tcPr marL="91440" marT="91440">
                    <a:solidFill>
                      <a:srgbClr val="EEEEEE"/>
                    </a:solidFill>
                  </a:tcPr>
                </a:tc>
                <a:tc>
                  <a:txBody>
                    <a:bodyPr/>
                    <a:lstStyle/>
                    <a:p>
                      <a:pPr>
                        <a:defRPr sz="1600" b="1">
                          <a:solidFill>
                            <a:srgbClr val="111111"/>
                          </a:solidFill>
                          <a:latin typeface="Calibri"/>
                        </a:defRPr>
                      </a:pPr>
                      <a:r>
                        <a:t>Checks</a:t>
                      </a:r>
                    </a:p>
                  </a:txBody>
                  <a:tcPr marL="91440" marT="91440">
                    <a:solidFill>
                      <a:srgbClr val="EEEEEE"/>
                    </a:solidFill>
                  </a:tcPr>
                </a:tc>
                <a:tc>
                  <a:txBody>
                    <a:bodyPr/>
                    <a:lstStyle/>
                    <a:p>
                      <a:pPr>
                        <a:defRPr sz="1600" b="1">
                          <a:solidFill>
                            <a:srgbClr val="111111"/>
                          </a:solidFill>
                          <a:latin typeface="Calibri"/>
                        </a:defRPr>
                      </a:pPr>
                      <a:r>
                        <a:t>Tokens</a:t>
                      </a:r>
                    </a:p>
                  </a:txBody>
                  <a:tcPr marL="91440" marT="91440">
                    <a:solidFill>
                      <a:srgbClr val="EEEEEE"/>
                    </a:solidFill>
                  </a:tcPr>
                </a:tc>
                <a:tc>
                  <a:txBody>
                    <a:bodyPr/>
                    <a:lstStyle/>
                    <a:p>
                      <a:pPr>
                        <a:defRPr sz="1600" b="1">
                          <a:solidFill>
                            <a:srgbClr val="111111"/>
                          </a:solidFill>
                          <a:latin typeface="Calibri"/>
                        </a:defRPr>
                      </a:pPr>
                      <a:r>
                        <a:t>Cost</a:t>
                      </a:r>
                    </a:p>
                  </a:txBody>
                  <a:tcPr marL="91440" marT="91440">
                    <a:solidFill>
                      <a:srgbClr val="EEEEEE"/>
                    </a:solidFill>
                  </a:tcPr>
                </a:tc>
                <a:tc>
                  <a:txBody>
                    <a:bodyPr/>
                    <a:lstStyle/>
                    <a:p>
                      <a:pPr>
                        <a:defRPr sz="1600" b="1">
                          <a:solidFill>
                            <a:srgbClr val="111111"/>
                          </a:solidFill>
                          <a:latin typeface="Calibri"/>
                        </a:defRPr>
                      </a:pPr>
                      <a:r>
                        <a:t>Time</a:t>
                      </a:r>
                    </a:p>
                  </a:txBody>
                  <a:tcPr marL="91440" marT="91440">
                    <a:solidFill>
                      <a:srgbClr val="EEEEEE"/>
                    </a:solidFill>
                  </a:tcPr>
                </a:tc>
                <a:tc>
                  <a:txBody>
                    <a:bodyPr/>
                    <a:lstStyle/>
                    <a:p>
                      <a:pPr>
                        <a:defRPr sz="1600" b="1">
                          <a:solidFill>
                            <a:srgbClr val="111111"/>
                          </a:solidFill>
                          <a:latin typeface="Calibri"/>
                        </a:defRPr>
                      </a:pPr>
                      <a:r>
                        <a:t>Test RPS</a:t>
                      </a:r>
                    </a:p>
                  </a:txBody>
                  <a:tcPr marL="91440" marT="91440">
                    <a:solidFill>
                      <a:srgbClr val="EEEEEE"/>
                    </a:solidFill>
                  </a:tcPr>
                </a:tc>
              </a:tr>
              <a:tr h="530352">
                <a:tc>
                  <a:txBody>
                    <a:bodyPr/>
                    <a:lstStyle/>
                    <a:p>
                      <a:pPr>
                        <a:defRPr sz="1600" b="0">
                          <a:solidFill>
                            <a:srgbClr val="111111"/>
                          </a:solidFill>
                          <a:latin typeface="Calibri"/>
                        </a:defRPr>
                      </a:pPr>
                      <a:r>
                        <a:t>Python only</a:t>
                      </a:r>
                    </a:p>
                  </a:txBody>
                  <a:tcPr marL="91440" marT="91440">
                    <a:solidFill>
                      <a:srgbClr val="FFFFFF"/>
                    </a:solidFill>
                  </a:tcPr>
                </a:tc>
                <a:tc>
                  <a:txBody>
                    <a:bodyPr/>
                    <a:lstStyle/>
                    <a:p>
                      <a:pPr>
                        <a:defRPr sz="1600" b="0">
                          <a:solidFill>
                            <a:srgbClr val="111111"/>
                          </a:solidFill>
                          <a:latin typeface="Calibri"/>
                        </a:defRPr>
                      </a:pPr>
                      <a:r>
                        <a:t>0/12</a:t>
                      </a:r>
                    </a:p>
                  </a:txBody>
                  <a:tcPr marL="91440" marT="91440">
                    <a:solidFill>
                      <a:srgbClr val="FFFFFF"/>
                    </a:solidFill>
                  </a:tcPr>
                </a:tc>
                <a:tc>
                  <a:txBody>
                    <a:bodyPr/>
                    <a:lstStyle/>
                    <a:p>
                      <a:pPr>
                        <a:defRPr sz="1600" b="0">
                          <a:solidFill>
                            <a:srgbClr val="111111"/>
                          </a:solidFill>
                          <a:latin typeface="Calibri"/>
                        </a:defRPr>
                      </a:pPr>
                      <a:r>
                        <a:t>236,218</a:t>
                      </a:r>
                    </a:p>
                  </a:txBody>
                  <a:tcPr marL="91440" marT="91440">
                    <a:solidFill>
                      <a:srgbClr val="FFFFFF"/>
                    </a:solidFill>
                  </a:tcPr>
                </a:tc>
                <a:tc>
                  <a:txBody>
                    <a:bodyPr/>
                    <a:lstStyle/>
                    <a:p>
                      <a:pPr>
                        <a:defRPr sz="1600" b="0">
                          <a:solidFill>
                            <a:srgbClr val="111111"/>
                          </a:solidFill>
                          <a:latin typeface="Calibri"/>
                        </a:defRPr>
                      </a:pPr>
                      <a:r>
                        <a:t>$4.38</a:t>
                      </a:r>
                    </a:p>
                  </a:txBody>
                  <a:tcPr marL="91440" marT="91440">
                    <a:solidFill>
                      <a:srgbClr val="FFFFFF"/>
                    </a:solidFill>
                  </a:tcPr>
                </a:tc>
                <a:tc>
                  <a:txBody>
                    <a:bodyPr/>
                    <a:lstStyle/>
                    <a:p>
                      <a:pPr>
                        <a:defRPr sz="1600" b="0">
                          <a:solidFill>
                            <a:srgbClr val="111111"/>
                          </a:solidFill>
                          <a:latin typeface="Calibri"/>
                        </a:defRPr>
                      </a:pPr>
                      <a:r>
                        <a:t>9.6 min</a:t>
                      </a:r>
                    </a:p>
                  </a:txBody>
                  <a:tcPr marL="91440" marT="91440">
                    <a:solidFill>
                      <a:srgbClr val="FFFFFF"/>
                    </a:solidFill>
                  </a:tcPr>
                </a:tc>
                <a:tc>
                  <a:txBody>
                    <a:bodyPr/>
                    <a:lstStyle/>
                    <a:p>
                      <a:pPr>
                        <a:defRPr sz="1600" b="0">
                          <a:solidFill>
                            <a:srgbClr val="111111"/>
                          </a:solidFill>
                          <a:latin typeface="Calibri"/>
                        </a:defRPr>
                      </a:pPr>
                      <a:r>
                        <a:t>—</a:t>
                      </a:r>
                    </a:p>
                  </a:txBody>
                  <a:tcPr marL="91440" marT="91440">
                    <a:solidFill>
                      <a:srgbClr val="FFFFFF"/>
                    </a:solidFill>
                  </a:tcPr>
                </a:tc>
              </a:tr>
              <a:tr h="530352">
                <a:tc>
                  <a:txBody>
                    <a:bodyPr/>
                    <a:lstStyle/>
                    <a:p>
                      <a:pPr>
                        <a:defRPr sz="1600" b="0">
                          <a:solidFill>
                            <a:srgbClr val="111111"/>
                          </a:solidFill>
                          <a:latin typeface="Calibri"/>
                        </a:defRPr>
                      </a:pPr>
                      <a:r>
                        <a:t>Python + Rhiza</a:t>
                      </a:r>
                    </a:p>
                  </a:txBody>
                  <a:tcPr marL="91440" marT="91440">
                    <a:solidFill>
                      <a:srgbClr val="FFFFFF"/>
                    </a:solidFill>
                  </a:tcPr>
                </a:tc>
                <a:tc>
                  <a:txBody>
                    <a:bodyPr/>
                    <a:lstStyle/>
                    <a:p>
                      <a:pPr>
                        <a:defRPr sz="1600" b="0">
                          <a:solidFill>
                            <a:srgbClr val="111111"/>
                          </a:solidFill>
                          <a:latin typeface="Calibri"/>
                        </a:defRPr>
                      </a:pPr>
                      <a:r>
                        <a:t>11/12</a:t>
                      </a:r>
                    </a:p>
                  </a:txBody>
                  <a:tcPr marL="91440" marT="91440">
                    <a:solidFill>
                      <a:srgbClr val="FFFFFF"/>
                    </a:solidFill>
                  </a:tcPr>
                </a:tc>
                <a:tc>
                  <a:txBody>
                    <a:bodyPr/>
                    <a:lstStyle/>
                    <a:p>
                      <a:pPr>
                        <a:defRPr sz="1600" b="0">
                          <a:solidFill>
                            <a:srgbClr val="111111"/>
                          </a:solidFill>
                          <a:latin typeface="Calibri"/>
                        </a:defRPr>
                      </a:pPr>
                      <a:r>
                        <a:t>327,196</a:t>
                      </a:r>
                    </a:p>
                  </a:txBody>
                  <a:tcPr marL="91440" marT="91440">
                    <a:solidFill>
                      <a:srgbClr val="FFFFFF"/>
                    </a:solidFill>
                  </a:tcPr>
                </a:tc>
                <a:tc>
                  <a:txBody>
                    <a:bodyPr/>
                    <a:lstStyle/>
                    <a:p>
                      <a:pPr>
                        <a:defRPr sz="1600" b="0">
                          <a:solidFill>
                            <a:srgbClr val="111111"/>
                          </a:solidFill>
                          <a:latin typeface="Calibri"/>
                        </a:defRPr>
                      </a:pPr>
                      <a:r>
                        <a:t>$4.28</a:t>
                      </a:r>
                    </a:p>
                  </a:txBody>
                  <a:tcPr marL="91440" marT="91440">
                    <a:solidFill>
                      <a:srgbClr val="FFFFFF"/>
                    </a:solidFill>
                  </a:tcPr>
                </a:tc>
                <a:tc>
                  <a:txBody>
                    <a:bodyPr/>
                    <a:lstStyle/>
                    <a:p>
                      <a:pPr>
                        <a:defRPr sz="1600" b="0">
                          <a:solidFill>
                            <a:srgbClr val="111111"/>
                          </a:solidFill>
                          <a:latin typeface="Calibri"/>
                        </a:defRPr>
                      </a:pPr>
                      <a:r>
                        <a:t>5.7 min</a:t>
                      </a:r>
                    </a:p>
                  </a:txBody>
                  <a:tcPr marL="91440" marT="91440">
                    <a:solidFill>
                      <a:srgbClr val="FFFFFF"/>
                    </a:solidFill>
                  </a:tcPr>
                </a:tc>
                <a:tc>
                  <a:txBody>
                    <a:bodyPr/>
                    <a:lstStyle/>
                    <a:p>
                      <a:pPr>
                        <a:defRPr sz="1600" b="0">
                          <a:solidFill>
                            <a:srgbClr val="111111"/>
                          </a:solidFill>
                          <a:latin typeface="Calibri"/>
                        </a:defRPr>
                      </a:pPr>
                      <a:r>
                        <a:t>0.278</a:t>
                      </a:r>
                    </a:p>
                  </a:txBody>
                  <a:tcPr marL="91440" marT="91440">
                    <a:solidFill>
                      <a:srgbClr val="FFFFFF"/>
                    </a:solidFill>
                  </a:tcPr>
                </a:tc>
              </a:tr>
              <a:tr h="530352">
                <a:tc>
                  <a:txBody>
                    <a:bodyPr/>
                    <a:lstStyle/>
                    <a:p>
                      <a:pPr>
                        <a:defRPr sz="1600" b="0">
                          <a:solidFill>
                            <a:srgbClr val="111111"/>
                          </a:solidFill>
                          <a:latin typeface="Calibri"/>
                        </a:defRPr>
                      </a:pPr>
                      <a:r>
                        <a:t>Python + ACCORD</a:t>
                      </a:r>
                    </a:p>
                  </a:txBody>
                  <a:tcPr marL="91440" marT="91440">
                    <a:solidFill>
                      <a:srgbClr val="FFFFFF"/>
                    </a:solidFill>
                  </a:tcPr>
                </a:tc>
                <a:tc>
                  <a:txBody>
                    <a:bodyPr/>
                    <a:lstStyle/>
                    <a:p>
                      <a:pPr>
                        <a:defRPr sz="1600" b="0">
                          <a:solidFill>
                            <a:srgbClr val="111111"/>
                          </a:solidFill>
                          <a:latin typeface="Calibri"/>
                        </a:defRPr>
                      </a:pPr>
                      <a:r>
                        <a:t>0/12</a:t>
                      </a:r>
                    </a:p>
                  </a:txBody>
                  <a:tcPr marL="91440" marT="91440">
                    <a:solidFill>
                      <a:srgbClr val="FFFFFF"/>
                    </a:solidFill>
                  </a:tcPr>
                </a:tc>
                <a:tc>
                  <a:txBody>
                    <a:bodyPr/>
                    <a:lstStyle/>
                    <a:p>
                      <a:pPr>
                        <a:defRPr sz="1600" b="0">
                          <a:solidFill>
                            <a:srgbClr val="111111"/>
                          </a:solidFill>
                          <a:latin typeface="Calibri"/>
                        </a:defRPr>
                      </a:pPr>
                      <a:r>
                        <a:t>341,771</a:t>
                      </a:r>
                    </a:p>
                  </a:txBody>
                  <a:tcPr marL="91440" marT="91440">
                    <a:solidFill>
                      <a:srgbClr val="FFFFFF"/>
                    </a:solidFill>
                  </a:tcPr>
                </a:tc>
                <a:tc>
                  <a:txBody>
                    <a:bodyPr/>
                    <a:lstStyle/>
                    <a:p>
                      <a:pPr>
                        <a:defRPr sz="1600" b="0">
                          <a:solidFill>
                            <a:srgbClr val="111111"/>
                          </a:solidFill>
                          <a:latin typeface="Calibri"/>
                        </a:defRPr>
                      </a:pPr>
                      <a:r>
                        <a:t>$4.51</a:t>
                      </a:r>
                    </a:p>
                  </a:txBody>
                  <a:tcPr marL="91440" marT="91440">
                    <a:solidFill>
                      <a:srgbClr val="FFFFFF"/>
                    </a:solidFill>
                  </a:tcPr>
                </a:tc>
                <a:tc>
                  <a:txBody>
                    <a:bodyPr/>
                    <a:lstStyle/>
                    <a:p>
                      <a:pPr>
                        <a:defRPr sz="1600" b="0">
                          <a:solidFill>
                            <a:srgbClr val="111111"/>
                          </a:solidFill>
                          <a:latin typeface="Calibri"/>
                        </a:defRPr>
                      </a:pPr>
                      <a:r>
                        <a:t>6.0 min</a:t>
                      </a:r>
                    </a:p>
                  </a:txBody>
                  <a:tcPr marL="91440" marT="91440">
                    <a:solidFill>
                      <a:srgbClr val="FFFFFF"/>
                    </a:solidFill>
                  </a:tcPr>
                </a:tc>
                <a:tc>
                  <a:txBody>
                    <a:bodyPr/>
                    <a:lstStyle/>
                    <a:p>
                      <a:pPr>
                        <a:defRPr sz="1600" b="0">
                          <a:solidFill>
                            <a:srgbClr val="111111"/>
                          </a:solidFill>
                          <a:latin typeface="Calibri"/>
                        </a:defRPr>
                      </a:pPr>
                      <a:r>
                        <a:t>—</a:t>
                      </a:r>
                    </a:p>
                  </a:txBody>
                  <a:tcPr marL="91440" marT="91440">
                    <a:solidFill>
                      <a:srgbClr val="FFFFFF"/>
                    </a:solidFill>
                  </a:tcPr>
                </a:tc>
              </a:tr>
            </a:tbl>
          </a:graphicData>
        </a:graphic>
      </p:graphicFrame>
      <p:sp>
        <p:nvSpPr>
          <p:cNvPr id="6" name="TextBox 5"/>
          <p:cNvSpPr txBox="1"/>
          <p:nvPr/>
        </p:nvSpPr>
        <p:spPr>
          <a:xfrm>
            <a:off x="548640" y="4709160"/>
            <a:ext cx="11064240" cy="914400"/>
          </a:xfrm>
          <a:prstGeom prst="rect">
            <a:avLst/>
          </a:prstGeom>
          <a:noFill/>
        </p:spPr>
        <p:txBody>
          <a:bodyPr wrap="square" lIns="0" rIns="0">
            <a:spAutoFit/>
          </a:bodyPr>
          <a:lstStyle/>
          <a:p>
            <a:pPr>
              <a:spcAft>
                <a:spcPts val="1200"/>
              </a:spcAft>
              <a:defRPr sz="1800" b="0">
                <a:solidFill>
                  <a:srgbClr val="111111"/>
                </a:solidFill>
                <a:latin typeface="Calibri"/>
              </a:defRPr>
            </a:pPr>
            <a:r>
              <a:t>Rhiza reached 11/12 checks on the first attempt. ACCORD inspected the libraries but wrote its own calibration and did not complete. No library advantage established.</a:t>
            </a:r>
          </a:p>
        </p:txBody>
      </p:sp>
      <p:sp>
        <p:nvSpPr>
          <p:cNvPr id="7" name="TextBox 6"/>
          <p:cNvSpPr txBox="1"/>
          <p:nvPr/>
        </p:nvSpPr>
        <p:spPr>
          <a:xfrm>
            <a:off x="548640" y="5669280"/>
            <a:ext cx="11064240" cy="502920"/>
          </a:xfrm>
          <a:prstGeom prst="rect">
            <a:avLst/>
          </a:prstGeom>
          <a:noFill/>
        </p:spPr>
        <p:txBody>
          <a:bodyPr wrap="square" lIns="0" rIns="0">
            <a:spAutoFit/>
          </a:bodyPr>
          <a:lstStyle/>
          <a:p>
            <a:pPr>
              <a:spcAft>
                <a:spcPts val="1200"/>
              </a:spcAft>
              <a:defRPr sz="1200" b="0">
                <a:solidFill>
                  <a:srgbClr val="6B6B6B"/>
                </a:solidFill>
                <a:latin typeface="Calibri"/>
              </a:defRPr>
            </a:pPr>
            <a:r>
              <a:t>RPS is lower-is-better; two previously inspected development years, not untouched scientific validation.</a:t>
            </a:r>
          </a:p>
          <a:p>
            <a:pPr>
              <a:spcAft>
                <a:spcPts val="1200"/>
              </a:spcAft>
              <a:defRPr sz="1200" b="0">
                <a:solidFill>
                  <a:srgbClr val="6B6B6B"/>
                </a:solidFill>
                <a:latin typeface="Calibri"/>
              </a:defRPr>
            </a:pPr>
            <a:r>
              <a:t>Numerical checks, offline replay and an evidence-citing LLM judge assess the outputs.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a:spAutoFit/>
          </a:bodyPr>
          <a:lstStyle/>
          <a:p>
            <a:pPr>
              <a:spcAft>
                <a:spcPts val="1200"/>
              </a:spcAft>
              <a:defRPr sz="3000" b="1">
                <a:solidFill>
                  <a:srgbClr val="111111"/>
                </a:solidFill>
                <a:latin typeface="Calibri"/>
              </a:defRPr>
            </a:pPr>
            <a:r>
              <a:t>What survives into the next forecast?</a:t>
            </a:r>
          </a:p>
        </p:txBody>
      </p:sp>
      <p:sp>
        <p:nvSpPr>
          <p:cNvPr id="3" name="TextBox 2"/>
          <p:cNvSpPr txBox="1"/>
          <p:nvPr/>
        </p:nvSpPr>
        <p:spPr>
          <a:xfrm>
            <a:off x="548640" y="6400800"/>
            <a:ext cx="11064240" cy="274320"/>
          </a:xfrm>
          <a:prstGeom prst="rect">
            <a:avLst/>
          </a:prstGeom>
          <a:noFill/>
        </p:spPr>
        <p:txBody>
          <a:bodyPr wrap="square" lIns="0" rIns="0">
            <a:spAutoFit/>
          </a:bodyPr>
          <a:lstStyle/>
          <a:p>
            <a:pPr>
              <a:spcAft>
                <a:spcPts val="1200"/>
              </a:spcAft>
              <a:defRPr sz="1000" b="0">
                <a:solidFill>
                  <a:srgbClr val="6B6B6B"/>
                </a:solidFill>
                <a:latin typeface="Calibri"/>
              </a:defRPr>
            </a:pPr>
            <a:r>
              <a:t>ACCORD weather pilot · development smoke · 1 Oct 2026 · 18</a:t>
            </a:r>
          </a:p>
        </p:txBody>
      </p:sp>
      <p:sp>
        <p:nvSpPr>
          <p:cNvPr id="4" name="TextBox 3"/>
          <p:cNvSpPr txBox="1"/>
          <p:nvPr/>
        </p:nvSpPr>
        <p:spPr>
          <a:xfrm>
            <a:off x="548640" y="1371600"/>
            <a:ext cx="11064240" cy="640080"/>
          </a:xfrm>
          <a:prstGeom prst="rect">
            <a:avLst/>
          </a:prstGeom>
          <a:noFill/>
        </p:spPr>
        <p:txBody>
          <a:bodyPr wrap="square" lIns="0" rIns="0">
            <a:spAutoFit/>
          </a:bodyPr>
          <a:lstStyle/>
          <a:p>
            <a:pPr>
              <a:spcAft>
                <a:spcPts val="1200"/>
              </a:spcAft>
              <a:defRPr sz="1800" b="0">
                <a:solidFill>
                  <a:srgbClr val="111111"/>
                </a:solidFill>
                <a:latin typeface="Calibri"/>
              </a:defRPr>
            </a:pPr>
            <a:r>
              <a:t>Fresh conversation, same arm’s saved code, fitted model, data and handoff notes. Apply to a different forecast batch.</a:t>
            </a:r>
          </a:p>
        </p:txBody>
      </p:sp>
      <p:graphicFrame>
        <p:nvGraphicFramePr>
          <p:cNvPr id="5" name="Table 4"/>
          <p:cNvGraphicFramePr>
            <a:graphicFrameLocks noGrp="1"/>
          </p:cNvGraphicFramePr>
          <p:nvPr/>
        </p:nvGraphicFramePr>
        <p:xfrm>
          <a:off x="548640" y="2331720"/>
          <a:ext cx="11064240" cy="2121408"/>
        </p:xfrm>
        <a:graphic>
          <a:graphicData uri="http://schemas.openxmlformats.org/drawingml/2006/table">
            <a:tbl>
              <a:tblPr firstRow="1" bandRow="1">
                <a:tableStyleId>{5C22544A-7EE6-4342-B048-85BDC9FD1C3A}</a:tableStyleId>
              </a:tblPr>
              <a:tblGrid>
                <a:gridCol w="2103120"/>
                <a:gridCol w="1920240"/>
                <a:gridCol w="2011680"/>
                <a:gridCol w="3200400"/>
                <a:gridCol w="1828800"/>
              </a:tblGrid>
              <a:tr h="530352">
                <a:tc>
                  <a:txBody>
                    <a:bodyPr/>
                    <a:lstStyle/>
                    <a:p>
                      <a:pPr>
                        <a:defRPr sz="1600" b="1">
                          <a:solidFill>
                            <a:srgbClr val="111111"/>
                          </a:solidFill>
                          <a:latin typeface="Calibri"/>
                        </a:defRPr>
                      </a:pPr>
                      <a:r>
                        <a:t>Arm</a:t>
                      </a:r>
                    </a:p>
                  </a:txBody>
                  <a:tcPr marL="91440" marT="91440">
                    <a:solidFill>
                      <a:srgbClr val="EEEEEE"/>
                    </a:solidFill>
                  </a:tcPr>
                </a:tc>
                <a:tc>
                  <a:txBody>
                    <a:bodyPr/>
                    <a:lstStyle/>
                    <a:p>
                      <a:pPr>
                        <a:defRPr sz="1600" b="1">
                          <a:solidFill>
                            <a:srgbClr val="111111"/>
                          </a:solidFill>
                          <a:latin typeface="Calibri"/>
                        </a:defRPr>
                      </a:pPr>
                      <a:r>
                        <a:t>Saved state</a:t>
                      </a:r>
                    </a:p>
                  </a:txBody>
                  <a:tcPr marL="91440" marT="91440">
                    <a:solidFill>
                      <a:srgbClr val="EEEEEE"/>
                    </a:solidFill>
                  </a:tcPr>
                </a:tc>
                <a:tc>
                  <a:txBody>
                    <a:bodyPr/>
                    <a:lstStyle/>
                    <a:p>
                      <a:pPr>
                        <a:defRPr sz="1600" b="1">
                          <a:solidFill>
                            <a:srgbClr val="111111"/>
                          </a:solidFill>
                          <a:latin typeface="Calibri"/>
                        </a:defRPr>
                      </a:pPr>
                      <a:r>
                        <a:t>Follow-up checks</a:t>
                      </a:r>
                    </a:p>
                  </a:txBody>
                  <a:tcPr marL="91440" marT="91440">
                    <a:solidFill>
                      <a:srgbClr val="EEEEEE"/>
                    </a:solidFill>
                  </a:tcPr>
                </a:tc>
                <a:tc>
                  <a:txBody>
                    <a:bodyPr/>
                    <a:lstStyle/>
                    <a:p>
                      <a:pPr>
                        <a:defRPr sz="1600" b="1">
                          <a:solidFill>
                            <a:srgbClr val="111111"/>
                          </a:solidFill>
                          <a:latin typeface="Calibri"/>
                        </a:defRPr>
                      </a:pPr>
                      <a:r>
                        <a:t>Initial → follow-up cost</a:t>
                      </a:r>
                    </a:p>
                  </a:txBody>
                  <a:tcPr marL="91440" marT="91440">
                    <a:solidFill>
                      <a:srgbClr val="EEEEEE"/>
                    </a:solidFill>
                  </a:tcPr>
                </a:tc>
                <a:tc>
                  <a:txBody>
                    <a:bodyPr/>
                    <a:lstStyle/>
                    <a:p>
                      <a:pPr>
                        <a:defRPr sz="1600" b="1">
                          <a:solidFill>
                            <a:srgbClr val="111111"/>
                          </a:solidFill>
                          <a:latin typeface="Calibri"/>
                        </a:defRPr>
                      </a:pPr>
                      <a:r>
                        <a:t>Follow-up time</a:t>
                      </a:r>
                    </a:p>
                  </a:txBody>
                  <a:tcPr marL="91440" marT="91440">
                    <a:solidFill>
                      <a:srgbClr val="EEEEEE"/>
                    </a:solidFill>
                  </a:tcPr>
                </a:tc>
              </a:tr>
              <a:tr h="530352">
                <a:tc>
                  <a:txBody>
                    <a:bodyPr/>
                    <a:lstStyle/>
                    <a:p>
                      <a:pPr>
                        <a:defRPr sz="1600" b="0">
                          <a:solidFill>
                            <a:srgbClr val="111111"/>
                          </a:solidFill>
                          <a:latin typeface="Calibri"/>
                        </a:defRPr>
                      </a:pPr>
                      <a:r>
                        <a:t>Python only</a:t>
                      </a:r>
                    </a:p>
                  </a:txBody>
                  <a:tcPr marL="91440" marT="91440">
                    <a:solidFill>
                      <a:srgbClr val="FFFFFF"/>
                    </a:solidFill>
                  </a:tcPr>
                </a:tc>
                <a:tc>
                  <a:txBody>
                    <a:bodyPr/>
                    <a:lstStyle/>
                    <a:p>
                      <a:pPr>
                        <a:defRPr sz="1600" b="0">
                          <a:solidFill>
                            <a:srgbClr val="111111"/>
                          </a:solidFill>
                          <a:latin typeface="Calibri"/>
                        </a:defRPr>
                      </a:pPr>
                      <a:r>
                        <a:t>code only</a:t>
                      </a:r>
                    </a:p>
                  </a:txBody>
                  <a:tcPr marL="91440" marT="91440">
                    <a:solidFill>
                      <a:srgbClr val="FFFFFF"/>
                    </a:solidFill>
                  </a:tcPr>
                </a:tc>
                <a:tc>
                  <a:txBody>
                    <a:bodyPr/>
                    <a:lstStyle/>
                    <a:p>
                      <a:pPr>
                        <a:defRPr sz="1600" b="0">
                          <a:solidFill>
                            <a:srgbClr val="111111"/>
                          </a:solidFill>
                          <a:latin typeface="Calibri"/>
                        </a:defRPr>
                      </a:pPr>
                      <a:r>
                        <a:t>11/12</a:t>
                      </a:r>
                    </a:p>
                  </a:txBody>
                  <a:tcPr marL="91440" marT="91440">
                    <a:solidFill>
                      <a:srgbClr val="FFFFFF"/>
                    </a:solidFill>
                  </a:tcPr>
                </a:tc>
                <a:tc>
                  <a:txBody>
                    <a:bodyPr/>
                    <a:lstStyle/>
                    <a:p>
                      <a:pPr>
                        <a:defRPr sz="1600" b="0">
                          <a:solidFill>
                            <a:srgbClr val="111111"/>
                          </a:solidFill>
                          <a:latin typeface="Calibri"/>
                        </a:defRPr>
                      </a:pPr>
                      <a:r>
                        <a:t>$4.38 → $3.65</a:t>
                      </a:r>
                    </a:p>
                  </a:txBody>
                  <a:tcPr marL="91440" marT="91440">
                    <a:solidFill>
                      <a:srgbClr val="FFFFFF"/>
                    </a:solidFill>
                  </a:tcPr>
                </a:tc>
                <a:tc>
                  <a:txBody>
                    <a:bodyPr/>
                    <a:lstStyle/>
                    <a:p>
                      <a:pPr>
                        <a:defRPr sz="1600" b="0">
                          <a:solidFill>
                            <a:srgbClr val="111111"/>
                          </a:solidFill>
                          <a:latin typeface="Calibri"/>
                        </a:defRPr>
                      </a:pPr>
                      <a:r>
                        <a:t>5.7 min</a:t>
                      </a:r>
                    </a:p>
                  </a:txBody>
                  <a:tcPr marL="91440" marT="91440">
                    <a:solidFill>
                      <a:srgbClr val="FFFFFF"/>
                    </a:solidFill>
                  </a:tcPr>
                </a:tc>
              </a:tr>
              <a:tr h="530352">
                <a:tc>
                  <a:txBody>
                    <a:bodyPr/>
                    <a:lstStyle/>
                    <a:p>
                      <a:pPr>
                        <a:defRPr sz="1600" b="0">
                          <a:solidFill>
                            <a:srgbClr val="111111"/>
                          </a:solidFill>
                          <a:latin typeface="Calibri"/>
                        </a:defRPr>
                      </a:pPr>
                      <a:r>
                        <a:t>Python + Rhiza</a:t>
                      </a:r>
                    </a:p>
                  </a:txBody>
                  <a:tcPr marL="91440" marT="91440">
                    <a:solidFill>
                      <a:srgbClr val="FFFFFF"/>
                    </a:solidFill>
                  </a:tcPr>
                </a:tc>
                <a:tc>
                  <a:txBody>
                    <a:bodyPr/>
                    <a:lstStyle/>
                    <a:p>
                      <a:pPr>
                        <a:defRPr sz="1600" b="0">
                          <a:solidFill>
                            <a:srgbClr val="111111"/>
                          </a:solidFill>
                          <a:latin typeface="Calibri"/>
                        </a:defRPr>
                      </a:pPr>
                      <a:r>
                        <a:t>model.nc</a:t>
                      </a:r>
                    </a:p>
                  </a:txBody>
                  <a:tcPr marL="91440" marT="91440">
                    <a:solidFill>
                      <a:srgbClr val="FFFFFF"/>
                    </a:solidFill>
                  </a:tcPr>
                </a:tc>
                <a:tc>
                  <a:txBody>
                    <a:bodyPr/>
                    <a:lstStyle/>
                    <a:p>
                      <a:pPr>
                        <a:defRPr sz="1600" b="0">
                          <a:solidFill>
                            <a:srgbClr val="111111"/>
                          </a:solidFill>
                          <a:latin typeface="Calibri"/>
                        </a:defRPr>
                      </a:pPr>
                      <a:r>
                        <a:t>11/12</a:t>
                      </a:r>
                    </a:p>
                  </a:txBody>
                  <a:tcPr marL="91440" marT="91440">
                    <a:solidFill>
                      <a:srgbClr val="FFFFFF"/>
                    </a:solidFill>
                  </a:tcPr>
                </a:tc>
                <a:tc>
                  <a:txBody>
                    <a:bodyPr/>
                    <a:lstStyle/>
                    <a:p>
                      <a:pPr>
                        <a:defRPr sz="1600" b="0">
                          <a:solidFill>
                            <a:srgbClr val="111111"/>
                          </a:solidFill>
                          <a:latin typeface="Calibri"/>
                        </a:defRPr>
                      </a:pPr>
                      <a:r>
                        <a:t>$4.28 → $4.20</a:t>
                      </a:r>
                    </a:p>
                  </a:txBody>
                  <a:tcPr marL="91440" marT="91440">
                    <a:solidFill>
                      <a:srgbClr val="FFFFFF"/>
                    </a:solidFill>
                  </a:tcPr>
                </a:tc>
                <a:tc>
                  <a:txBody>
                    <a:bodyPr/>
                    <a:lstStyle/>
                    <a:p>
                      <a:pPr>
                        <a:defRPr sz="1600" b="0">
                          <a:solidFill>
                            <a:srgbClr val="111111"/>
                          </a:solidFill>
                          <a:latin typeface="Calibri"/>
                        </a:defRPr>
                      </a:pPr>
                      <a:r>
                        <a:t>3.4 min</a:t>
                      </a:r>
                    </a:p>
                  </a:txBody>
                  <a:tcPr marL="91440" marT="91440">
                    <a:solidFill>
                      <a:srgbClr val="FFFFFF"/>
                    </a:solidFill>
                  </a:tcPr>
                </a:tc>
              </a:tr>
              <a:tr h="530352">
                <a:tc>
                  <a:txBody>
                    <a:bodyPr/>
                    <a:lstStyle/>
                    <a:p>
                      <a:pPr>
                        <a:defRPr sz="1600" b="0">
                          <a:solidFill>
                            <a:srgbClr val="111111"/>
                          </a:solidFill>
                          <a:latin typeface="Calibri"/>
                        </a:defRPr>
                      </a:pPr>
                      <a:r>
                        <a:t>Python + ACCORD</a:t>
                      </a:r>
                    </a:p>
                  </a:txBody>
                  <a:tcPr marL="91440" marT="91440">
                    <a:solidFill>
                      <a:srgbClr val="FFFFFF"/>
                    </a:solidFill>
                  </a:tcPr>
                </a:tc>
                <a:tc>
                  <a:txBody>
                    <a:bodyPr/>
                    <a:lstStyle/>
                    <a:p>
                      <a:pPr>
                        <a:defRPr sz="1600" b="0">
                          <a:solidFill>
                            <a:srgbClr val="111111"/>
                          </a:solidFill>
                          <a:latin typeface="Calibri"/>
                        </a:defRPr>
                      </a:pPr>
                      <a:r>
                        <a:t>code only</a:t>
                      </a:r>
                    </a:p>
                  </a:txBody>
                  <a:tcPr marL="91440" marT="91440">
                    <a:solidFill>
                      <a:srgbClr val="FFFFFF"/>
                    </a:solidFill>
                  </a:tcPr>
                </a:tc>
                <a:tc>
                  <a:txBody>
                    <a:bodyPr/>
                    <a:lstStyle/>
                    <a:p>
                      <a:pPr>
                        <a:defRPr sz="1600" b="0">
                          <a:solidFill>
                            <a:srgbClr val="111111"/>
                          </a:solidFill>
                          <a:latin typeface="Calibri"/>
                        </a:defRPr>
                      </a:pPr>
                      <a:r>
                        <a:t>1/12</a:t>
                      </a:r>
                    </a:p>
                  </a:txBody>
                  <a:tcPr marL="91440" marT="91440">
                    <a:solidFill>
                      <a:srgbClr val="FFFFFF"/>
                    </a:solidFill>
                  </a:tcPr>
                </a:tc>
                <a:tc>
                  <a:txBody>
                    <a:bodyPr/>
                    <a:lstStyle/>
                    <a:p>
                      <a:pPr>
                        <a:defRPr sz="1600" b="0">
                          <a:solidFill>
                            <a:srgbClr val="111111"/>
                          </a:solidFill>
                          <a:latin typeface="Calibri"/>
                        </a:defRPr>
                      </a:pPr>
                      <a:r>
                        <a:t>$4.51 → $4.00+</a:t>
                      </a:r>
                    </a:p>
                  </a:txBody>
                  <a:tcPr marL="91440" marT="91440">
                    <a:solidFill>
                      <a:srgbClr val="FFFFFF"/>
                    </a:solidFill>
                  </a:tcPr>
                </a:tc>
                <a:tc>
                  <a:txBody>
                    <a:bodyPr/>
                    <a:lstStyle/>
                    <a:p>
                      <a:pPr>
                        <a:defRPr sz="1600" b="0">
                          <a:solidFill>
                            <a:srgbClr val="111111"/>
                          </a:solidFill>
                          <a:latin typeface="Calibri"/>
                        </a:defRPr>
                      </a:pPr>
                      <a:r>
                        <a:t>10.0 min</a:t>
                      </a:r>
                    </a:p>
                  </a:txBody>
                  <a:tcPr marL="91440" marT="91440">
                    <a:solidFill>
                      <a:srgbClr val="FFFFFF"/>
                    </a:solidFill>
                  </a:tcPr>
                </a:tc>
              </a:tr>
            </a:tbl>
          </a:graphicData>
        </a:graphic>
      </p:graphicFrame>
      <p:sp>
        <p:nvSpPr>
          <p:cNvPr id="6" name="TextBox 5"/>
          <p:cNvSpPr txBox="1"/>
          <p:nvPr/>
        </p:nvSpPr>
        <p:spPr>
          <a:xfrm>
            <a:off x="548640" y="4709160"/>
            <a:ext cx="11064240" cy="914400"/>
          </a:xfrm>
          <a:prstGeom prst="rect">
            <a:avLst/>
          </a:prstGeom>
          <a:noFill/>
        </p:spPr>
        <p:txBody>
          <a:bodyPr wrap="square" lIns="0" rIns="0">
            <a:spAutoFit/>
          </a:bodyPr>
          <a:lstStyle/>
          <a:p>
            <a:pPr>
              <a:spcAft>
                <a:spcPts val="1200"/>
              </a:spcAft>
              <a:defRPr sz="1800" b="0">
                <a:solidFill>
                  <a:srgbClr val="111111"/>
                </a:solidFill>
                <a:latin typeface="Calibri"/>
              </a:defRPr>
            </a:pPr>
            <a:r>
              <a:t>Rhiza’s frozen predictor ran the next batch in 1.5 s with zero LLM tokens. Conversational cost barely fell ($4.28 → $4.20); scratch recovered, ACCORD stayed incomplete.</a:t>
            </a:r>
          </a:p>
        </p:txBody>
      </p:sp>
      <p:sp>
        <p:nvSpPr>
          <p:cNvPr id="7" name="TextBox 6"/>
          <p:cNvSpPr txBox="1"/>
          <p:nvPr/>
        </p:nvSpPr>
        <p:spPr>
          <a:xfrm>
            <a:off x="548640" y="5669280"/>
            <a:ext cx="11064240" cy="548640"/>
          </a:xfrm>
          <a:prstGeom prst="rect">
            <a:avLst/>
          </a:prstGeom>
          <a:noFill/>
        </p:spPr>
        <p:txBody>
          <a:bodyPr wrap="square" lIns="0" rIns="0">
            <a:spAutoFit/>
          </a:bodyPr>
          <a:lstStyle/>
          <a:p>
            <a:pPr>
              <a:spcAft>
                <a:spcPts val="1200"/>
              </a:spcAft>
              <a:defRPr sz="1200" b="0">
                <a:solidFill>
                  <a:srgbClr val="6B6B6B"/>
                </a:solidFill>
                <a:latin typeface="Calibri"/>
              </a:defRPr>
            </a:pPr>
            <a:r>
              <a:t>All saved code, models, notes, figures and usage are retained. + marks unrecorded usage from a timed-out request.</a:t>
            </a:r>
          </a:p>
          <a:p>
            <a:pPr>
              <a:spcAft>
                <a:spcPts val="1200"/>
              </a:spcAft>
              <a:defRPr sz="1200" b="0">
                <a:solidFill>
                  <a:srgbClr val="6B6B6B"/>
                </a:solidFill>
                <a:latin typeface="Calibri"/>
              </a:defRPr>
            </a:pPr>
            <a:r>
              <a:t>No fresh-workspace controls; recovery from an incomplete initial attempt is not reuse of a working forecast.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2026-09-30T17:09:01Z</dcterms:created>
  <dcterms:modified xsi:type="dcterms:W3CDTF">2026-09-30T17:09:01Z</dcterms:modified>
</cp:coreProperties>
</file>