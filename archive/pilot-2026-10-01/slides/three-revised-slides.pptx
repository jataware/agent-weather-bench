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1" r:id="rId22"/>
    <p:sldId id="272" r:id="rId23"/>
    <p:sldId id="273" r:id="rId24"/>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task is seasonal calibration, not live data retrieval or the IOD task. Forecasts are monthly ECMWF system 51; observations are CHIRPS. Agents convert rates to seasonal totals, aggregate observations with cosine-latitude weights, perform leave-one-year-out validation, and save code, a fitted model, figure, report and notes. Forecast-only inference is offline; verification observations are private to the evaluator. Generic Python is available to all arms; Rhiza adds its catalog and scripts; ACCORD adds africas2s / DeepScale and Rosetta. All arms may retain their own code and cached inputs. Years were previously inspected development years, not untouched validation. Two years per batch cannot establish calibration. Judge evaluates data/provenance, scientific processing, uncertainty/results, communication and reproducibility/reuse. Equal per-attempt limits: $5.50, 15 minutes, 800k total tokens, 60 turns, 16,384 output tokens. Actual model IDs and prices are recorded in run artifacts.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versions: Haiku 4.5, Sonnet 5.5, Fable 5.1. Bars start at zero; completion bars end at 12, cost backgrounds at $5. The spending cap is $5.50. Token counts include repeated context. Haiku scratch passed 3/12 and Haiku Rhiza 7/12. Sonnet scratch passed 9/12; the missing unit metadata caused three gates to fail although values were correct. Sonnet Rhiza passed 12/12. Fable Rhiza passed 11/12 because its replay entrypoint writes to a read-only workspace; predictor calculations worked. Fable scratch and ACCORD passed 12/12. ACCORD initial cost and tokens were higher than Fable scratch despite lower elapsed time. Initial RPS: Fable scratch 0.279029, Sonnet Rhiza 0.279093, Fable ACCORD 0.279452. There is no accuracy advantage. Rhiza agents received catalog names/descriptions/paths but did not execute its scripts or read individual SKILL.md files. ACCORD used the installed EnsembleRegressionMethod fit/save/load/predict APIs. Sonnet + ACCORD was omitted from the experiment matrix, not attempted and failed. These are illustrative single attempts, not a model ranking.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Initial predictions use 2005–2006; follow-up predictions use 2007–2008, previously inspected development years. Two years do not establish calibration or general forecast skill. All three arms retained unchanged fitted-state hashes and cached training arrays. Direct saved-predictor executions took approximately 1–2 seconds with zero LLM calls; the bars measure the full agent follow-up, including checking outputs and reporting. ACCORD initial + follow-up cost $6.27595 versus scratch $7.13088. Rhiza follow-up had the same read-only replay issue as its initial attempt. Without fresh-workspace controls the pilot compares retained workflows but cannot isolate a causal reuse benefit. The observed cost advantage does not establish an accuracy advantage.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lIns="0" rIns="0">
            <a:spAutoFit/>
          </a:bodyPr>
          <a:lstStyle/>
          <a:p>
            <a:pPr>
              <a:spcAft>
                <a:spcPts val="1000"/>
              </a:spcAft>
              <a:defRPr sz="3000" b="1">
                <a:solidFill>
                  <a:srgbClr val="111111"/>
                </a:solidFill>
                <a:latin typeface="Calibri"/>
              </a:defRPr>
            </a:pPr>
            <a:r>
              <a:t>Can coding agents build a reusable seasonal forecast?</a:t>
            </a:r>
          </a:p>
        </p:txBody>
      </p:sp>
      <p:sp>
        <p:nvSpPr>
          <p:cNvPr id="3" name="TextBox 2"/>
          <p:cNvSpPr txBox="1"/>
          <p:nvPr/>
        </p:nvSpPr>
        <p:spPr>
          <a:xfrm>
            <a:off x="548640" y="1371600"/>
            <a:ext cx="11064240" cy="731520"/>
          </a:xfrm>
          <a:prstGeom prst="rect">
            <a:avLst/>
          </a:prstGeom>
          <a:noFill/>
        </p:spPr>
        <p:txBody>
          <a:bodyPr wrap="square" lIns="0" rIns="0">
            <a:spAutoFit/>
          </a:bodyPr>
          <a:lstStyle/>
          <a:p>
            <a:pPr>
              <a:spcAft>
                <a:spcPts val="1000"/>
              </a:spcAft>
              <a:defRPr sz="1800" b="0">
                <a:solidFill>
                  <a:srgbClr val="111111"/>
                </a:solidFill>
                <a:latin typeface="Calibri"/>
              </a:defRPr>
            </a:pPr>
            <a:r>
              <a:t>Task: turn September-issued forecasts into calibrated October–December rainfall probabilities</a:t>
            </a:r>
          </a:p>
          <a:p>
            <a:pPr>
              <a:spcAft>
                <a:spcPts val="1000"/>
              </a:spcAft>
              <a:defRPr sz="1800" b="0">
                <a:solidFill>
                  <a:srgbClr val="111111"/>
                </a:solidFill>
                <a:latin typeface="Calibri"/>
              </a:defRPr>
            </a:pPr>
            <a:r>
              <a:t>for 12 grid cells in Kenya, then reuse the saved workflow for the next forecast batch.</a:t>
            </a:r>
          </a:p>
        </p:txBody>
      </p:sp>
      <p:sp>
        <p:nvSpPr>
          <p:cNvPr id="4" name="TextBox 3"/>
          <p:cNvSpPr txBox="1"/>
          <p:nvPr/>
        </p:nvSpPr>
        <p:spPr>
          <a:xfrm>
            <a:off x="548640" y="6400800"/>
            <a:ext cx="11064240" cy="274320"/>
          </a:xfrm>
          <a:prstGeom prst="rect">
            <a:avLst/>
          </a:prstGeom>
          <a:noFill/>
        </p:spPr>
        <p:txBody>
          <a:bodyPr wrap="square" lIns="0" rIns="0">
            <a:spAutoFit/>
          </a:bodyPr>
          <a:lstStyle/>
          <a:p>
            <a:pPr>
              <a:spcAft>
                <a:spcPts val="1000"/>
              </a:spcAft>
              <a:defRPr sz="1000" b="0">
                <a:solidFill>
                  <a:srgbClr val="6B6B6B"/>
                </a:solidFill>
                <a:latin typeface="Calibri"/>
              </a:defRPr>
            </a:pPr>
            <a:r>
              <a:t>ACCORD weather pilot · revised execution protocol · 1 Oct 2026 · 16</a:t>
            </a:r>
          </a:p>
        </p:txBody>
      </p:sp>
      <p:sp>
        <p:nvSpPr>
          <p:cNvPr id="5" name="Rectangle 4"/>
          <p:cNvSpPr/>
          <p:nvPr/>
        </p:nvSpPr>
        <p:spPr>
          <a:xfrm>
            <a:off x="548640" y="2331720"/>
            <a:ext cx="3383280" cy="8686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76656" y="2423160"/>
            <a:ext cx="3127248" cy="274320"/>
          </a:xfrm>
          <a:prstGeom prst="rect">
            <a:avLst/>
          </a:prstGeom>
          <a:noFill/>
        </p:spPr>
        <p:txBody>
          <a:bodyPr wrap="square" lIns="0" rIns="0">
            <a:spAutoFit/>
          </a:bodyPr>
          <a:lstStyle/>
          <a:p>
            <a:pPr>
              <a:spcAft>
                <a:spcPts val="1000"/>
              </a:spcAft>
              <a:defRPr sz="1900" b="1">
                <a:solidFill>
                  <a:srgbClr val="111111"/>
                </a:solidFill>
                <a:latin typeface="Calibri"/>
              </a:defRPr>
            </a:pPr>
            <a:r>
              <a:t>Same supplied data</a:t>
            </a:r>
          </a:p>
        </p:txBody>
      </p:sp>
      <p:sp>
        <p:nvSpPr>
          <p:cNvPr id="7" name="TextBox 6"/>
          <p:cNvSpPr txBox="1"/>
          <p:nvPr/>
        </p:nvSpPr>
        <p:spPr>
          <a:xfrm>
            <a:off x="676656" y="2816352"/>
            <a:ext cx="3127248" cy="256032"/>
          </a:xfrm>
          <a:prstGeom prst="rect">
            <a:avLst/>
          </a:prstGeom>
          <a:noFill/>
        </p:spPr>
        <p:txBody>
          <a:bodyPr wrap="square" lIns="0" rIns="0">
            <a:spAutoFit/>
          </a:bodyPr>
          <a:lstStyle/>
          <a:p>
            <a:pPr>
              <a:spcAft>
                <a:spcPts val="1000"/>
              </a:spcAft>
              <a:defRPr sz="1200" b="0">
                <a:solidFill>
                  <a:srgbClr val="111111"/>
                </a:solidFill>
                <a:latin typeface="Calibri"/>
              </a:defRPr>
            </a:pPr>
            <a:r>
              <a:t>ECMWF forecasts + CHIRPS observations</a:t>
            </a:r>
          </a:p>
        </p:txBody>
      </p:sp>
      <p:sp>
        <p:nvSpPr>
          <p:cNvPr id="8" name="Rectangle 7"/>
          <p:cNvSpPr/>
          <p:nvPr/>
        </p:nvSpPr>
        <p:spPr>
          <a:xfrm>
            <a:off x="4389120" y="2331720"/>
            <a:ext cx="3383280" cy="8686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17136" y="2423160"/>
            <a:ext cx="3127248" cy="274320"/>
          </a:xfrm>
          <a:prstGeom prst="rect">
            <a:avLst/>
          </a:prstGeom>
          <a:noFill/>
        </p:spPr>
        <p:txBody>
          <a:bodyPr wrap="square" lIns="0" rIns="0">
            <a:spAutoFit/>
          </a:bodyPr>
          <a:lstStyle/>
          <a:p>
            <a:pPr>
              <a:spcAft>
                <a:spcPts val="1000"/>
              </a:spcAft>
              <a:defRPr sz="1900" b="1">
                <a:solidFill>
                  <a:srgbClr val="111111"/>
                </a:solidFill>
                <a:latin typeface="Calibri"/>
              </a:defRPr>
            </a:pPr>
            <a:r>
              <a:t>Build + validate</a:t>
            </a:r>
          </a:p>
        </p:txBody>
      </p:sp>
      <p:sp>
        <p:nvSpPr>
          <p:cNvPr id="10" name="TextBox 9"/>
          <p:cNvSpPr txBox="1"/>
          <p:nvPr/>
        </p:nvSpPr>
        <p:spPr>
          <a:xfrm>
            <a:off x="4517136" y="2816352"/>
            <a:ext cx="3127248" cy="256032"/>
          </a:xfrm>
          <a:prstGeom prst="rect">
            <a:avLst/>
          </a:prstGeom>
          <a:noFill/>
        </p:spPr>
        <p:txBody>
          <a:bodyPr wrap="square" lIns="0" rIns="0">
            <a:spAutoFit/>
          </a:bodyPr>
          <a:lstStyle/>
          <a:p>
            <a:pPr>
              <a:spcAft>
                <a:spcPts val="1000"/>
              </a:spcAft>
              <a:defRPr sz="1200" b="0">
                <a:solidFill>
                  <a:srgbClr val="111111"/>
                </a:solidFill>
                <a:latin typeface="Calibri"/>
              </a:defRPr>
            </a:pPr>
            <a:r>
              <a:t>Train 1993–2004; predict 2005–06</a:t>
            </a:r>
          </a:p>
        </p:txBody>
      </p:sp>
      <p:sp>
        <p:nvSpPr>
          <p:cNvPr id="11" name="Rectangle 10"/>
          <p:cNvSpPr/>
          <p:nvPr/>
        </p:nvSpPr>
        <p:spPr>
          <a:xfrm>
            <a:off x="8229600" y="2331720"/>
            <a:ext cx="3383280" cy="8686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57616" y="2423160"/>
            <a:ext cx="3127248" cy="274320"/>
          </a:xfrm>
          <a:prstGeom prst="rect">
            <a:avLst/>
          </a:prstGeom>
          <a:noFill/>
        </p:spPr>
        <p:txBody>
          <a:bodyPr wrap="square" lIns="0" rIns="0">
            <a:spAutoFit/>
          </a:bodyPr>
          <a:lstStyle/>
          <a:p>
            <a:pPr>
              <a:spcAft>
                <a:spcPts val="1000"/>
              </a:spcAft>
              <a:defRPr sz="1900" b="1">
                <a:solidFill>
                  <a:srgbClr val="111111"/>
                </a:solidFill>
                <a:latin typeface="Calibri"/>
              </a:defRPr>
            </a:pPr>
            <a:r>
              <a:t>Reuse saved work</a:t>
            </a:r>
          </a:p>
        </p:txBody>
      </p:sp>
      <p:sp>
        <p:nvSpPr>
          <p:cNvPr id="13" name="TextBox 12"/>
          <p:cNvSpPr txBox="1"/>
          <p:nvPr/>
        </p:nvSpPr>
        <p:spPr>
          <a:xfrm>
            <a:off x="8357616" y="2816352"/>
            <a:ext cx="3127248" cy="256032"/>
          </a:xfrm>
          <a:prstGeom prst="rect">
            <a:avLst/>
          </a:prstGeom>
          <a:noFill/>
        </p:spPr>
        <p:txBody>
          <a:bodyPr wrap="square" lIns="0" rIns="0">
            <a:spAutoFit/>
          </a:bodyPr>
          <a:lstStyle/>
          <a:p>
            <a:pPr>
              <a:spcAft>
                <a:spcPts val="1000"/>
              </a:spcAft>
              <a:defRPr sz="1200" b="0">
                <a:solidFill>
                  <a:srgbClr val="111111"/>
                </a:solidFill>
                <a:latin typeface="Calibri"/>
              </a:defRPr>
            </a:pPr>
            <a:r>
              <a:t>New conversation; predict 2007–08</a:t>
            </a:r>
          </a:p>
        </p:txBody>
      </p:sp>
      <p:sp>
        <p:nvSpPr>
          <p:cNvPr id="14" name="TextBox 13"/>
          <p:cNvSpPr txBox="1"/>
          <p:nvPr/>
        </p:nvSpPr>
        <p:spPr>
          <a:xfrm>
            <a:off x="4005072" y="2542032"/>
            <a:ext cx="365760" cy="365760"/>
          </a:xfrm>
          <a:prstGeom prst="rect">
            <a:avLst/>
          </a:prstGeom>
          <a:noFill/>
        </p:spPr>
        <p:txBody>
          <a:bodyPr wrap="square" lIns="0" rIns="0">
            <a:spAutoFit/>
          </a:bodyPr>
          <a:lstStyle/>
          <a:p>
            <a:pPr>
              <a:spcAft>
                <a:spcPts val="1000"/>
              </a:spcAft>
              <a:defRPr sz="2200" b="0">
                <a:solidFill>
                  <a:srgbClr val="8A1C1C"/>
                </a:solidFill>
                <a:latin typeface="Calibri"/>
              </a:defRPr>
            </a:pPr>
            <a:r>
              <a:t>→</a:t>
            </a:r>
          </a:p>
        </p:txBody>
      </p:sp>
      <p:sp>
        <p:nvSpPr>
          <p:cNvPr id="15" name="TextBox 14"/>
          <p:cNvSpPr txBox="1"/>
          <p:nvPr/>
        </p:nvSpPr>
        <p:spPr>
          <a:xfrm>
            <a:off x="7845552" y="2542032"/>
            <a:ext cx="365760" cy="365760"/>
          </a:xfrm>
          <a:prstGeom prst="rect">
            <a:avLst/>
          </a:prstGeom>
          <a:noFill/>
        </p:spPr>
        <p:txBody>
          <a:bodyPr wrap="square" lIns="0" rIns="0">
            <a:spAutoFit/>
          </a:bodyPr>
          <a:lstStyle/>
          <a:p>
            <a:pPr>
              <a:spcAft>
                <a:spcPts val="1000"/>
              </a:spcAft>
              <a:defRPr sz="2200" b="0">
                <a:solidFill>
                  <a:srgbClr val="8A1C1C"/>
                </a:solidFill>
                <a:latin typeface="Calibri"/>
              </a:defRPr>
            </a:pPr>
            <a:r>
              <a:t>→</a:t>
            </a:r>
          </a:p>
        </p:txBody>
      </p:sp>
      <p:sp>
        <p:nvSpPr>
          <p:cNvPr id="16" name="TextBox 15"/>
          <p:cNvSpPr txBox="1"/>
          <p:nvPr/>
        </p:nvSpPr>
        <p:spPr>
          <a:xfrm>
            <a:off x="548640" y="3502152"/>
            <a:ext cx="11064240" cy="320040"/>
          </a:xfrm>
          <a:prstGeom prst="rect">
            <a:avLst/>
          </a:prstGeom>
          <a:noFill/>
        </p:spPr>
        <p:txBody>
          <a:bodyPr wrap="square" lIns="0" rIns="0">
            <a:spAutoFit/>
          </a:bodyPr>
          <a:lstStyle/>
          <a:p>
            <a:pPr>
              <a:spcAft>
                <a:spcPts val="1000"/>
              </a:spcAft>
              <a:defRPr sz="2100" b="1">
                <a:solidFill>
                  <a:srgbClr val="111111"/>
                </a:solidFill>
                <a:latin typeface="Calibri"/>
              </a:defRPr>
            </a:pPr>
            <a:r>
              <a:t>Three arms: scratch, Rhiza skills, ACCORD (DeepScale / Rosetta)</a:t>
            </a:r>
          </a:p>
        </p:txBody>
      </p:sp>
      <p:sp>
        <p:nvSpPr>
          <p:cNvPr id="17" name="TextBox 16"/>
          <p:cNvSpPr txBox="1"/>
          <p:nvPr/>
        </p:nvSpPr>
        <p:spPr>
          <a:xfrm>
            <a:off x="548640" y="3995928"/>
            <a:ext cx="3383280" cy="320040"/>
          </a:xfrm>
          <a:prstGeom prst="rect">
            <a:avLst/>
          </a:prstGeom>
          <a:noFill/>
        </p:spPr>
        <p:txBody>
          <a:bodyPr wrap="square" lIns="0" rIns="0">
            <a:spAutoFit/>
          </a:bodyPr>
          <a:lstStyle/>
          <a:p>
            <a:pPr>
              <a:spcAft>
                <a:spcPts val="1000"/>
              </a:spcAft>
              <a:defRPr sz="1900" b="1">
                <a:solidFill>
                  <a:srgbClr val="111111"/>
                </a:solidFill>
                <a:latin typeface="Calibri"/>
              </a:defRPr>
            </a:pPr>
            <a:r>
              <a:t>1  Agent capability</a:t>
            </a:r>
          </a:p>
        </p:txBody>
      </p:sp>
      <p:sp>
        <p:nvSpPr>
          <p:cNvPr id="18" name="TextBox 17"/>
          <p:cNvSpPr txBox="1"/>
          <p:nvPr/>
        </p:nvSpPr>
        <p:spPr>
          <a:xfrm>
            <a:off x="548640" y="4416552"/>
            <a:ext cx="3337560" cy="667512"/>
          </a:xfrm>
          <a:prstGeom prst="rect">
            <a:avLst/>
          </a:prstGeom>
          <a:noFill/>
        </p:spPr>
        <p:txBody>
          <a:bodyPr wrap="square" lIns="0" rIns="0">
            <a:spAutoFit/>
          </a:bodyPr>
          <a:lstStyle/>
          <a:p>
            <a:pPr>
              <a:spcAft>
                <a:spcPts val="1000"/>
              </a:spcAft>
              <a:defRPr sz="1700" b="0">
                <a:solidFill>
                  <a:srgbClr val="111111"/>
                </a:solidFill>
                <a:latin typeface="Calibri"/>
              </a:defRPr>
            </a:pPr>
            <a:r>
              <a:t>Can a stronger model complete the workflow from scratch?</a:t>
            </a:r>
          </a:p>
        </p:txBody>
      </p:sp>
      <p:sp>
        <p:nvSpPr>
          <p:cNvPr id="19" name="TextBox 18"/>
          <p:cNvSpPr txBox="1"/>
          <p:nvPr/>
        </p:nvSpPr>
        <p:spPr>
          <a:xfrm>
            <a:off x="4389120" y="3995928"/>
            <a:ext cx="3383280" cy="320040"/>
          </a:xfrm>
          <a:prstGeom prst="rect">
            <a:avLst/>
          </a:prstGeom>
          <a:noFill/>
        </p:spPr>
        <p:txBody>
          <a:bodyPr wrap="square" lIns="0" rIns="0">
            <a:spAutoFit/>
          </a:bodyPr>
          <a:lstStyle/>
          <a:p>
            <a:pPr>
              <a:spcAft>
                <a:spcPts val="1000"/>
              </a:spcAft>
              <a:defRPr sz="1900" b="1">
                <a:solidFill>
                  <a:srgbClr val="111111"/>
                </a:solidFill>
                <a:latin typeface="Calibri"/>
              </a:defRPr>
            </a:pPr>
            <a:r>
              <a:t>2  Skills and libraries</a:t>
            </a:r>
          </a:p>
        </p:txBody>
      </p:sp>
      <p:sp>
        <p:nvSpPr>
          <p:cNvPr id="20" name="TextBox 19"/>
          <p:cNvSpPr txBox="1"/>
          <p:nvPr/>
        </p:nvSpPr>
        <p:spPr>
          <a:xfrm>
            <a:off x="4389120" y="4416552"/>
            <a:ext cx="3337560" cy="667512"/>
          </a:xfrm>
          <a:prstGeom prst="rect">
            <a:avLst/>
          </a:prstGeom>
          <a:noFill/>
        </p:spPr>
        <p:txBody>
          <a:bodyPr wrap="square" lIns="0" rIns="0">
            <a:spAutoFit/>
          </a:bodyPr>
          <a:lstStyle/>
          <a:p>
            <a:pPr>
              <a:spcAft>
                <a:spcPts val="1000"/>
              </a:spcAft>
              <a:defRPr sz="1700" b="0">
                <a:solidFill>
                  <a:srgbClr val="111111"/>
                </a:solidFill>
                <a:latin typeface="Calibri"/>
              </a:defRPr>
            </a:pPr>
            <a:r>
              <a:t>Does Rhiza or ACCORD make the same task faster and cheaper?</a:t>
            </a:r>
          </a:p>
        </p:txBody>
      </p:sp>
      <p:sp>
        <p:nvSpPr>
          <p:cNvPr id="21" name="TextBox 20"/>
          <p:cNvSpPr txBox="1"/>
          <p:nvPr/>
        </p:nvSpPr>
        <p:spPr>
          <a:xfrm>
            <a:off x="8229600" y="3995928"/>
            <a:ext cx="3383280" cy="320040"/>
          </a:xfrm>
          <a:prstGeom prst="rect">
            <a:avLst/>
          </a:prstGeom>
          <a:noFill/>
        </p:spPr>
        <p:txBody>
          <a:bodyPr wrap="square" lIns="0" rIns="0">
            <a:spAutoFit/>
          </a:bodyPr>
          <a:lstStyle/>
          <a:p>
            <a:pPr>
              <a:spcAft>
                <a:spcPts val="1000"/>
              </a:spcAft>
              <a:defRPr sz="1900" b="1">
                <a:solidFill>
                  <a:srgbClr val="111111"/>
                </a:solidFill>
                <a:latin typeface="Calibri"/>
              </a:defRPr>
            </a:pPr>
            <a:r>
              <a:t>3  Maintained code</a:t>
            </a:r>
          </a:p>
        </p:txBody>
      </p:sp>
      <p:sp>
        <p:nvSpPr>
          <p:cNvPr id="22" name="TextBox 21"/>
          <p:cNvSpPr txBox="1"/>
          <p:nvPr/>
        </p:nvSpPr>
        <p:spPr>
          <a:xfrm>
            <a:off x="8229600" y="4416552"/>
            <a:ext cx="3337560" cy="667512"/>
          </a:xfrm>
          <a:prstGeom prst="rect">
            <a:avLst/>
          </a:prstGeom>
          <a:noFill/>
        </p:spPr>
        <p:txBody>
          <a:bodyPr wrap="square" lIns="0" rIns="0">
            <a:spAutoFit/>
          </a:bodyPr>
          <a:lstStyle/>
          <a:p>
            <a:pPr>
              <a:spcAft>
                <a:spcPts val="1000"/>
              </a:spcAft>
              <a:defRPr sz="1700" b="0">
                <a:solidFill>
                  <a:srgbClr val="111111"/>
                </a:solidFill>
                <a:latin typeface="Calibri"/>
              </a:defRPr>
            </a:pPr>
            <a:r>
              <a:t>Does saved code and fitted state reduce work on the next forecast?</a:t>
            </a:r>
          </a:p>
        </p:txBody>
      </p:sp>
      <p:sp>
        <p:nvSpPr>
          <p:cNvPr id="23" name="TextBox 22"/>
          <p:cNvSpPr txBox="1"/>
          <p:nvPr/>
        </p:nvSpPr>
        <p:spPr>
          <a:xfrm>
            <a:off x="548640" y="5349240"/>
            <a:ext cx="11064240" cy="329184"/>
          </a:xfrm>
          <a:prstGeom prst="rect">
            <a:avLst/>
          </a:prstGeom>
          <a:noFill/>
        </p:spPr>
        <p:txBody>
          <a:bodyPr wrap="square" lIns="0" rIns="0">
            <a:spAutoFit/>
          </a:bodyPr>
          <a:lstStyle/>
          <a:p>
            <a:pPr>
              <a:spcAft>
                <a:spcPts val="1000"/>
              </a:spcAft>
              <a:defRPr sz="2000" b="1">
                <a:solidFill>
                  <a:srgbClr val="111111"/>
                </a:solidFill>
                <a:latin typeface="Calibri"/>
              </a:defRPr>
            </a:pPr>
            <a:r>
              <a:t>Evaluate completion, scientific quality and effort separately</a:t>
            </a:r>
          </a:p>
        </p:txBody>
      </p:sp>
      <p:sp>
        <p:nvSpPr>
          <p:cNvPr id="24" name="TextBox 23"/>
          <p:cNvSpPr txBox="1"/>
          <p:nvPr/>
        </p:nvSpPr>
        <p:spPr>
          <a:xfrm>
            <a:off x="548640" y="5760720"/>
            <a:ext cx="11064240" cy="457200"/>
          </a:xfrm>
          <a:prstGeom prst="rect">
            <a:avLst/>
          </a:prstGeom>
          <a:noFill/>
        </p:spPr>
        <p:txBody>
          <a:bodyPr wrap="square" lIns="0" rIns="0">
            <a:spAutoFit/>
          </a:bodyPr>
          <a:lstStyle/>
          <a:p>
            <a:pPr>
              <a:spcAft>
                <a:spcPts val="1000"/>
              </a:spcAft>
              <a:defRPr sz="1400" b="0">
                <a:solidFill>
                  <a:srgbClr val="555555"/>
                </a:solidFill>
                <a:latin typeface="Calibri"/>
              </a:defRPr>
            </a:pPr>
            <a:r>
              <a:t>12 artifact / calculation / replay checks + evidence-based LLM review; forecast error (RPS, RMSE);</a:t>
            </a:r>
          </a:p>
          <a:p>
            <a:pPr>
              <a:spcAft>
                <a:spcPts val="1000"/>
              </a:spcAft>
              <a:defRPr sz="1400" b="0">
                <a:solidFill>
                  <a:srgbClr val="555555"/>
                </a:solidFill>
                <a:latin typeface="Calibri"/>
              </a:defRPr>
            </a:pPr>
            <a:r>
              <a:t>agent tokens, elapsed time and API cost. Same inputs and limits; only tools and model vary.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lIns="0" rIns="0">
            <a:spAutoFit/>
          </a:bodyPr>
          <a:lstStyle/>
          <a:p>
            <a:pPr>
              <a:spcAft>
                <a:spcPts val="1000"/>
              </a:spcAft>
              <a:defRPr sz="3000" b="1">
                <a:solidFill>
                  <a:srgbClr val="111111"/>
                </a:solidFill>
                <a:latin typeface="Calibri"/>
              </a:defRPr>
            </a:pPr>
            <a:r>
              <a:t>What changes with model capability and tools?</a:t>
            </a:r>
          </a:p>
        </p:txBody>
      </p:sp>
      <p:sp>
        <p:nvSpPr>
          <p:cNvPr id="3" name="TextBox 2"/>
          <p:cNvSpPr txBox="1"/>
          <p:nvPr/>
        </p:nvSpPr>
        <p:spPr>
          <a:xfrm>
            <a:off x="548640" y="1371600"/>
            <a:ext cx="11064240" cy="731520"/>
          </a:xfrm>
          <a:prstGeom prst="rect">
            <a:avLst/>
          </a:prstGeom>
          <a:noFill/>
        </p:spPr>
        <p:txBody>
          <a:bodyPr wrap="square" lIns="0" rIns="0">
            <a:spAutoFit/>
          </a:bodyPr>
          <a:lstStyle/>
          <a:p>
            <a:pPr>
              <a:spcAft>
                <a:spcPts val="1000"/>
              </a:spcAft>
              <a:defRPr sz="1800" b="0">
                <a:solidFill>
                  <a:srgbClr val="111111"/>
                </a:solidFill>
                <a:latin typeface="Calibri"/>
              </a:defRPr>
            </a:pPr>
            <a:r>
              <a:t>Seven initial attempts on the same task. Read completion alongside tokens, time and cost.</a:t>
            </a:r>
          </a:p>
        </p:txBody>
      </p:sp>
      <p:sp>
        <p:nvSpPr>
          <p:cNvPr id="4" name="TextBox 3"/>
          <p:cNvSpPr txBox="1"/>
          <p:nvPr/>
        </p:nvSpPr>
        <p:spPr>
          <a:xfrm>
            <a:off x="548640" y="6400800"/>
            <a:ext cx="11064240" cy="274320"/>
          </a:xfrm>
          <a:prstGeom prst="rect">
            <a:avLst/>
          </a:prstGeom>
          <a:noFill/>
        </p:spPr>
        <p:txBody>
          <a:bodyPr wrap="square" lIns="0" rIns="0">
            <a:spAutoFit/>
          </a:bodyPr>
          <a:lstStyle/>
          <a:p>
            <a:pPr>
              <a:spcAft>
                <a:spcPts val="1000"/>
              </a:spcAft>
              <a:defRPr sz="1000" b="0">
                <a:solidFill>
                  <a:srgbClr val="6B6B6B"/>
                </a:solidFill>
                <a:latin typeface="Calibri"/>
              </a:defRPr>
            </a:pPr>
            <a:r>
              <a:t>ACCORD weather pilot · revised execution protocol · 1 Oct 2026 · 17</a:t>
            </a:r>
          </a:p>
        </p:txBody>
      </p:sp>
      <p:sp>
        <p:nvSpPr>
          <p:cNvPr id="5" name="TextBox 4"/>
          <p:cNvSpPr txBox="1"/>
          <p:nvPr/>
        </p:nvSpPr>
        <p:spPr>
          <a:xfrm>
            <a:off x="548640" y="2167128"/>
            <a:ext cx="2377440" cy="320040"/>
          </a:xfrm>
          <a:prstGeom prst="rect">
            <a:avLst/>
          </a:prstGeom>
          <a:noFill/>
        </p:spPr>
        <p:txBody>
          <a:bodyPr wrap="square" lIns="0" rIns="0">
            <a:spAutoFit/>
          </a:bodyPr>
          <a:lstStyle/>
          <a:p>
            <a:pPr>
              <a:spcAft>
                <a:spcPts val="1000"/>
              </a:spcAft>
              <a:defRPr sz="1500" b="1">
                <a:solidFill>
                  <a:srgbClr val="111111"/>
                </a:solidFill>
                <a:latin typeface="Calibri"/>
              </a:defRPr>
            </a:pPr>
            <a:r>
              <a:t>Model / tools</a:t>
            </a:r>
          </a:p>
        </p:txBody>
      </p:sp>
      <p:sp>
        <p:nvSpPr>
          <p:cNvPr id="6" name="TextBox 5"/>
          <p:cNvSpPr txBox="1"/>
          <p:nvPr/>
        </p:nvSpPr>
        <p:spPr>
          <a:xfrm>
            <a:off x="2788920" y="2167128"/>
            <a:ext cx="2194560" cy="320040"/>
          </a:xfrm>
          <a:prstGeom prst="rect">
            <a:avLst/>
          </a:prstGeom>
          <a:noFill/>
        </p:spPr>
        <p:txBody>
          <a:bodyPr wrap="square" lIns="0" rIns="0">
            <a:spAutoFit/>
          </a:bodyPr>
          <a:lstStyle/>
          <a:p>
            <a:pPr>
              <a:spcAft>
                <a:spcPts val="1000"/>
              </a:spcAft>
              <a:defRPr sz="1500" b="1">
                <a:solidFill>
                  <a:srgbClr val="111111"/>
                </a:solidFill>
                <a:latin typeface="Calibri"/>
              </a:defRPr>
            </a:pPr>
            <a:r>
              <a:t>Checks passed / 12</a:t>
            </a:r>
          </a:p>
        </p:txBody>
      </p:sp>
      <p:sp>
        <p:nvSpPr>
          <p:cNvPr id="7" name="TextBox 6"/>
          <p:cNvSpPr txBox="1"/>
          <p:nvPr/>
        </p:nvSpPr>
        <p:spPr>
          <a:xfrm>
            <a:off x="5577840" y="2167128"/>
            <a:ext cx="2377440" cy="320040"/>
          </a:xfrm>
          <a:prstGeom prst="rect">
            <a:avLst/>
          </a:prstGeom>
          <a:noFill/>
        </p:spPr>
        <p:txBody>
          <a:bodyPr wrap="square" lIns="0" rIns="0">
            <a:spAutoFit/>
          </a:bodyPr>
          <a:lstStyle/>
          <a:p>
            <a:pPr>
              <a:spcAft>
                <a:spcPts val="1000"/>
              </a:spcAft>
              <a:defRPr sz="1500" b="1">
                <a:solidFill>
                  <a:srgbClr val="111111"/>
                </a:solidFill>
                <a:latin typeface="Calibri"/>
              </a:defRPr>
            </a:pPr>
            <a:r>
              <a:t>Agent API cost ($)</a:t>
            </a:r>
          </a:p>
        </p:txBody>
      </p:sp>
      <p:sp>
        <p:nvSpPr>
          <p:cNvPr id="8" name="TextBox 7"/>
          <p:cNvSpPr txBox="1"/>
          <p:nvPr/>
        </p:nvSpPr>
        <p:spPr>
          <a:xfrm>
            <a:off x="8887968" y="2167128"/>
            <a:ext cx="1188720" cy="320040"/>
          </a:xfrm>
          <a:prstGeom prst="rect">
            <a:avLst/>
          </a:prstGeom>
          <a:noFill/>
        </p:spPr>
        <p:txBody>
          <a:bodyPr wrap="square" lIns="0" rIns="0">
            <a:spAutoFit/>
          </a:bodyPr>
          <a:lstStyle/>
          <a:p>
            <a:pPr>
              <a:spcAft>
                <a:spcPts val="1000"/>
              </a:spcAft>
              <a:defRPr sz="1500" b="1">
                <a:solidFill>
                  <a:srgbClr val="111111"/>
                </a:solidFill>
                <a:latin typeface="Calibri"/>
              </a:defRPr>
            </a:pPr>
            <a:r>
              <a:t>Tokens</a:t>
            </a:r>
          </a:p>
        </p:txBody>
      </p:sp>
      <p:sp>
        <p:nvSpPr>
          <p:cNvPr id="9" name="TextBox 8"/>
          <p:cNvSpPr txBox="1"/>
          <p:nvPr/>
        </p:nvSpPr>
        <p:spPr>
          <a:xfrm>
            <a:off x="10332720" y="2167128"/>
            <a:ext cx="1097280" cy="320040"/>
          </a:xfrm>
          <a:prstGeom prst="rect">
            <a:avLst/>
          </a:prstGeom>
          <a:noFill/>
        </p:spPr>
        <p:txBody>
          <a:bodyPr wrap="square" lIns="0" rIns="0">
            <a:spAutoFit/>
          </a:bodyPr>
          <a:lstStyle/>
          <a:p>
            <a:pPr>
              <a:spcAft>
                <a:spcPts val="1000"/>
              </a:spcAft>
              <a:defRPr sz="1500" b="1">
                <a:solidFill>
                  <a:srgbClr val="111111"/>
                </a:solidFill>
                <a:latin typeface="Calibri"/>
              </a:defRPr>
            </a:pPr>
            <a:r>
              <a:t>Minutes</a:t>
            </a:r>
          </a:p>
        </p:txBody>
      </p:sp>
      <p:sp>
        <p:nvSpPr>
          <p:cNvPr id="10" name="TextBox 9"/>
          <p:cNvSpPr txBox="1"/>
          <p:nvPr/>
        </p:nvSpPr>
        <p:spPr>
          <a:xfrm>
            <a:off x="548640" y="2642616"/>
            <a:ext cx="2240280" cy="283464"/>
          </a:xfrm>
          <a:prstGeom prst="rect">
            <a:avLst/>
          </a:prstGeom>
          <a:noFill/>
        </p:spPr>
        <p:txBody>
          <a:bodyPr wrap="square" lIns="0" rIns="0">
            <a:spAutoFit/>
          </a:bodyPr>
          <a:lstStyle/>
          <a:p>
            <a:pPr>
              <a:spcAft>
                <a:spcPts val="1000"/>
              </a:spcAft>
              <a:defRPr sz="1600" b="0">
                <a:solidFill>
                  <a:srgbClr val="111111"/>
                </a:solidFill>
                <a:latin typeface="Calibri"/>
              </a:defRPr>
            </a:pPr>
            <a:r>
              <a:t>Haiku / scratch</a:t>
            </a:r>
          </a:p>
        </p:txBody>
      </p:sp>
      <p:sp>
        <p:nvSpPr>
          <p:cNvPr id="11" name="Rectangle 10"/>
          <p:cNvSpPr/>
          <p:nvPr/>
        </p:nvSpPr>
        <p:spPr>
          <a:xfrm>
            <a:off x="2788920" y="2697479"/>
            <a:ext cx="182880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88920" y="2697479"/>
            <a:ext cx="457200" cy="182880"/>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80" y="2642616"/>
            <a:ext cx="685800" cy="283464"/>
          </a:xfrm>
          <a:prstGeom prst="rect">
            <a:avLst/>
          </a:prstGeom>
          <a:noFill/>
        </p:spPr>
        <p:txBody>
          <a:bodyPr wrap="square" lIns="0" rIns="0">
            <a:spAutoFit/>
          </a:bodyPr>
          <a:lstStyle/>
          <a:p>
            <a:pPr>
              <a:spcAft>
                <a:spcPts val="1000"/>
              </a:spcAft>
              <a:defRPr sz="1400" b="0">
                <a:solidFill>
                  <a:srgbClr val="111111"/>
                </a:solidFill>
                <a:latin typeface="Calibri"/>
              </a:defRPr>
            </a:pPr>
            <a:r>
              <a:t>3/12</a:t>
            </a:r>
          </a:p>
        </p:txBody>
      </p:sp>
      <p:sp>
        <p:nvSpPr>
          <p:cNvPr id="14" name="Rectangle 13"/>
          <p:cNvSpPr/>
          <p:nvPr/>
        </p:nvSpPr>
        <p:spPr>
          <a:xfrm>
            <a:off x="5577840" y="2697479"/>
            <a:ext cx="256032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77840" y="2697479"/>
            <a:ext cx="469997" cy="182880"/>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2642616"/>
            <a:ext cx="640080" cy="283464"/>
          </a:xfrm>
          <a:prstGeom prst="rect">
            <a:avLst/>
          </a:prstGeom>
          <a:noFill/>
        </p:spPr>
        <p:txBody>
          <a:bodyPr wrap="square" lIns="0" rIns="0">
            <a:spAutoFit/>
          </a:bodyPr>
          <a:lstStyle/>
          <a:p>
            <a:pPr>
              <a:spcAft>
                <a:spcPts val="1000"/>
              </a:spcAft>
              <a:defRPr sz="1400" b="0">
                <a:solidFill>
                  <a:srgbClr val="111111"/>
                </a:solidFill>
                <a:latin typeface="Calibri"/>
              </a:defRPr>
            </a:pPr>
            <a:r>
              <a:t>$0.92</a:t>
            </a:r>
          </a:p>
        </p:txBody>
      </p:sp>
      <p:sp>
        <p:nvSpPr>
          <p:cNvPr id="17" name="TextBox 16"/>
          <p:cNvSpPr txBox="1"/>
          <p:nvPr/>
        </p:nvSpPr>
        <p:spPr>
          <a:xfrm>
            <a:off x="8887968" y="2642616"/>
            <a:ext cx="1280160" cy="283464"/>
          </a:xfrm>
          <a:prstGeom prst="rect">
            <a:avLst/>
          </a:prstGeom>
          <a:noFill/>
        </p:spPr>
        <p:txBody>
          <a:bodyPr wrap="square" lIns="0" rIns="0">
            <a:spAutoFit/>
          </a:bodyPr>
          <a:lstStyle/>
          <a:p>
            <a:pPr>
              <a:spcAft>
                <a:spcPts val="1000"/>
              </a:spcAft>
              <a:defRPr sz="1500" b="0">
                <a:solidFill>
                  <a:srgbClr val="111111"/>
                </a:solidFill>
                <a:latin typeface="Calibri"/>
              </a:defRPr>
            </a:pPr>
            <a:r>
              <a:t>776,678</a:t>
            </a:r>
          </a:p>
        </p:txBody>
      </p:sp>
      <p:sp>
        <p:nvSpPr>
          <p:cNvPr id="18" name="TextBox 17"/>
          <p:cNvSpPr txBox="1"/>
          <p:nvPr/>
        </p:nvSpPr>
        <p:spPr>
          <a:xfrm>
            <a:off x="10332720" y="2642616"/>
            <a:ext cx="1005840" cy="283464"/>
          </a:xfrm>
          <a:prstGeom prst="rect">
            <a:avLst/>
          </a:prstGeom>
          <a:noFill/>
        </p:spPr>
        <p:txBody>
          <a:bodyPr wrap="square" lIns="0" rIns="0">
            <a:spAutoFit/>
          </a:bodyPr>
          <a:lstStyle/>
          <a:p>
            <a:pPr>
              <a:spcAft>
                <a:spcPts val="1000"/>
              </a:spcAft>
              <a:defRPr sz="1500" b="0">
                <a:solidFill>
                  <a:srgbClr val="111111"/>
                </a:solidFill>
                <a:latin typeface="Calibri"/>
              </a:defRPr>
            </a:pPr>
            <a:r>
              <a:t>4.5</a:t>
            </a:r>
          </a:p>
        </p:txBody>
      </p:sp>
      <p:sp>
        <p:nvSpPr>
          <p:cNvPr id="19" name="TextBox 18"/>
          <p:cNvSpPr txBox="1"/>
          <p:nvPr/>
        </p:nvSpPr>
        <p:spPr>
          <a:xfrm>
            <a:off x="548640" y="2999232"/>
            <a:ext cx="2240280" cy="283464"/>
          </a:xfrm>
          <a:prstGeom prst="rect">
            <a:avLst/>
          </a:prstGeom>
          <a:noFill/>
        </p:spPr>
        <p:txBody>
          <a:bodyPr wrap="square" lIns="0" rIns="0">
            <a:spAutoFit/>
          </a:bodyPr>
          <a:lstStyle/>
          <a:p>
            <a:pPr>
              <a:spcAft>
                <a:spcPts val="1000"/>
              </a:spcAft>
              <a:defRPr sz="1600" b="0">
                <a:solidFill>
                  <a:srgbClr val="111111"/>
                </a:solidFill>
                <a:latin typeface="Calibri"/>
              </a:defRPr>
            </a:pPr>
            <a:r>
              <a:t>Haiku / Rhiza</a:t>
            </a:r>
          </a:p>
        </p:txBody>
      </p:sp>
      <p:sp>
        <p:nvSpPr>
          <p:cNvPr id="20" name="Rectangle 19"/>
          <p:cNvSpPr/>
          <p:nvPr/>
        </p:nvSpPr>
        <p:spPr>
          <a:xfrm>
            <a:off x="2788920" y="3054096"/>
            <a:ext cx="182880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788920" y="3054096"/>
            <a:ext cx="1066800" cy="182880"/>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54880" y="2999232"/>
            <a:ext cx="685800" cy="283464"/>
          </a:xfrm>
          <a:prstGeom prst="rect">
            <a:avLst/>
          </a:prstGeom>
          <a:noFill/>
        </p:spPr>
        <p:txBody>
          <a:bodyPr wrap="square" lIns="0" rIns="0">
            <a:spAutoFit/>
          </a:bodyPr>
          <a:lstStyle/>
          <a:p>
            <a:pPr>
              <a:spcAft>
                <a:spcPts val="1000"/>
              </a:spcAft>
              <a:defRPr sz="1400" b="0">
                <a:solidFill>
                  <a:srgbClr val="111111"/>
                </a:solidFill>
                <a:latin typeface="Calibri"/>
              </a:defRPr>
            </a:pPr>
            <a:r>
              <a:t>7/12</a:t>
            </a:r>
          </a:p>
        </p:txBody>
      </p:sp>
      <p:sp>
        <p:nvSpPr>
          <p:cNvPr id="23" name="Rectangle 22"/>
          <p:cNvSpPr/>
          <p:nvPr/>
        </p:nvSpPr>
        <p:spPr>
          <a:xfrm>
            <a:off x="5577840" y="3054096"/>
            <a:ext cx="256032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577840" y="3054096"/>
            <a:ext cx="439363" cy="182880"/>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0" y="2999232"/>
            <a:ext cx="640080" cy="283464"/>
          </a:xfrm>
          <a:prstGeom prst="rect">
            <a:avLst/>
          </a:prstGeom>
          <a:noFill/>
        </p:spPr>
        <p:txBody>
          <a:bodyPr wrap="square" lIns="0" rIns="0">
            <a:spAutoFit/>
          </a:bodyPr>
          <a:lstStyle/>
          <a:p>
            <a:pPr>
              <a:spcAft>
                <a:spcPts val="1000"/>
              </a:spcAft>
              <a:defRPr sz="1400" b="0">
                <a:solidFill>
                  <a:srgbClr val="111111"/>
                </a:solidFill>
                <a:latin typeface="Calibri"/>
              </a:defRPr>
            </a:pPr>
            <a:r>
              <a:t>$0.86</a:t>
            </a:r>
          </a:p>
        </p:txBody>
      </p:sp>
      <p:sp>
        <p:nvSpPr>
          <p:cNvPr id="26" name="TextBox 25"/>
          <p:cNvSpPr txBox="1"/>
          <p:nvPr/>
        </p:nvSpPr>
        <p:spPr>
          <a:xfrm>
            <a:off x="8887968" y="2999232"/>
            <a:ext cx="1280160" cy="283464"/>
          </a:xfrm>
          <a:prstGeom prst="rect">
            <a:avLst/>
          </a:prstGeom>
          <a:noFill/>
        </p:spPr>
        <p:txBody>
          <a:bodyPr wrap="square" lIns="0" rIns="0">
            <a:spAutoFit/>
          </a:bodyPr>
          <a:lstStyle/>
          <a:p>
            <a:pPr>
              <a:spcAft>
                <a:spcPts val="1000"/>
              </a:spcAft>
              <a:defRPr sz="1500" b="0">
                <a:solidFill>
                  <a:srgbClr val="111111"/>
                </a:solidFill>
                <a:latin typeface="Calibri"/>
              </a:defRPr>
            </a:pPr>
            <a:r>
              <a:t>748,020</a:t>
            </a:r>
          </a:p>
        </p:txBody>
      </p:sp>
      <p:sp>
        <p:nvSpPr>
          <p:cNvPr id="27" name="TextBox 26"/>
          <p:cNvSpPr txBox="1"/>
          <p:nvPr/>
        </p:nvSpPr>
        <p:spPr>
          <a:xfrm>
            <a:off x="10332720" y="2999232"/>
            <a:ext cx="1005840" cy="283464"/>
          </a:xfrm>
          <a:prstGeom prst="rect">
            <a:avLst/>
          </a:prstGeom>
          <a:noFill/>
        </p:spPr>
        <p:txBody>
          <a:bodyPr wrap="square" lIns="0" rIns="0">
            <a:spAutoFit/>
          </a:bodyPr>
          <a:lstStyle/>
          <a:p>
            <a:pPr>
              <a:spcAft>
                <a:spcPts val="1000"/>
              </a:spcAft>
              <a:defRPr sz="1500" b="0">
                <a:solidFill>
                  <a:srgbClr val="111111"/>
                </a:solidFill>
                <a:latin typeface="Calibri"/>
              </a:defRPr>
            </a:pPr>
            <a:r>
              <a:t>3.8</a:t>
            </a:r>
          </a:p>
        </p:txBody>
      </p:sp>
      <p:sp>
        <p:nvSpPr>
          <p:cNvPr id="28" name="TextBox 27"/>
          <p:cNvSpPr txBox="1"/>
          <p:nvPr/>
        </p:nvSpPr>
        <p:spPr>
          <a:xfrm>
            <a:off x="548640" y="3355848"/>
            <a:ext cx="2240280" cy="283464"/>
          </a:xfrm>
          <a:prstGeom prst="rect">
            <a:avLst/>
          </a:prstGeom>
          <a:noFill/>
        </p:spPr>
        <p:txBody>
          <a:bodyPr wrap="square" lIns="0" rIns="0">
            <a:spAutoFit/>
          </a:bodyPr>
          <a:lstStyle/>
          <a:p>
            <a:pPr>
              <a:spcAft>
                <a:spcPts val="1000"/>
              </a:spcAft>
              <a:defRPr sz="1600" b="0">
                <a:solidFill>
                  <a:srgbClr val="111111"/>
                </a:solidFill>
                <a:latin typeface="Calibri"/>
              </a:defRPr>
            </a:pPr>
            <a:r>
              <a:t>Sonnet / scratch</a:t>
            </a:r>
          </a:p>
        </p:txBody>
      </p:sp>
      <p:sp>
        <p:nvSpPr>
          <p:cNvPr id="29" name="Rectangle 28"/>
          <p:cNvSpPr/>
          <p:nvPr/>
        </p:nvSpPr>
        <p:spPr>
          <a:xfrm>
            <a:off x="2788920" y="3410712"/>
            <a:ext cx="182880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788920" y="3410712"/>
            <a:ext cx="1371600" cy="182880"/>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54880" y="3355848"/>
            <a:ext cx="685800" cy="283464"/>
          </a:xfrm>
          <a:prstGeom prst="rect">
            <a:avLst/>
          </a:prstGeom>
          <a:noFill/>
        </p:spPr>
        <p:txBody>
          <a:bodyPr wrap="square" lIns="0" rIns="0">
            <a:spAutoFit/>
          </a:bodyPr>
          <a:lstStyle/>
          <a:p>
            <a:pPr>
              <a:spcAft>
                <a:spcPts val="1000"/>
              </a:spcAft>
              <a:defRPr sz="1400" b="0">
                <a:solidFill>
                  <a:srgbClr val="111111"/>
                </a:solidFill>
                <a:latin typeface="Calibri"/>
              </a:defRPr>
            </a:pPr>
            <a:r>
              <a:t>9/12</a:t>
            </a:r>
          </a:p>
        </p:txBody>
      </p:sp>
      <p:sp>
        <p:nvSpPr>
          <p:cNvPr id="32" name="Rectangle 31"/>
          <p:cNvSpPr/>
          <p:nvPr/>
        </p:nvSpPr>
        <p:spPr>
          <a:xfrm>
            <a:off x="5577840" y="3410712"/>
            <a:ext cx="256032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577840" y="3410712"/>
            <a:ext cx="135653" cy="182880"/>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0" y="3355848"/>
            <a:ext cx="640080" cy="283464"/>
          </a:xfrm>
          <a:prstGeom prst="rect">
            <a:avLst/>
          </a:prstGeom>
          <a:noFill/>
        </p:spPr>
        <p:txBody>
          <a:bodyPr wrap="square" lIns="0" rIns="0">
            <a:spAutoFit/>
          </a:bodyPr>
          <a:lstStyle/>
          <a:p>
            <a:pPr>
              <a:spcAft>
                <a:spcPts val="1000"/>
              </a:spcAft>
              <a:defRPr sz="1400" b="0">
                <a:solidFill>
                  <a:srgbClr val="111111"/>
                </a:solidFill>
                <a:latin typeface="Calibri"/>
              </a:defRPr>
            </a:pPr>
            <a:r>
              <a:t>$0.26</a:t>
            </a:r>
          </a:p>
        </p:txBody>
      </p:sp>
      <p:sp>
        <p:nvSpPr>
          <p:cNvPr id="35" name="TextBox 34"/>
          <p:cNvSpPr txBox="1"/>
          <p:nvPr/>
        </p:nvSpPr>
        <p:spPr>
          <a:xfrm>
            <a:off x="8887968" y="3355848"/>
            <a:ext cx="1280160" cy="283464"/>
          </a:xfrm>
          <a:prstGeom prst="rect">
            <a:avLst/>
          </a:prstGeom>
          <a:noFill/>
        </p:spPr>
        <p:txBody>
          <a:bodyPr wrap="square" lIns="0" rIns="0">
            <a:spAutoFit/>
          </a:bodyPr>
          <a:lstStyle/>
          <a:p>
            <a:pPr>
              <a:spcAft>
                <a:spcPts val="1000"/>
              </a:spcAft>
              <a:defRPr sz="1500" b="0">
                <a:solidFill>
                  <a:srgbClr val="111111"/>
                </a:solidFill>
                <a:latin typeface="Calibri"/>
              </a:defRPr>
            </a:pPr>
            <a:r>
              <a:t>86,410</a:t>
            </a:r>
          </a:p>
        </p:txBody>
      </p:sp>
      <p:sp>
        <p:nvSpPr>
          <p:cNvPr id="36" name="TextBox 35"/>
          <p:cNvSpPr txBox="1"/>
          <p:nvPr/>
        </p:nvSpPr>
        <p:spPr>
          <a:xfrm>
            <a:off x="10332720" y="3355848"/>
            <a:ext cx="1005840" cy="283464"/>
          </a:xfrm>
          <a:prstGeom prst="rect">
            <a:avLst/>
          </a:prstGeom>
          <a:noFill/>
        </p:spPr>
        <p:txBody>
          <a:bodyPr wrap="square" lIns="0" rIns="0">
            <a:spAutoFit/>
          </a:bodyPr>
          <a:lstStyle/>
          <a:p>
            <a:pPr>
              <a:spcAft>
                <a:spcPts val="1000"/>
              </a:spcAft>
              <a:defRPr sz="1500" b="0">
                <a:solidFill>
                  <a:srgbClr val="111111"/>
                </a:solidFill>
                <a:latin typeface="Calibri"/>
              </a:defRPr>
            </a:pPr>
            <a:r>
              <a:t>1.6</a:t>
            </a:r>
          </a:p>
        </p:txBody>
      </p:sp>
      <p:sp>
        <p:nvSpPr>
          <p:cNvPr id="37" name="TextBox 36"/>
          <p:cNvSpPr txBox="1"/>
          <p:nvPr/>
        </p:nvSpPr>
        <p:spPr>
          <a:xfrm>
            <a:off x="548640" y="3712463"/>
            <a:ext cx="2240280" cy="283464"/>
          </a:xfrm>
          <a:prstGeom prst="rect">
            <a:avLst/>
          </a:prstGeom>
          <a:noFill/>
        </p:spPr>
        <p:txBody>
          <a:bodyPr wrap="square" lIns="0" rIns="0">
            <a:spAutoFit/>
          </a:bodyPr>
          <a:lstStyle/>
          <a:p>
            <a:pPr>
              <a:spcAft>
                <a:spcPts val="1000"/>
              </a:spcAft>
              <a:defRPr sz="1600" b="0">
                <a:solidFill>
                  <a:srgbClr val="111111"/>
                </a:solidFill>
                <a:latin typeface="Calibri"/>
              </a:defRPr>
            </a:pPr>
            <a:r>
              <a:t>Sonnet / Rhiza</a:t>
            </a:r>
          </a:p>
        </p:txBody>
      </p:sp>
      <p:sp>
        <p:nvSpPr>
          <p:cNvPr id="38" name="Rectangle 37"/>
          <p:cNvSpPr/>
          <p:nvPr/>
        </p:nvSpPr>
        <p:spPr>
          <a:xfrm>
            <a:off x="2788920" y="3767328"/>
            <a:ext cx="182880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2788920" y="3767328"/>
            <a:ext cx="1828800" cy="182880"/>
          </a:xfrm>
          <a:prstGeom prst="rect">
            <a:avLst/>
          </a:prstGeom>
          <a:solidFill>
            <a:srgbClr val="8A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754880" y="3712463"/>
            <a:ext cx="685800" cy="283464"/>
          </a:xfrm>
          <a:prstGeom prst="rect">
            <a:avLst/>
          </a:prstGeom>
          <a:noFill/>
        </p:spPr>
        <p:txBody>
          <a:bodyPr wrap="square" lIns="0" rIns="0">
            <a:spAutoFit/>
          </a:bodyPr>
          <a:lstStyle/>
          <a:p>
            <a:pPr>
              <a:spcAft>
                <a:spcPts val="1000"/>
              </a:spcAft>
              <a:defRPr sz="1400" b="0">
                <a:solidFill>
                  <a:srgbClr val="111111"/>
                </a:solidFill>
                <a:latin typeface="Calibri"/>
              </a:defRPr>
            </a:pPr>
            <a:r>
              <a:t>12/12</a:t>
            </a:r>
          </a:p>
        </p:txBody>
      </p:sp>
      <p:sp>
        <p:nvSpPr>
          <p:cNvPr id="41" name="Rectangle 40"/>
          <p:cNvSpPr/>
          <p:nvPr/>
        </p:nvSpPr>
        <p:spPr>
          <a:xfrm>
            <a:off x="5577840" y="3767328"/>
            <a:ext cx="256032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577840" y="3767328"/>
            <a:ext cx="184300" cy="182880"/>
          </a:xfrm>
          <a:prstGeom prst="rect">
            <a:avLst/>
          </a:prstGeom>
          <a:solidFill>
            <a:srgbClr val="8A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229600" y="3712463"/>
            <a:ext cx="640080" cy="283464"/>
          </a:xfrm>
          <a:prstGeom prst="rect">
            <a:avLst/>
          </a:prstGeom>
          <a:noFill/>
        </p:spPr>
        <p:txBody>
          <a:bodyPr wrap="square" lIns="0" rIns="0">
            <a:spAutoFit/>
          </a:bodyPr>
          <a:lstStyle/>
          <a:p>
            <a:pPr>
              <a:spcAft>
                <a:spcPts val="1000"/>
              </a:spcAft>
              <a:defRPr sz="1400" b="0">
                <a:solidFill>
                  <a:srgbClr val="111111"/>
                </a:solidFill>
                <a:latin typeface="Calibri"/>
              </a:defRPr>
            </a:pPr>
            <a:r>
              <a:t>$0.36</a:t>
            </a:r>
          </a:p>
        </p:txBody>
      </p:sp>
      <p:sp>
        <p:nvSpPr>
          <p:cNvPr id="44" name="TextBox 43"/>
          <p:cNvSpPr txBox="1"/>
          <p:nvPr/>
        </p:nvSpPr>
        <p:spPr>
          <a:xfrm>
            <a:off x="8887968" y="3712463"/>
            <a:ext cx="1280160" cy="283464"/>
          </a:xfrm>
          <a:prstGeom prst="rect">
            <a:avLst/>
          </a:prstGeom>
          <a:noFill/>
        </p:spPr>
        <p:txBody>
          <a:bodyPr wrap="square" lIns="0" rIns="0">
            <a:spAutoFit/>
          </a:bodyPr>
          <a:lstStyle/>
          <a:p>
            <a:pPr>
              <a:spcAft>
                <a:spcPts val="1000"/>
              </a:spcAft>
              <a:defRPr sz="1500" b="0">
                <a:solidFill>
                  <a:srgbClr val="111111"/>
                </a:solidFill>
                <a:latin typeface="Calibri"/>
              </a:defRPr>
            </a:pPr>
            <a:r>
              <a:t>132,946</a:t>
            </a:r>
          </a:p>
        </p:txBody>
      </p:sp>
      <p:sp>
        <p:nvSpPr>
          <p:cNvPr id="45" name="TextBox 44"/>
          <p:cNvSpPr txBox="1"/>
          <p:nvPr/>
        </p:nvSpPr>
        <p:spPr>
          <a:xfrm>
            <a:off x="10332720" y="3712463"/>
            <a:ext cx="1005840" cy="283464"/>
          </a:xfrm>
          <a:prstGeom prst="rect">
            <a:avLst/>
          </a:prstGeom>
          <a:noFill/>
        </p:spPr>
        <p:txBody>
          <a:bodyPr wrap="square" lIns="0" rIns="0">
            <a:spAutoFit/>
          </a:bodyPr>
          <a:lstStyle/>
          <a:p>
            <a:pPr>
              <a:spcAft>
                <a:spcPts val="1000"/>
              </a:spcAft>
              <a:defRPr sz="1500" b="0">
                <a:solidFill>
                  <a:srgbClr val="111111"/>
                </a:solidFill>
                <a:latin typeface="Calibri"/>
              </a:defRPr>
            </a:pPr>
            <a:r>
              <a:t>1.6</a:t>
            </a:r>
          </a:p>
        </p:txBody>
      </p:sp>
      <p:sp>
        <p:nvSpPr>
          <p:cNvPr id="46" name="TextBox 45"/>
          <p:cNvSpPr txBox="1"/>
          <p:nvPr/>
        </p:nvSpPr>
        <p:spPr>
          <a:xfrm>
            <a:off x="548640" y="4069080"/>
            <a:ext cx="2240280" cy="283464"/>
          </a:xfrm>
          <a:prstGeom prst="rect">
            <a:avLst/>
          </a:prstGeom>
          <a:noFill/>
        </p:spPr>
        <p:txBody>
          <a:bodyPr wrap="square" lIns="0" rIns="0">
            <a:spAutoFit/>
          </a:bodyPr>
          <a:lstStyle/>
          <a:p>
            <a:pPr>
              <a:spcAft>
                <a:spcPts val="1000"/>
              </a:spcAft>
              <a:defRPr sz="1600" b="0">
                <a:solidFill>
                  <a:srgbClr val="111111"/>
                </a:solidFill>
                <a:latin typeface="Calibri"/>
              </a:defRPr>
            </a:pPr>
            <a:r>
              <a:t>Fable / scratch</a:t>
            </a:r>
          </a:p>
        </p:txBody>
      </p:sp>
      <p:sp>
        <p:nvSpPr>
          <p:cNvPr id="47" name="Rectangle 46"/>
          <p:cNvSpPr/>
          <p:nvPr/>
        </p:nvSpPr>
        <p:spPr>
          <a:xfrm>
            <a:off x="2788920" y="4123944"/>
            <a:ext cx="182880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2788920" y="4123944"/>
            <a:ext cx="1828800" cy="182880"/>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754880" y="4069080"/>
            <a:ext cx="685800" cy="283464"/>
          </a:xfrm>
          <a:prstGeom prst="rect">
            <a:avLst/>
          </a:prstGeom>
          <a:noFill/>
        </p:spPr>
        <p:txBody>
          <a:bodyPr wrap="square" lIns="0" rIns="0">
            <a:spAutoFit/>
          </a:bodyPr>
          <a:lstStyle/>
          <a:p>
            <a:pPr>
              <a:spcAft>
                <a:spcPts val="1000"/>
              </a:spcAft>
              <a:defRPr sz="1400" b="0">
                <a:solidFill>
                  <a:srgbClr val="111111"/>
                </a:solidFill>
                <a:latin typeface="Calibri"/>
              </a:defRPr>
            </a:pPr>
            <a:r>
              <a:t>12/12</a:t>
            </a:r>
          </a:p>
        </p:txBody>
      </p:sp>
      <p:sp>
        <p:nvSpPr>
          <p:cNvPr id="50" name="Rectangle 49"/>
          <p:cNvSpPr/>
          <p:nvPr/>
        </p:nvSpPr>
        <p:spPr>
          <a:xfrm>
            <a:off x="5577840" y="4123944"/>
            <a:ext cx="256032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5577840" y="4123944"/>
            <a:ext cx="1720857" cy="182880"/>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229600" y="4069080"/>
            <a:ext cx="640080" cy="283464"/>
          </a:xfrm>
          <a:prstGeom prst="rect">
            <a:avLst/>
          </a:prstGeom>
          <a:noFill/>
        </p:spPr>
        <p:txBody>
          <a:bodyPr wrap="square" lIns="0" rIns="0">
            <a:spAutoFit/>
          </a:bodyPr>
          <a:lstStyle/>
          <a:p>
            <a:pPr>
              <a:spcAft>
                <a:spcPts val="1000"/>
              </a:spcAft>
              <a:defRPr sz="1400" b="0">
                <a:solidFill>
                  <a:srgbClr val="111111"/>
                </a:solidFill>
                <a:latin typeface="Calibri"/>
              </a:defRPr>
            </a:pPr>
            <a:r>
              <a:t>$3.36</a:t>
            </a:r>
          </a:p>
        </p:txBody>
      </p:sp>
      <p:sp>
        <p:nvSpPr>
          <p:cNvPr id="53" name="TextBox 52"/>
          <p:cNvSpPr txBox="1"/>
          <p:nvPr/>
        </p:nvSpPr>
        <p:spPr>
          <a:xfrm>
            <a:off x="8887968" y="4069080"/>
            <a:ext cx="1280160" cy="283464"/>
          </a:xfrm>
          <a:prstGeom prst="rect">
            <a:avLst/>
          </a:prstGeom>
          <a:noFill/>
        </p:spPr>
        <p:txBody>
          <a:bodyPr wrap="square" lIns="0" rIns="0">
            <a:spAutoFit/>
          </a:bodyPr>
          <a:lstStyle/>
          <a:p>
            <a:pPr>
              <a:spcAft>
                <a:spcPts val="1000"/>
              </a:spcAft>
              <a:defRPr sz="1500" b="0">
                <a:solidFill>
                  <a:srgbClr val="111111"/>
                </a:solidFill>
                <a:latin typeface="Calibri"/>
              </a:defRPr>
            </a:pPr>
            <a:r>
              <a:t>260,515</a:t>
            </a:r>
          </a:p>
        </p:txBody>
      </p:sp>
      <p:sp>
        <p:nvSpPr>
          <p:cNvPr id="54" name="TextBox 53"/>
          <p:cNvSpPr txBox="1"/>
          <p:nvPr/>
        </p:nvSpPr>
        <p:spPr>
          <a:xfrm>
            <a:off x="10332720" y="4069080"/>
            <a:ext cx="1005840" cy="283464"/>
          </a:xfrm>
          <a:prstGeom prst="rect">
            <a:avLst/>
          </a:prstGeom>
          <a:noFill/>
        </p:spPr>
        <p:txBody>
          <a:bodyPr wrap="square" lIns="0" rIns="0">
            <a:spAutoFit/>
          </a:bodyPr>
          <a:lstStyle/>
          <a:p>
            <a:pPr>
              <a:spcAft>
                <a:spcPts val="1000"/>
              </a:spcAft>
              <a:defRPr sz="1500" b="0">
                <a:solidFill>
                  <a:srgbClr val="111111"/>
                </a:solidFill>
                <a:latin typeface="Calibri"/>
              </a:defRPr>
            </a:pPr>
            <a:r>
              <a:t>4.9</a:t>
            </a:r>
          </a:p>
        </p:txBody>
      </p:sp>
      <p:sp>
        <p:nvSpPr>
          <p:cNvPr id="55" name="TextBox 54"/>
          <p:cNvSpPr txBox="1"/>
          <p:nvPr/>
        </p:nvSpPr>
        <p:spPr>
          <a:xfrm>
            <a:off x="548640" y="4425696"/>
            <a:ext cx="2240280" cy="283464"/>
          </a:xfrm>
          <a:prstGeom prst="rect">
            <a:avLst/>
          </a:prstGeom>
          <a:noFill/>
        </p:spPr>
        <p:txBody>
          <a:bodyPr wrap="square" lIns="0" rIns="0">
            <a:spAutoFit/>
          </a:bodyPr>
          <a:lstStyle/>
          <a:p>
            <a:pPr>
              <a:spcAft>
                <a:spcPts val="1000"/>
              </a:spcAft>
              <a:defRPr sz="1600" b="0">
                <a:solidFill>
                  <a:srgbClr val="111111"/>
                </a:solidFill>
                <a:latin typeface="Calibri"/>
              </a:defRPr>
            </a:pPr>
            <a:r>
              <a:t>Fable / Rhiza</a:t>
            </a:r>
          </a:p>
        </p:txBody>
      </p:sp>
      <p:sp>
        <p:nvSpPr>
          <p:cNvPr id="56" name="Rectangle 55"/>
          <p:cNvSpPr/>
          <p:nvPr/>
        </p:nvSpPr>
        <p:spPr>
          <a:xfrm>
            <a:off x="2788920" y="4480560"/>
            <a:ext cx="182880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2788920" y="4480560"/>
            <a:ext cx="1676400" cy="182880"/>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754880" y="4425696"/>
            <a:ext cx="685800" cy="283464"/>
          </a:xfrm>
          <a:prstGeom prst="rect">
            <a:avLst/>
          </a:prstGeom>
          <a:noFill/>
        </p:spPr>
        <p:txBody>
          <a:bodyPr wrap="square" lIns="0" rIns="0">
            <a:spAutoFit/>
          </a:bodyPr>
          <a:lstStyle/>
          <a:p>
            <a:pPr>
              <a:spcAft>
                <a:spcPts val="1000"/>
              </a:spcAft>
              <a:defRPr sz="1400" b="0">
                <a:solidFill>
                  <a:srgbClr val="111111"/>
                </a:solidFill>
                <a:latin typeface="Calibri"/>
              </a:defRPr>
            </a:pPr>
            <a:r>
              <a:t>11/12</a:t>
            </a:r>
          </a:p>
        </p:txBody>
      </p:sp>
      <p:sp>
        <p:nvSpPr>
          <p:cNvPr id="59" name="Rectangle 58"/>
          <p:cNvSpPr/>
          <p:nvPr/>
        </p:nvSpPr>
        <p:spPr>
          <a:xfrm>
            <a:off x="5577840" y="4480560"/>
            <a:ext cx="256032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5577840" y="4480560"/>
            <a:ext cx="2264198" cy="182880"/>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229600" y="4425696"/>
            <a:ext cx="640080" cy="283464"/>
          </a:xfrm>
          <a:prstGeom prst="rect">
            <a:avLst/>
          </a:prstGeom>
          <a:noFill/>
        </p:spPr>
        <p:txBody>
          <a:bodyPr wrap="square" lIns="0" rIns="0">
            <a:spAutoFit/>
          </a:bodyPr>
          <a:lstStyle/>
          <a:p>
            <a:pPr>
              <a:spcAft>
                <a:spcPts val="1000"/>
              </a:spcAft>
              <a:defRPr sz="1400" b="0">
                <a:solidFill>
                  <a:srgbClr val="111111"/>
                </a:solidFill>
                <a:latin typeface="Calibri"/>
              </a:defRPr>
            </a:pPr>
            <a:r>
              <a:t>$4.42</a:t>
            </a:r>
          </a:p>
        </p:txBody>
      </p:sp>
      <p:sp>
        <p:nvSpPr>
          <p:cNvPr id="62" name="TextBox 61"/>
          <p:cNvSpPr txBox="1"/>
          <p:nvPr/>
        </p:nvSpPr>
        <p:spPr>
          <a:xfrm>
            <a:off x="8887968" y="4425696"/>
            <a:ext cx="1280160" cy="283464"/>
          </a:xfrm>
          <a:prstGeom prst="rect">
            <a:avLst/>
          </a:prstGeom>
          <a:noFill/>
        </p:spPr>
        <p:txBody>
          <a:bodyPr wrap="square" lIns="0" rIns="0">
            <a:spAutoFit/>
          </a:bodyPr>
          <a:lstStyle/>
          <a:p>
            <a:pPr>
              <a:spcAft>
                <a:spcPts val="1000"/>
              </a:spcAft>
              <a:defRPr sz="1500" b="0">
                <a:solidFill>
                  <a:srgbClr val="111111"/>
                </a:solidFill>
                <a:latin typeface="Calibri"/>
              </a:defRPr>
            </a:pPr>
            <a:r>
              <a:t>360,047</a:t>
            </a:r>
          </a:p>
        </p:txBody>
      </p:sp>
      <p:sp>
        <p:nvSpPr>
          <p:cNvPr id="63" name="TextBox 62"/>
          <p:cNvSpPr txBox="1"/>
          <p:nvPr/>
        </p:nvSpPr>
        <p:spPr>
          <a:xfrm>
            <a:off x="10332720" y="4425696"/>
            <a:ext cx="1005840" cy="283464"/>
          </a:xfrm>
          <a:prstGeom prst="rect">
            <a:avLst/>
          </a:prstGeom>
          <a:noFill/>
        </p:spPr>
        <p:txBody>
          <a:bodyPr wrap="square" lIns="0" rIns="0">
            <a:spAutoFit/>
          </a:bodyPr>
          <a:lstStyle/>
          <a:p>
            <a:pPr>
              <a:spcAft>
                <a:spcPts val="1000"/>
              </a:spcAft>
              <a:defRPr sz="1500" b="0">
                <a:solidFill>
                  <a:srgbClr val="111111"/>
                </a:solidFill>
                <a:latin typeface="Calibri"/>
              </a:defRPr>
            </a:pPr>
            <a:r>
              <a:t>4.9</a:t>
            </a:r>
          </a:p>
        </p:txBody>
      </p:sp>
      <p:sp>
        <p:nvSpPr>
          <p:cNvPr id="64" name="TextBox 63"/>
          <p:cNvSpPr txBox="1"/>
          <p:nvPr/>
        </p:nvSpPr>
        <p:spPr>
          <a:xfrm>
            <a:off x="548640" y="4782312"/>
            <a:ext cx="2240280" cy="283464"/>
          </a:xfrm>
          <a:prstGeom prst="rect">
            <a:avLst/>
          </a:prstGeom>
          <a:noFill/>
        </p:spPr>
        <p:txBody>
          <a:bodyPr wrap="square" lIns="0" rIns="0">
            <a:spAutoFit/>
          </a:bodyPr>
          <a:lstStyle/>
          <a:p>
            <a:pPr>
              <a:spcAft>
                <a:spcPts val="1000"/>
              </a:spcAft>
              <a:defRPr sz="1600" b="0">
                <a:solidFill>
                  <a:srgbClr val="111111"/>
                </a:solidFill>
                <a:latin typeface="Calibri"/>
              </a:defRPr>
            </a:pPr>
            <a:r>
              <a:t>Fable / ACCORD</a:t>
            </a:r>
          </a:p>
        </p:txBody>
      </p:sp>
      <p:sp>
        <p:nvSpPr>
          <p:cNvPr id="65" name="Rectangle 64"/>
          <p:cNvSpPr/>
          <p:nvPr/>
        </p:nvSpPr>
        <p:spPr>
          <a:xfrm>
            <a:off x="2788920" y="4837176"/>
            <a:ext cx="182880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2788920" y="4837176"/>
            <a:ext cx="1828800" cy="182880"/>
          </a:xfrm>
          <a:prstGeom prst="rect">
            <a:avLst/>
          </a:prstGeom>
          <a:solidFill>
            <a:srgbClr val="8A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754880" y="4782312"/>
            <a:ext cx="685800" cy="283464"/>
          </a:xfrm>
          <a:prstGeom prst="rect">
            <a:avLst/>
          </a:prstGeom>
          <a:noFill/>
        </p:spPr>
        <p:txBody>
          <a:bodyPr wrap="square" lIns="0" rIns="0">
            <a:spAutoFit/>
          </a:bodyPr>
          <a:lstStyle/>
          <a:p>
            <a:pPr>
              <a:spcAft>
                <a:spcPts val="1000"/>
              </a:spcAft>
              <a:defRPr sz="1400" b="0">
                <a:solidFill>
                  <a:srgbClr val="111111"/>
                </a:solidFill>
                <a:latin typeface="Calibri"/>
              </a:defRPr>
            </a:pPr>
            <a:r>
              <a:t>12/12</a:t>
            </a:r>
          </a:p>
        </p:txBody>
      </p:sp>
      <p:sp>
        <p:nvSpPr>
          <p:cNvPr id="68" name="Rectangle 67"/>
          <p:cNvSpPr/>
          <p:nvPr/>
        </p:nvSpPr>
        <p:spPr>
          <a:xfrm>
            <a:off x="5577840" y="4837176"/>
            <a:ext cx="256032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577840" y="4837176"/>
            <a:ext cx="2246317" cy="182880"/>
          </a:xfrm>
          <a:prstGeom prst="rect">
            <a:avLst/>
          </a:prstGeom>
          <a:solidFill>
            <a:srgbClr val="8A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229600" y="4782312"/>
            <a:ext cx="640080" cy="283464"/>
          </a:xfrm>
          <a:prstGeom prst="rect">
            <a:avLst/>
          </a:prstGeom>
          <a:noFill/>
        </p:spPr>
        <p:txBody>
          <a:bodyPr wrap="square" lIns="0" rIns="0">
            <a:spAutoFit/>
          </a:bodyPr>
          <a:lstStyle/>
          <a:p>
            <a:pPr>
              <a:spcAft>
                <a:spcPts val="1000"/>
              </a:spcAft>
              <a:defRPr sz="1400" b="0">
                <a:solidFill>
                  <a:srgbClr val="111111"/>
                </a:solidFill>
                <a:latin typeface="Calibri"/>
              </a:defRPr>
            </a:pPr>
            <a:r>
              <a:t>$4.39</a:t>
            </a:r>
          </a:p>
        </p:txBody>
      </p:sp>
      <p:sp>
        <p:nvSpPr>
          <p:cNvPr id="71" name="TextBox 70"/>
          <p:cNvSpPr txBox="1"/>
          <p:nvPr/>
        </p:nvSpPr>
        <p:spPr>
          <a:xfrm>
            <a:off x="8887968" y="4782312"/>
            <a:ext cx="1280160" cy="283464"/>
          </a:xfrm>
          <a:prstGeom prst="rect">
            <a:avLst/>
          </a:prstGeom>
          <a:noFill/>
        </p:spPr>
        <p:txBody>
          <a:bodyPr wrap="square" lIns="0" rIns="0">
            <a:spAutoFit/>
          </a:bodyPr>
          <a:lstStyle/>
          <a:p>
            <a:pPr>
              <a:spcAft>
                <a:spcPts val="1000"/>
              </a:spcAft>
              <a:defRPr sz="1500" b="0">
                <a:solidFill>
                  <a:srgbClr val="111111"/>
                </a:solidFill>
                <a:latin typeface="Calibri"/>
              </a:defRPr>
            </a:pPr>
            <a:r>
              <a:t>365,355</a:t>
            </a:r>
          </a:p>
        </p:txBody>
      </p:sp>
      <p:sp>
        <p:nvSpPr>
          <p:cNvPr id="72" name="TextBox 71"/>
          <p:cNvSpPr txBox="1"/>
          <p:nvPr/>
        </p:nvSpPr>
        <p:spPr>
          <a:xfrm>
            <a:off x="10332720" y="4782312"/>
            <a:ext cx="1005840" cy="283464"/>
          </a:xfrm>
          <a:prstGeom prst="rect">
            <a:avLst/>
          </a:prstGeom>
          <a:noFill/>
        </p:spPr>
        <p:txBody>
          <a:bodyPr wrap="square" lIns="0" rIns="0">
            <a:spAutoFit/>
          </a:bodyPr>
          <a:lstStyle/>
          <a:p>
            <a:pPr>
              <a:spcAft>
                <a:spcPts val="1000"/>
              </a:spcAft>
              <a:defRPr sz="1500" b="0">
                <a:solidFill>
                  <a:srgbClr val="111111"/>
                </a:solidFill>
                <a:latin typeface="Calibri"/>
              </a:defRPr>
            </a:pPr>
            <a:r>
              <a:t>4.1</a:t>
            </a:r>
          </a:p>
        </p:txBody>
      </p:sp>
      <p:sp>
        <p:nvSpPr>
          <p:cNvPr id="73" name="TextBox 72"/>
          <p:cNvSpPr txBox="1"/>
          <p:nvPr/>
        </p:nvSpPr>
        <p:spPr>
          <a:xfrm>
            <a:off x="548640" y="5330952"/>
            <a:ext cx="11064240" cy="530352"/>
          </a:xfrm>
          <a:prstGeom prst="rect">
            <a:avLst/>
          </a:prstGeom>
          <a:noFill/>
        </p:spPr>
        <p:txBody>
          <a:bodyPr wrap="square" lIns="0" rIns="0">
            <a:spAutoFit/>
          </a:bodyPr>
          <a:lstStyle/>
          <a:p>
            <a:pPr>
              <a:spcAft>
                <a:spcPts val="1000"/>
              </a:spcAft>
              <a:defRPr sz="1700" b="1">
                <a:solidFill>
                  <a:srgbClr val="111111"/>
                </a:solidFill>
                <a:latin typeface="Calibri"/>
              </a:defRPr>
            </a:pPr>
            <a:r>
              <a:t>Sonnet + Rhiza matched Fable scratch’s 12/12 checks: 49% fewer tokens,</a:t>
            </a:r>
          </a:p>
          <a:p>
            <a:pPr>
              <a:spcAft>
                <a:spcPts val="1000"/>
              </a:spcAft>
              <a:defRPr sz="1700" b="1">
                <a:solidFill>
                  <a:srgbClr val="111111"/>
                </a:solidFill>
                <a:latin typeface="Calibri"/>
              </a:defRPr>
            </a:pPr>
            <a:r>
              <a:t>67% less time and 89% lower API cost. Fable + ACCORD was 17% faster than scratch.</a:t>
            </a:r>
          </a:p>
        </p:txBody>
      </p:sp>
      <p:sp>
        <p:nvSpPr>
          <p:cNvPr id="74" name="TextBox 73"/>
          <p:cNvSpPr txBox="1"/>
          <p:nvPr/>
        </p:nvSpPr>
        <p:spPr>
          <a:xfrm>
            <a:off x="548640" y="5925312"/>
            <a:ext cx="11064240" cy="402336"/>
          </a:xfrm>
          <a:prstGeom prst="rect">
            <a:avLst/>
          </a:prstGeom>
          <a:noFill/>
        </p:spPr>
        <p:txBody>
          <a:bodyPr wrap="square" lIns="0" rIns="0">
            <a:spAutoFit/>
          </a:bodyPr>
          <a:lstStyle/>
          <a:p>
            <a:pPr>
              <a:spcAft>
                <a:spcPts val="1000"/>
              </a:spcAft>
              <a:defRPr sz="1100" b="0">
                <a:solidFill>
                  <a:srgbClr val="6B6B6B"/>
                </a:solidFill>
                <a:latin typeface="Calibri"/>
              </a:defRPr>
            </a:pPr>
            <a:r>
              <a:t>Cost bars share a $0–$5 scale. One attempt per condition. Sonnet + ACCORD: not run.</a:t>
            </a:r>
          </a:p>
          <a:p>
            <a:pPr>
              <a:spcAft>
                <a:spcPts val="1000"/>
              </a:spcAft>
              <a:defRPr sz="1100" b="0">
                <a:solidFill>
                  <a:srgbClr val="6B6B6B"/>
                </a:solidFill>
                <a:latin typeface="Calibri"/>
              </a:defRPr>
            </a:pPr>
            <a:r>
              <a:t>Sonnet scratch missed unit labels. Rhiza supplied catalog context, without script calls. Valid forecasts had similar initial RPS (≈ 0.279–0.281).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lIns="0" rIns="0">
            <a:spAutoFit/>
          </a:bodyPr>
          <a:lstStyle/>
          <a:p>
            <a:pPr>
              <a:spcAft>
                <a:spcPts val="1000"/>
              </a:spcAft>
              <a:defRPr sz="3000" b="1">
                <a:solidFill>
                  <a:srgbClr val="111111"/>
                </a:solidFill>
                <a:latin typeface="Calibri"/>
              </a:defRPr>
            </a:pPr>
            <a:r>
              <a:t>Does saved work make the next forecast cheaper?</a:t>
            </a:r>
          </a:p>
        </p:txBody>
      </p:sp>
      <p:sp>
        <p:nvSpPr>
          <p:cNvPr id="3" name="TextBox 2"/>
          <p:cNvSpPr txBox="1"/>
          <p:nvPr/>
        </p:nvSpPr>
        <p:spPr>
          <a:xfrm>
            <a:off x="548640" y="1371600"/>
            <a:ext cx="11064240" cy="731520"/>
          </a:xfrm>
          <a:prstGeom prst="rect">
            <a:avLst/>
          </a:prstGeom>
          <a:noFill/>
        </p:spPr>
        <p:txBody>
          <a:bodyPr wrap="square" lIns="0" rIns="0">
            <a:spAutoFit/>
          </a:bodyPr>
          <a:lstStyle/>
          <a:p>
            <a:pPr>
              <a:spcAft>
                <a:spcPts val="1000"/>
              </a:spcAft>
              <a:defRPr sz="1800" b="0">
                <a:solidFill>
                  <a:srgbClr val="111111"/>
                </a:solidFill>
                <a:latin typeface="Calibri"/>
              </a:defRPr>
            </a:pPr>
            <a:r>
              <a:t>All three Fable arms keep their code, cached inputs and fitted model; the next conversation is fresh.</a:t>
            </a:r>
          </a:p>
        </p:txBody>
      </p:sp>
      <p:sp>
        <p:nvSpPr>
          <p:cNvPr id="4" name="TextBox 3"/>
          <p:cNvSpPr txBox="1"/>
          <p:nvPr/>
        </p:nvSpPr>
        <p:spPr>
          <a:xfrm>
            <a:off x="548640" y="6400800"/>
            <a:ext cx="11064240" cy="274320"/>
          </a:xfrm>
          <a:prstGeom prst="rect">
            <a:avLst/>
          </a:prstGeom>
          <a:noFill/>
        </p:spPr>
        <p:txBody>
          <a:bodyPr wrap="square" lIns="0" rIns="0">
            <a:spAutoFit/>
          </a:bodyPr>
          <a:lstStyle/>
          <a:p>
            <a:pPr>
              <a:spcAft>
                <a:spcPts val="1000"/>
              </a:spcAft>
              <a:defRPr sz="1000" b="0">
                <a:solidFill>
                  <a:srgbClr val="6B6B6B"/>
                </a:solidFill>
                <a:latin typeface="Calibri"/>
              </a:defRPr>
            </a:pPr>
            <a:r>
              <a:t>ACCORD weather pilot · revised execution protocol · 1 Oct 2026 · 18</a:t>
            </a:r>
          </a:p>
        </p:txBody>
      </p:sp>
      <p:sp>
        <p:nvSpPr>
          <p:cNvPr id="5" name="TextBox 4"/>
          <p:cNvSpPr txBox="1"/>
          <p:nvPr/>
        </p:nvSpPr>
        <p:spPr>
          <a:xfrm>
            <a:off x="548640" y="2167128"/>
            <a:ext cx="5943600" cy="292608"/>
          </a:xfrm>
          <a:prstGeom prst="rect">
            <a:avLst/>
          </a:prstGeom>
          <a:noFill/>
        </p:spPr>
        <p:txBody>
          <a:bodyPr wrap="square" lIns="0" rIns="0">
            <a:spAutoFit/>
          </a:bodyPr>
          <a:lstStyle/>
          <a:p>
            <a:pPr>
              <a:spcAft>
                <a:spcPts val="1000"/>
              </a:spcAft>
              <a:defRPr sz="1500" b="1">
                <a:solidFill>
                  <a:srgbClr val="111111"/>
                </a:solidFill>
                <a:latin typeface="Calibri"/>
              </a:defRPr>
            </a:pPr>
            <a:r>
              <a:t>Agent API cost ($) · common scale $0–$5</a:t>
            </a:r>
          </a:p>
        </p:txBody>
      </p:sp>
      <p:sp>
        <p:nvSpPr>
          <p:cNvPr id="6" name="Rectangle 5"/>
          <p:cNvSpPr/>
          <p:nvPr/>
        </p:nvSpPr>
        <p:spPr>
          <a:xfrm>
            <a:off x="7086600" y="2231136"/>
            <a:ext cx="164592" cy="164592"/>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42631" y="2148840"/>
            <a:ext cx="1371600" cy="292608"/>
          </a:xfrm>
          <a:prstGeom prst="rect">
            <a:avLst/>
          </a:prstGeom>
          <a:noFill/>
        </p:spPr>
        <p:txBody>
          <a:bodyPr wrap="square" lIns="0" rIns="0">
            <a:spAutoFit/>
          </a:bodyPr>
          <a:lstStyle/>
          <a:p>
            <a:pPr>
              <a:spcAft>
                <a:spcPts val="1000"/>
              </a:spcAft>
              <a:defRPr sz="1400" b="0">
                <a:solidFill>
                  <a:srgbClr val="111111"/>
                </a:solidFill>
                <a:latin typeface="Calibri"/>
              </a:defRPr>
            </a:pPr>
            <a:r>
              <a:t>Initial</a:t>
            </a:r>
          </a:p>
        </p:txBody>
      </p:sp>
      <p:sp>
        <p:nvSpPr>
          <p:cNvPr id="8" name="Rectangle 7"/>
          <p:cNvSpPr/>
          <p:nvPr/>
        </p:nvSpPr>
        <p:spPr>
          <a:xfrm>
            <a:off x="8686800" y="2231136"/>
            <a:ext cx="164592" cy="164592"/>
          </a:xfrm>
          <a:prstGeom prst="rect">
            <a:avLst/>
          </a:prstGeom>
          <a:solidFill>
            <a:srgbClr val="8A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42832" y="2148840"/>
            <a:ext cx="1828800" cy="292608"/>
          </a:xfrm>
          <a:prstGeom prst="rect">
            <a:avLst/>
          </a:prstGeom>
          <a:noFill/>
        </p:spPr>
        <p:txBody>
          <a:bodyPr wrap="square" lIns="0" rIns="0">
            <a:spAutoFit/>
          </a:bodyPr>
          <a:lstStyle/>
          <a:p>
            <a:pPr>
              <a:spcAft>
                <a:spcPts val="1000"/>
              </a:spcAft>
              <a:defRPr sz="1400" b="0">
                <a:solidFill>
                  <a:srgbClr val="111111"/>
                </a:solidFill>
                <a:latin typeface="Calibri"/>
              </a:defRPr>
            </a:pPr>
            <a:r>
              <a:t>Follow-up</a:t>
            </a:r>
          </a:p>
        </p:txBody>
      </p:sp>
      <p:sp>
        <p:nvSpPr>
          <p:cNvPr id="10" name="TextBox 9"/>
          <p:cNvSpPr txBox="1"/>
          <p:nvPr/>
        </p:nvSpPr>
        <p:spPr>
          <a:xfrm>
            <a:off x="7360920" y="2651760"/>
            <a:ext cx="4251960" cy="320040"/>
          </a:xfrm>
          <a:prstGeom prst="rect">
            <a:avLst/>
          </a:prstGeom>
          <a:noFill/>
        </p:spPr>
        <p:txBody>
          <a:bodyPr wrap="square" lIns="0" rIns="0">
            <a:spAutoFit/>
          </a:bodyPr>
          <a:lstStyle/>
          <a:p>
            <a:pPr>
              <a:spcAft>
                <a:spcPts val="1000"/>
              </a:spcAft>
              <a:defRPr sz="1500" b="1">
                <a:solidFill>
                  <a:srgbClr val="111111"/>
                </a:solidFill>
                <a:latin typeface="Calibri"/>
              </a:defRPr>
            </a:pPr>
            <a:r>
              <a:t>Follow-up: tokens / time / checks</a:t>
            </a:r>
          </a:p>
        </p:txBody>
      </p:sp>
      <p:sp>
        <p:nvSpPr>
          <p:cNvPr id="11" name="TextBox 10"/>
          <p:cNvSpPr txBox="1"/>
          <p:nvPr/>
        </p:nvSpPr>
        <p:spPr>
          <a:xfrm>
            <a:off x="548640" y="2862072"/>
            <a:ext cx="1371600" cy="320040"/>
          </a:xfrm>
          <a:prstGeom prst="rect">
            <a:avLst/>
          </a:prstGeom>
          <a:noFill/>
        </p:spPr>
        <p:txBody>
          <a:bodyPr wrap="square" lIns="0" rIns="0">
            <a:spAutoFit/>
          </a:bodyPr>
          <a:lstStyle/>
          <a:p>
            <a:pPr>
              <a:spcAft>
                <a:spcPts val="1000"/>
              </a:spcAft>
              <a:defRPr sz="1800" b="1">
                <a:solidFill>
                  <a:srgbClr val="111111"/>
                </a:solidFill>
                <a:latin typeface="Calibri"/>
              </a:defRPr>
            </a:pPr>
            <a:r>
              <a:t>Scratch</a:t>
            </a:r>
          </a:p>
        </p:txBody>
      </p:sp>
      <p:sp>
        <p:nvSpPr>
          <p:cNvPr id="12" name="Rectangle 11"/>
          <p:cNvSpPr/>
          <p:nvPr/>
        </p:nvSpPr>
        <p:spPr>
          <a:xfrm>
            <a:off x="2057400" y="2770632"/>
            <a:ext cx="2888582" cy="182880"/>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46566" y="2697479"/>
            <a:ext cx="777240" cy="310896"/>
          </a:xfrm>
          <a:prstGeom prst="rect">
            <a:avLst/>
          </a:prstGeom>
          <a:noFill/>
        </p:spPr>
        <p:txBody>
          <a:bodyPr wrap="square" lIns="0" rIns="0">
            <a:spAutoFit/>
          </a:bodyPr>
          <a:lstStyle/>
          <a:p>
            <a:pPr>
              <a:spcAft>
                <a:spcPts val="1000"/>
              </a:spcAft>
              <a:defRPr sz="1400" b="0">
                <a:solidFill>
                  <a:srgbClr val="111111"/>
                </a:solidFill>
                <a:latin typeface="Calibri"/>
              </a:defRPr>
            </a:pPr>
            <a:r>
              <a:t>$3.36</a:t>
            </a:r>
          </a:p>
        </p:txBody>
      </p:sp>
      <p:sp>
        <p:nvSpPr>
          <p:cNvPr id="14" name="Rectangle 13"/>
          <p:cNvSpPr/>
          <p:nvPr/>
        </p:nvSpPr>
        <p:spPr>
          <a:xfrm>
            <a:off x="2057400" y="3035808"/>
            <a:ext cx="3240665" cy="182880"/>
          </a:xfrm>
          <a:prstGeom prst="rect">
            <a:avLst/>
          </a:prstGeom>
          <a:solidFill>
            <a:srgbClr val="8A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98649" y="2962656"/>
            <a:ext cx="777240" cy="310896"/>
          </a:xfrm>
          <a:prstGeom prst="rect">
            <a:avLst/>
          </a:prstGeom>
          <a:noFill/>
        </p:spPr>
        <p:txBody>
          <a:bodyPr wrap="square" lIns="0" rIns="0">
            <a:spAutoFit/>
          </a:bodyPr>
          <a:lstStyle/>
          <a:p>
            <a:pPr>
              <a:spcAft>
                <a:spcPts val="1000"/>
              </a:spcAft>
              <a:defRPr sz="1400" b="0">
                <a:solidFill>
                  <a:srgbClr val="111111"/>
                </a:solidFill>
                <a:latin typeface="Calibri"/>
              </a:defRPr>
            </a:pPr>
            <a:r>
              <a:t>$3.77</a:t>
            </a:r>
          </a:p>
        </p:txBody>
      </p:sp>
      <p:sp>
        <p:nvSpPr>
          <p:cNvPr id="16" name="TextBox 15"/>
          <p:cNvSpPr txBox="1"/>
          <p:nvPr/>
        </p:nvSpPr>
        <p:spPr>
          <a:xfrm>
            <a:off x="7360920" y="2980944"/>
            <a:ext cx="4251960" cy="365760"/>
          </a:xfrm>
          <a:prstGeom prst="rect">
            <a:avLst/>
          </a:prstGeom>
          <a:noFill/>
        </p:spPr>
        <p:txBody>
          <a:bodyPr wrap="square" lIns="0" rIns="0">
            <a:spAutoFit/>
          </a:bodyPr>
          <a:lstStyle/>
          <a:p>
            <a:pPr>
              <a:spcAft>
                <a:spcPts val="1000"/>
              </a:spcAft>
              <a:defRPr sz="1700" b="0">
                <a:solidFill>
                  <a:srgbClr val="111111"/>
                </a:solidFill>
                <a:latin typeface="Calibri"/>
              </a:defRPr>
            </a:pPr>
            <a:r>
              <a:t>334,053  /  3.8 min  /  12/12</a:t>
            </a:r>
          </a:p>
        </p:txBody>
      </p:sp>
      <p:sp>
        <p:nvSpPr>
          <p:cNvPr id="17" name="TextBox 16"/>
          <p:cNvSpPr txBox="1"/>
          <p:nvPr/>
        </p:nvSpPr>
        <p:spPr>
          <a:xfrm>
            <a:off x="548640" y="3611879"/>
            <a:ext cx="1371600" cy="320040"/>
          </a:xfrm>
          <a:prstGeom prst="rect">
            <a:avLst/>
          </a:prstGeom>
          <a:noFill/>
        </p:spPr>
        <p:txBody>
          <a:bodyPr wrap="square" lIns="0" rIns="0">
            <a:spAutoFit/>
          </a:bodyPr>
          <a:lstStyle/>
          <a:p>
            <a:pPr>
              <a:spcAft>
                <a:spcPts val="1000"/>
              </a:spcAft>
              <a:defRPr sz="1800" b="1">
                <a:solidFill>
                  <a:srgbClr val="111111"/>
                </a:solidFill>
                <a:latin typeface="Calibri"/>
              </a:defRPr>
            </a:pPr>
            <a:r>
              <a:t>Rhiza</a:t>
            </a:r>
          </a:p>
        </p:txBody>
      </p:sp>
      <p:sp>
        <p:nvSpPr>
          <p:cNvPr id="18" name="Rectangle 17"/>
          <p:cNvSpPr/>
          <p:nvPr/>
        </p:nvSpPr>
        <p:spPr>
          <a:xfrm>
            <a:off x="2057400" y="3520439"/>
            <a:ext cx="3800618" cy="182880"/>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58602" y="3447287"/>
            <a:ext cx="777240" cy="310896"/>
          </a:xfrm>
          <a:prstGeom prst="rect">
            <a:avLst/>
          </a:prstGeom>
          <a:noFill/>
        </p:spPr>
        <p:txBody>
          <a:bodyPr wrap="square" lIns="0" rIns="0">
            <a:spAutoFit/>
          </a:bodyPr>
          <a:lstStyle/>
          <a:p>
            <a:pPr>
              <a:spcAft>
                <a:spcPts val="1000"/>
              </a:spcAft>
              <a:defRPr sz="1400" b="0">
                <a:solidFill>
                  <a:srgbClr val="111111"/>
                </a:solidFill>
                <a:latin typeface="Calibri"/>
              </a:defRPr>
            </a:pPr>
            <a:r>
              <a:t>$4.42</a:t>
            </a:r>
          </a:p>
        </p:txBody>
      </p:sp>
      <p:sp>
        <p:nvSpPr>
          <p:cNvPr id="20" name="Rectangle 19"/>
          <p:cNvSpPr/>
          <p:nvPr/>
        </p:nvSpPr>
        <p:spPr>
          <a:xfrm>
            <a:off x="2057400" y="3785615"/>
            <a:ext cx="2053079" cy="182880"/>
          </a:xfrm>
          <a:prstGeom prst="rect">
            <a:avLst/>
          </a:prstGeom>
          <a:solidFill>
            <a:srgbClr val="8A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11063" y="3712463"/>
            <a:ext cx="777240" cy="310896"/>
          </a:xfrm>
          <a:prstGeom prst="rect">
            <a:avLst/>
          </a:prstGeom>
          <a:noFill/>
        </p:spPr>
        <p:txBody>
          <a:bodyPr wrap="square" lIns="0" rIns="0">
            <a:spAutoFit/>
          </a:bodyPr>
          <a:lstStyle/>
          <a:p>
            <a:pPr>
              <a:spcAft>
                <a:spcPts val="1000"/>
              </a:spcAft>
              <a:defRPr sz="1400" b="0">
                <a:solidFill>
                  <a:srgbClr val="111111"/>
                </a:solidFill>
                <a:latin typeface="Calibri"/>
              </a:defRPr>
            </a:pPr>
            <a:r>
              <a:t>$2.39</a:t>
            </a:r>
          </a:p>
        </p:txBody>
      </p:sp>
      <p:sp>
        <p:nvSpPr>
          <p:cNvPr id="22" name="TextBox 21"/>
          <p:cNvSpPr txBox="1"/>
          <p:nvPr/>
        </p:nvSpPr>
        <p:spPr>
          <a:xfrm>
            <a:off x="7360920" y="3730752"/>
            <a:ext cx="4251960" cy="365760"/>
          </a:xfrm>
          <a:prstGeom prst="rect">
            <a:avLst/>
          </a:prstGeom>
          <a:noFill/>
        </p:spPr>
        <p:txBody>
          <a:bodyPr wrap="square" lIns="0" rIns="0">
            <a:spAutoFit/>
          </a:bodyPr>
          <a:lstStyle/>
          <a:p>
            <a:pPr>
              <a:spcAft>
                <a:spcPts val="1000"/>
              </a:spcAft>
              <a:defRPr sz="1700" b="0">
                <a:solidFill>
                  <a:srgbClr val="111111"/>
                </a:solidFill>
                <a:latin typeface="Calibri"/>
              </a:defRPr>
            </a:pPr>
            <a:r>
              <a:t>213,139  /  2.5 min  /  11/12</a:t>
            </a:r>
          </a:p>
        </p:txBody>
      </p:sp>
      <p:sp>
        <p:nvSpPr>
          <p:cNvPr id="23" name="TextBox 22"/>
          <p:cNvSpPr txBox="1"/>
          <p:nvPr/>
        </p:nvSpPr>
        <p:spPr>
          <a:xfrm>
            <a:off x="548640" y="4361688"/>
            <a:ext cx="1371600" cy="320040"/>
          </a:xfrm>
          <a:prstGeom prst="rect">
            <a:avLst/>
          </a:prstGeom>
          <a:noFill/>
        </p:spPr>
        <p:txBody>
          <a:bodyPr wrap="square" lIns="0" rIns="0">
            <a:spAutoFit/>
          </a:bodyPr>
          <a:lstStyle/>
          <a:p>
            <a:pPr>
              <a:spcAft>
                <a:spcPts val="1000"/>
              </a:spcAft>
              <a:defRPr sz="1800" b="1">
                <a:solidFill>
                  <a:srgbClr val="111111"/>
                </a:solidFill>
                <a:latin typeface="Calibri"/>
              </a:defRPr>
            </a:pPr>
            <a:r>
              <a:t>ACCORD</a:t>
            </a:r>
          </a:p>
        </p:txBody>
      </p:sp>
      <p:sp>
        <p:nvSpPr>
          <p:cNvPr id="24" name="Rectangle 23"/>
          <p:cNvSpPr/>
          <p:nvPr/>
        </p:nvSpPr>
        <p:spPr>
          <a:xfrm>
            <a:off x="2057400" y="4270248"/>
            <a:ext cx="3770603" cy="182880"/>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28587" y="4197096"/>
            <a:ext cx="777240" cy="310896"/>
          </a:xfrm>
          <a:prstGeom prst="rect">
            <a:avLst/>
          </a:prstGeom>
          <a:noFill/>
        </p:spPr>
        <p:txBody>
          <a:bodyPr wrap="square" lIns="0" rIns="0">
            <a:spAutoFit/>
          </a:bodyPr>
          <a:lstStyle/>
          <a:p>
            <a:pPr>
              <a:spcAft>
                <a:spcPts val="1000"/>
              </a:spcAft>
              <a:defRPr sz="1400" b="0">
                <a:solidFill>
                  <a:srgbClr val="111111"/>
                </a:solidFill>
                <a:latin typeface="Calibri"/>
              </a:defRPr>
            </a:pPr>
            <a:r>
              <a:t>$4.39</a:t>
            </a:r>
          </a:p>
        </p:txBody>
      </p:sp>
      <p:sp>
        <p:nvSpPr>
          <p:cNvPr id="26" name="Rectangle 25"/>
          <p:cNvSpPr/>
          <p:nvPr/>
        </p:nvSpPr>
        <p:spPr>
          <a:xfrm>
            <a:off x="2057400" y="4535424"/>
            <a:ext cx="1623801" cy="182880"/>
          </a:xfrm>
          <a:prstGeom prst="rect">
            <a:avLst/>
          </a:prstGeom>
          <a:solidFill>
            <a:srgbClr val="8A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781785" y="4462272"/>
            <a:ext cx="777240" cy="310896"/>
          </a:xfrm>
          <a:prstGeom prst="rect">
            <a:avLst/>
          </a:prstGeom>
          <a:noFill/>
        </p:spPr>
        <p:txBody>
          <a:bodyPr wrap="square" lIns="0" rIns="0">
            <a:spAutoFit/>
          </a:bodyPr>
          <a:lstStyle/>
          <a:p>
            <a:pPr>
              <a:spcAft>
                <a:spcPts val="1000"/>
              </a:spcAft>
              <a:defRPr sz="1400" b="0">
                <a:solidFill>
                  <a:srgbClr val="111111"/>
                </a:solidFill>
                <a:latin typeface="Calibri"/>
              </a:defRPr>
            </a:pPr>
            <a:r>
              <a:t>$1.89</a:t>
            </a:r>
          </a:p>
        </p:txBody>
      </p:sp>
      <p:sp>
        <p:nvSpPr>
          <p:cNvPr id="28" name="TextBox 27"/>
          <p:cNvSpPr txBox="1"/>
          <p:nvPr/>
        </p:nvSpPr>
        <p:spPr>
          <a:xfrm>
            <a:off x="7360920" y="4480560"/>
            <a:ext cx="4251960" cy="365760"/>
          </a:xfrm>
          <a:prstGeom prst="rect">
            <a:avLst/>
          </a:prstGeom>
          <a:noFill/>
        </p:spPr>
        <p:txBody>
          <a:bodyPr wrap="square" lIns="0" rIns="0">
            <a:spAutoFit/>
          </a:bodyPr>
          <a:lstStyle/>
          <a:p>
            <a:pPr>
              <a:spcAft>
                <a:spcPts val="1000"/>
              </a:spcAft>
              <a:defRPr sz="1700" b="0">
                <a:solidFill>
                  <a:srgbClr val="111111"/>
                </a:solidFill>
                <a:latin typeface="Calibri"/>
              </a:defRPr>
            </a:pPr>
            <a:r>
              <a:t>165,576  /  2.6 min  /  12/12</a:t>
            </a:r>
          </a:p>
        </p:txBody>
      </p:sp>
      <p:sp>
        <p:nvSpPr>
          <p:cNvPr id="29" name="TextBox 28"/>
          <p:cNvSpPr txBox="1"/>
          <p:nvPr/>
        </p:nvSpPr>
        <p:spPr>
          <a:xfrm>
            <a:off x="548640" y="5257800"/>
            <a:ext cx="11064240" cy="594360"/>
          </a:xfrm>
          <a:prstGeom prst="rect">
            <a:avLst/>
          </a:prstGeom>
          <a:noFill/>
        </p:spPr>
        <p:txBody>
          <a:bodyPr wrap="square" lIns="0" rIns="0">
            <a:spAutoFit/>
          </a:bodyPr>
          <a:lstStyle/>
          <a:p>
            <a:pPr>
              <a:spcAft>
                <a:spcPts val="1000"/>
              </a:spcAft>
              <a:defRPr sz="1700" b="1">
                <a:solidFill>
                  <a:srgbClr val="111111"/>
                </a:solidFill>
                <a:latin typeface="Calibri"/>
              </a:defRPr>
            </a:pPr>
            <a:r>
              <a:t>ACCORD’s follow-up used 50% fewer tokens, cost 50% less and took 31% less time</a:t>
            </a:r>
          </a:p>
          <a:p>
            <a:pPr>
              <a:spcAft>
                <a:spcPts val="1000"/>
              </a:spcAft>
              <a:defRPr sz="1700" b="1">
                <a:solidFill>
                  <a:srgbClr val="111111"/>
                </a:solidFill>
                <a:latin typeface="Calibri"/>
              </a:defRPr>
            </a:pPr>
            <a:r>
              <a:t>than scratch; both passed 12/12 checks. Across both attempts, ACCORD cost 12% less.</a:t>
            </a:r>
          </a:p>
        </p:txBody>
      </p:sp>
      <p:sp>
        <p:nvSpPr>
          <p:cNvPr id="30" name="TextBox 29"/>
          <p:cNvSpPr txBox="1"/>
          <p:nvPr/>
        </p:nvSpPr>
        <p:spPr>
          <a:xfrm>
            <a:off x="548640" y="5925312"/>
            <a:ext cx="11064240" cy="402336"/>
          </a:xfrm>
          <a:prstGeom prst="rect">
            <a:avLst/>
          </a:prstGeom>
          <a:noFill/>
        </p:spPr>
        <p:txBody>
          <a:bodyPr wrap="square" lIns="0" rIns="0">
            <a:spAutoFit/>
          </a:bodyPr>
          <a:lstStyle/>
          <a:p>
            <a:pPr>
              <a:spcAft>
                <a:spcPts val="1000"/>
              </a:spcAft>
              <a:defRPr sz="1100" b="0">
                <a:solidFill>
                  <a:srgbClr val="6B6B6B"/>
                </a:solidFill>
                <a:latin typeface="Calibri"/>
              </a:defRPr>
            </a:pPr>
            <a:r>
              <a:t>Follow-up RPS ↓: scratch 0.396; Rhiza 0.404; ACCORD 0.412. No accuracy advantage established.</a:t>
            </a:r>
          </a:p>
          <a:p>
            <a:pPr>
              <a:spcAft>
                <a:spcPts val="1000"/>
              </a:spcAft>
              <a:defRPr sz="1100" b="0">
                <a:solidFill>
                  <a:srgbClr val="6B6B6B"/>
                </a:solidFill>
                <a:latin typeface="Calibri"/>
              </a:defRPr>
            </a:pPr>
            <a:r>
              <a:t>All arms reused fitted models. No fresh-workspace controls; no download savings measured; two development years per batch.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2026-09-30T17:09:01Z</dcterms:created>
  <dcterms:modified xsi:type="dcterms:W3CDTF">2026-09-30T17:09:01Z</dcterms:modified>
</cp:coreProperties>
</file>