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ACMAD's own product and team. The issue is the one every tool in this space has: acquisition code is written again inside each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acmadDL owns remote source to clean xarray. afrimet keeps what is specific to a web catalogue. ACCORD's forecast tools and AFRIMET now share one acquisition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catalogue entries on the acmadDL branch of ACMAD-Niamey/afrimet vs develop. Portal shows 19 today because WIS2 and derived SPI are not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On-demand is how 59 products get exposed without ACMAD archiving all of them. The log tells ACMAD what to promote.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ask. Offer to walk through the branch if they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already knows acmadDL and africaS2S, so library introductions are omitted. Their guides cover API conventions, data shapes, and workflow/statistical discipline; scientific implementations are in the libraries. weather-skills also has documentation, but the current harness exposes its operations through subprocess wrappers. The value of reuse and the need for Python recovery are hypotheses, not established conclusions.
Sources:
User-provided framing
../../accord/acmadDL/skills/acmaddl/SKILL.md
../../accord/africas2s/skills/africas2s/SKILL.md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comparison is Python only versus Python + skills; Skills only diagnoses the completeness and usability of the command interface. All conditions can receive execution feedback and retry within equal budgets. This is a weather-skills pilot, not yet a direct library evaluation. One repetition per task/model/condition is planned; no broad model ranking follows from it. Llama 1B/3B endpoints lack enforced JSON output; their prompts, parsing, and feedback stay the same while the unsupported response_format field is omitted. The ten models are Claude Fable 5.1, Claude Sonnet 5.5, Gemini 3.1 Flash-Lite, DeepSeek V4.1 Flash, Qwen3.5 9B, Ministral 3B, Llama 3.2 1B/3B, Qwen2.5 7B, and Llama 3.1 8B.
Sources:
configs/refined-heat-panel-v4.json
configs/refined-heat-small-v4.json
METHODOLOGY.md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e2e-kenya-heat-cached-v3, executed under repaired protocol cached-heat-v4. Source issue 2026-09-27; week 1 lead days 1–7 and week 2 days 8–14. Service rectangle 5N/34E/5S/42E, boundary grid centres included; not a country-polygon average. All ensemble members including control receive equal weight. Sample spread uses ddof=1. The quantity is daily 2 m temperature, not a daily-maximum-temperature variable. Numerical absolute tolerance 1e-4, relative 1e-6; exact schema, units, and source. PNG validity, size, and nonblank pixels are checked; semantic visual correctness still needs review. This measures correct analysis of an issued forecast, not predictive skill against observations. Cached inputs are raw and hash-verified, not precomputed skill outputs. Successful unchanged skill calls may reuse their own artifacts within a run. Cold acquisition performance needs a separate test.
Sources:
cases/e2e-kenya-heat-cached-v3.json
scripts/validate_refined.py
weather_bench/refined.py
weather_bench/execution_cache.py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unfiltered landing page captured at 2026-09-30T16:35:15.917487+00:00. 17 of 30 attempts recorded. This is a viewport screenshot; the remaining model rows continue below the visible area. The dashboard supports success/time/token/cost charts and drilldowns to code, skill calls, model responses, errors, and grading. Provider errors are separated from task failures. The screenshot is an interface illustration, not a ranking.
Sources:
docs/index.html
presentations/assets/landing-provenance.json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is frozen to the completed initial six-model batch, not the still-expanding ten-model panel. All six hybrid attempts used Python and no skill invocations; only Ministral read one guide. Four hybrid attempts passed. The prompt begins with the Python agent instructions, presents skills as additional optional actions, and explicitly permits Python custom calculations. This supports an adoption/design diagnosis; it does not reveal a model's internal motivation or establish a causal effect from prompt length. Skills-only Sonnet had 12 successful skill calls and a valid figure but rejected XML-like action wrappers and a literal [7,14] array under the artifact-only numeric submission rule. Its intermediate scientific correctness was not independently established here. Qwen strict-skills had nine protocol errors, including two empty responses ending at the output limit; its clipping and conversion worked. Gemini and Ministral strict-skills also encountered CLI arguments and dimension/precondition mismatches. Qwen hybrid summed six longitude cells without averaging, then timed out. Six failed attempts ended at the cumulative token ceiling, one at the shared task deadline. The follow-up should separately test a skill-discovery/preference policy with Python recovery, fix action transport and submission friction, and repeat paired runs. Existing records and scores remain unchanged.
Sources:
results/initial-panel-failure-modes.json
results/qwen35-heat-failure-analysis.json
weather_bench/runner.py: BASE_PROMPT and SKILL_PROMPT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proposed library ablation has not been run in the current benchmark. Comparing baseline with libraries estimates reusable-code value; comparing libraries with libraries plus skills estimates additional guidance value. All arms retain Python and recovery. No condition should be deprived of basic API usability; ordinary documentation is the middle-arm control. Seasonal tasks should avoid training/verification leakage, use fixed or appropriately nested method selection, common valid masks, and independent references or cross-implementation checks. Agent correctness and meteorological predictive skill are different: held-out forecast verification may use RPSS, reliability, RMSE, or other predeclared metrics. Separate cold acquisition/setup from warm-data solve time. Use repeated tasks and model sampling before drawing claims about generalization.
Sources:
User-provided objective
../../accord/acmadDL/skills/acmaddl/SKILL.md
../../accord/africas2s/skills/africas2s/SKILL.md
STATISTICS.md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468880"/>
            <a:ext cx="11064240" cy="914400"/>
          </a:xfrm>
          <a:prstGeom prst="rect">
            <a:avLst/>
          </a:prstGeom>
          <a:noFill/>
          <a:ln/>
        </p:spPr>
        <p:txBody>
          <a:bodyPr wrap="square" lIns="0" tIns="0" rIns="0" bIns="0" rtlCol="0" anchor="t"/>
          <a:lstStyle/>
          <a:p>
            <a:pPr algn="ctr" indent="0" marL="0">
              <a:buNone/>
            </a:pPr>
            <a:r>
              <a:rPr lang="en-US" sz="4000" b="1" dirty="0">
                <a:solidFill>
                  <a:srgbClr val="111111"/>
                </a:solidFill>
                <a:latin typeface="Calibri" pitchFamily="34" charset="0"/>
                <a:ea typeface="Calibri" pitchFamily="34" charset="-122"/>
                <a:cs typeface="Calibri" pitchFamily="34" charset="-120"/>
              </a:rPr>
              <a:t>ACCORD check-in</a:t>
            </a:r>
            <a:endParaRPr lang="en-US" sz="4000" dirty="0"/>
          </a:p>
        </p:txBody>
      </p:sp>
      <p:sp>
        <p:nvSpPr>
          <p:cNvPr id="3" name="Text 1"/>
          <p:cNvSpPr txBox="1"/>
          <p:nvPr/>
        </p:nvSpPr>
        <p:spPr>
          <a:xfrm>
            <a:off x="548640" y="3429000"/>
            <a:ext cx="11064240" cy="457200"/>
          </a:xfrm>
          <a:prstGeom prst="rect">
            <a:avLst/>
          </a:prstGeom>
          <a:noFill/>
          <a:ln/>
        </p:spPr>
        <p:txBody>
          <a:bodyPr wrap="square" lIns="0" tIns="0" rIns="0" bIns="0" rtlCol="0" anchor="t"/>
          <a:lstStyle/>
          <a:p>
            <a:pPr algn="ctr" indent="0" marL="0">
              <a:buNone/>
            </a:pPr>
            <a:r>
              <a:rPr lang="en-US" sz="1800" dirty="0">
                <a:solidFill>
                  <a:srgbClr val="6B6B6B"/>
                </a:solidFill>
                <a:latin typeface="Calibri" pitchFamily="34" charset="0"/>
                <a:ea typeface="Calibri" pitchFamily="34" charset="-122"/>
                <a:cs typeface="Calibri" pitchFamily="34" charset="-120"/>
              </a:rPr>
              <a:t>1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Agenda</a:t>
            </a:r>
            <a:endParaRPr lang="en-US" sz="3000" dirty="0"/>
          </a:p>
        </p:txBody>
      </p:sp>
      <p:sp>
        <p:nvSpPr>
          <p:cNvPr id="3" name="Text 1"/>
          <p:cNvSpPr txBox="1"/>
          <p:nvPr/>
        </p:nvSpPr>
        <p:spPr>
          <a:xfrm>
            <a:off x="548640" y="1463040"/>
            <a:ext cx="11064240" cy="4114800"/>
          </a:xfrm>
          <a:prstGeom prst="rect">
            <a:avLst/>
          </a:prstGeom>
          <a:noFill/>
          <a:ln/>
        </p:spPr>
        <p:txBody>
          <a:bodyPr wrap="square" lIns="0" tIns="0" rIns="0" bIns="0" rtlCol="0" anchor="t"/>
          <a:lstStyle/>
          <a:p>
            <a:pPr indent="0" marL="0">
              <a:spcAft>
                <a:spcPts val="600"/>
              </a:spcAft>
              <a:buNone/>
            </a:pPr>
            <a:r>
              <a:rPr lang="en-US" sz="2000" dirty="0">
                <a:solidFill>
                  <a:srgbClr val="111111"/>
                </a:solidFill>
                <a:latin typeface="Calibri" pitchFamily="34" charset="0"/>
                <a:ea typeface="Calibri" pitchFamily="34" charset="-122"/>
                <a:cs typeface="Calibri" pitchFamily="34" charset="-120"/>
              </a:rPr>
              <a:t>1.  AFRIMET on acmadDL</a:t>
            </a:r>
            <a:endParaRPr lang="en-US" sz="2000" dirty="0"/>
          </a:p>
          <a:p>
            <a:pPr indent="0" marL="0">
              <a:spcAft>
                <a:spcPts val="2200"/>
              </a:spcAft>
              <a:buNone/>
            </a:pPr>
            <a:r>
              <a:rPr lang="en-US" sz="1400" dirty="0">
                <a:solidFill>
                  <a:srgbClr val="6B6B6B"/>
                </a:solidFill>
                <a:latin typeface="Calibri" pitchFamily="34" charset="0"/>
                <a:ea typeface="Calibri" pitchFamily="34" charset="-122"/>
                <a:cs typeface="Calibri" pitchFamily="34" charset="-120"/>
              </a:rPr>
              <a:t>ACMAD's climate data catalogue moved onto the ACCORD data layer. Catalogue growth, verification, on-demand layers, status.</a:t>
            </a:r>
            <a:endParaRPr lang="en-US" sz="2000" dirty="0"/>
          </a:p>
          <a:p>
            <a:pPr indent="0" marL="0">
              <a:spcAft>
                <a:spcPts val="600"/>
              </a:spcAft>
              <a:buNone/>
            </a:pPr>
            <a:r>
              <a:rPr lang="en-US" sz="2000" dirty="0">
                <a:solidFill>
                  <a:srgbClr val="111111"/>
                </a:solidFill>
                <a:latin typeface="Calibri" pitchFamily="34" charset="0"/>
                <a:ea typeface="Calibri" pitchFamily="34" charset="-122"/>
                <a:cs typeface="Calibri" pitchFamily="34" charset="-120"/>
              </a:rPr>
              <a:t>2.  Weather agent benchmark</a:t>
            </a:r>
            <a:endParaRPr lang="en-US" sz="2000" dirty="0"/>
          </a:p>
          <a:p>
            <a:pPr indent="0" marL="0">
              <a:buNone/>
            </a:pPr>
            <a:r>
              <a:rPr lang="en-US" sz="1400" dirty="0">
                <a:solidFill>
                  <a:srgbClr val="6B6B6B"/>
                </a:solidFill>
                <a:latin typeface="Calibri" pitchFamily="34" charset="0"/>
                <a:ea typeface="Calibri" pitchFamily="34" charset="-122"/>
                <a:cs typeface="Calibri" pitchFamily="34" charset="-120"/>
              </a:rPr>
              <a:t>Do reusable skills help an agent complete a forecasting workflow? Current experiment, interim results, failure modes, next test.</a:t>
            </a:r>
            <a:endParaRPr lang="en-US" sz="2000" dirty="0"/>
          </a:p>
        </p:txBody>
      </p:sp>
      <p:sp>
        <p:nvSpPr>
          <p:cNvPr id="4"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Agenda  ·  1 Oct 2026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0"/>
            <a:ext cx="11064240" cy="822960"/>
          </a:xfrm>
          <a:prstGeom prst="rect">
            <a:avLst/>
          </a:prstGeom>
          <a:noFill/>
          <a:ln/>
        </p:spPr>
        <p:txBody>
          <a:bodyPr wrap="square" lIns="0" tIns="0" rIns="0" bIns="0" rtlCol="0" anchor="t"/>
          <a:lstStyle/>
          <a:p>
            <a:pPr algn="ctr" indent="0" marL="0">
              <a:buNone/>
            </a:pPr>
            <a:r>
              <a:rPr lang="en-US" sz="3600" b="1" dirty="0">
                <a:solidFill>
                  <a:srgbClr val="111111"/>
                </a:solidFill>
                <a:latin typeface="Calibri" pitchFamily="34" charset="0"/>
                <a:ea typeface="Calibri" pitchFamily="34" charset="-122"/>
                <a:cs typeface="Calibri" pitchFamily="34" charset="-120"/>
              </a:rPr>
              <a:t>AFRIMET on acmadDL</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AFRIMET today</a:t>
            </a:r>
            <a:endParaRPr lang="en-US" sz="3000" dirty="0"/>
          </a:p>
        </p:txBody>
      </p:sp>
      <p:pic>
        <p:nvPicPr>
          <p:cNvPr id="3" name="Image 0" descr="/Users/brandonrose/repos/bmgf/accord/programmatic/meeting-slides/afrimet.png">    </p:cNvPr>
          <p:cNvPicPr>
            <a:picLocks noChangeAspect="1"/>
          </p:cNvPicPr>
          <p:nvPr/>
        </p:nvPicPr>
        <p:blipFill>
          <a:blip r:embed="rId1"/>
          <a:stretch>
            <a:fillRect/>
          </a:stretch>
        </p:blipFill>
        <p:spPr>
          <a:xfrm>
            <a:off x="548640" y="1325880"/>
            <a:ext cx="7223760" cy="4343400"/>
          </a:xfrm>
          <a:prstGeom prst="rect">
            <a:avLst/>
          </a:prstGeom>
        </p:spPr>
      </p:pic>
      <p:sp>
        <p:nvSpPr>
          <p:cNvPr id="4" name="Text 1"/>
          <p:cNvSpPr txBox="1"/>
          <p:nvPr/>
        </p:nvSpPr>
        <p:spPr>
          <a:xfrm>
            <a:off x="8138160" y="1371600"/>
            <a:ext cx="3474720" cy="82296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ACMAD's climate data catalogue and map explorer.</a:t>
            </a:r>
            <a:endParaRPr lang="en-US" sz="1500" dirty="0"/>
          </a:p>
        </p:txBody>
      </p:sp>
      <p:sp>
        <p:nvSpPr>
          <p:cNvPr id="5" name="Text 2"/>
          <p:cNvSpPr txBox="1"/>
          <p:nvPr/>
        </p:nvSpPr>
        <p:spPr>
          <a:xfrm>
            <a:off x="8138160" y="2286000"/>
            <a:ext cx="3474720" cy="32004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FastAPI, Celery, GeoServer, TiTiler, PostGIS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19 datasets in the portal</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One adapter per source, maintained in afrimet</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Download, parse, units, crop: rewritten for each new source</a:t>
            </a:r>
            <a:endParaRPr lang="en-US" sz="1400" dirty="0"/>
          </a:p>
        </p:txBody>
      </p:sp>
      <p:sp>
        <p:nvSpPr>
          <p:cNvPr id="6" name="Text 3"/>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acmadDL as the data layer</a:t>
            </a:r>
            <a:endParaRPr lang="en-US" sz="3000" dirty="0"/>
          </a:p>
        </p:txBody>
      </p:sp>
      <p:sp>
        <p:nvSpPr>
          <p:cNvPr id="3" name="Shape 1"/>
          <p:cNvSpPr/>
          <p:nvPr/>
        </p:nvSpPr>
        <p:spPr>
          <a:xfrm>
            <a:off x="548640" y="1554480"/>
            <a:ext cx="2011680" cy="2743200"/>
          </a:xfrm>
          <a:prstGeom prst="rect">
            <a:avLst/>
          </a:prstGeom>
          <a:solidFill>
            <a:srgbClr val="F3F3F3"/>
          </a:solidFill>
          <a:ln w="12700">
            <a:solidFill>
              <a:srgbClr val="D9D9D9"/>
            </a:solidFill>
            <a:prstDash val="solid"/>
          </a:ln>
        </p:spPr>
      </p:sp>
      <p:sp>
        <p:nvSpPr>
          <p:cNvPr id="4" name="Text 2"/>
          <p:cNvSpPr txBox="1"/>
          <p:nvPr/>
        </p:nvSpPr>
        <p:spPr>
          <a:xfrm>
            <a:off x="548640" y="1645920"/>
            <a:ext cx="2011680" cy="274320"/>
          </a:xfrm>
          <a:prstGeom prst="rect">
            <a:avLst/>
          </a:prstGeom>
          <a:noFill/>
          <a:ln/>
        </p:spPr>
        <p:txBody>
          <a:bodyPr wrap="square" lIns="0" tIns="0" rIns="0" bIns="0" rtlCol="0" anchor="t"/>
          <a:lstStyle/>
          <a:p>
            <a:pPr algn="ctr" indent="0" marL="0">
              <a:buNone/>
            </a:pPr>
            <a:r>
              <a:rPr lang="en-US" sz="1300" b="1" dirty="0">
                <a:solidFill>
                  <a:srgbClr val="111111"/>
                </a:solidFill>
                <a:latin typeface="Calibri" pitchFamily="34" charset="0"/>
                <a:ea typeface="Calibri" pitchFamily="34" charset="-122"/>
                <a:cs typeface="Calibri" pitchFamily="34" charset="-120"/>
              </a:rPr>
              <a:t>Sources</a:t>
            </a:r>
            <a:endParaRPr lang="en-US" sz="1300" dirty="0"/>
          </a:p>
        </p:txBody>
      </p:sp>
      <p:sp>
        <p:nvSpPr>
          <p:cNvPr id="5" name="Text 3"/>
          <p:cNvSpPr txBox="1"/>
          <p:nvPr/>
        </p:nvSpPr>
        <p:spPr>
          <a:xfrm>
            <a:off x="640080" y="2011680"/>
            <a:ext cx="1828800" cy="2194560"/>
          </a:xfrm>
          <a:prstGeom prst="rect">
            <a:avLst/>
          </a:prstGeom>
          <a:noFill/>
          <a:ln/>
        </p:spPr>
        <p:txBody>
          <a:bodyPr wrap="square" lIns="0" tIns="0" rIns="0" bIns="0" rtlCol="0" anchor="t"/>
          <a:lstStyle/>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Copernicus CDS</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ECMWF ECDS</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IRI / CCSR OPeNDAP</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NOAA, UCSB, DWD HTTP</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Rhiza Sheerwater</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S3 / Icechunk</a:t>
            </a:r>
            <a:endParaRPr lang="en-US" sz="1100" dirty="0"/>
          </a:p>
        </p:txBody>
      </p:sp>
      <p:sp>
        <p:nvSpPr>
          <p:cNvPr id="6" name="Shape 4"/>
          <p:cNvSpPr/>
          <p:nvPr/>
        </p:nvSpPr>
        <p:spPr>
          <a:xfrm>
            <a:off x="2651760" y="2798064"/>
            <a:ext cx="411480" cy="256032"/>
          </a:xfrm>
          <a:prstGeom prst="rightArrow">
            <a:avLst/>
          </a:prstGeom>
          <a:solidFill>
            <a:srgbClr val="111111"/>
          </a:solidFill>
          <a:ln w="12700">
            <a:solidFill>
              <a:srgbClr val="111111"/>
            </a:solidFill>
            <a:prstDash val="solid"/>
          </a:ln>
        </p:spPr>
      </p:sp>
      <p:sp>
        <p:nvSpPr>
          <p:cNvPr id="7" name="Shape 5"/>
          <p:cNvSpPr/>
          <p:nvPr/>
        </p:nvSpPr>
        <p:spPr>
          <a:xfrm>
            <a:off x="3154680" y="1554480"/>
            <a:ext cx="2926080" cy="2743200"/>
          </a:xfrm>
          <a:prstGeom prst="rect">
            <a:avLst/>
          </a:prstGeom>
          <a:solidFill>
            <a:srgbClr val="FFFFFF"/>
          </a:solidFill>
          <a:ln w="25400">
            <a:solidFill>
              <a:srgbClr val="8A1C1C"/>
            </a:solidFill>
            <a:prstDash val="solid"/>
          </a:ln>
        </p:spPr>
      </p:sp>
      <p:sp>
        <p:nvSpPr>
          <p:cNvPr id="8" name="Text 6"/>
          <p:cNvSpPr txBox="1"/>
          <p:nvPr/>
        </p:nvSpPr>
        <p:spPr>
          <a:xfrm>
            <a:off x="3154680" y="1645920"/>
            <a:ext cx="2926080" cy="320040"/>
          </a:xfrm>
          <a:prstGeom prst="rect">
            <a:avLst/>
          </a:prstGeom>
          <a:noFill/>
          <a:ln/>
        </p:spPr>
        <p:txBody>
          <a:bodyPr wrap="square" lIns="0" tIns="0" rIns="0" bIns="0" rtlCol="0" anchor="t"/>
          <a:lstStyle/>
          <a:p>
            <a:pPr algn="ctr" indent="0" marL="0">
              <a:buNone/>
            </a:pPr>
            <a:r>
              <a:rPr lang="en-US" sz="1500" b="1" dirty="0">
                <a:solidFill>
                  <a:srgbClr val="8A1C1C"/>
                </a:solidFill>
                <a:latin typeface="Calibri" pitchFamily="34" charset="0"/>
                <a:ea typeface="Calibri" pitchFamily="34" charset="-122"/>
                <a:cs typeface="Calibri" pitchFamily="34" charset="-120"/>
              </a:rPr>
              <a:t>acmadDL</a:t>
            </a:r>
            <a:endParaRPr lang="en-US" sz="1500" dirty="0"/>
          </a:p>
        </p:txBody>
      </p:sp>
      <p:sp>
        <p:nvSpPr>
          <p:cNvPr id="9" name="Text 7"/>
          <p:cNvSpPr txBox="1"/>
          <p:nvPr/>
        </p:nvSpPr>
        <p:spPr>
          <a:xfrm>
            <a:off x="3154680" y="1965960"/>
            <a:ext cx="2926080" cy="27432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source → canonical</a:t>
            </a:r>
            <a:endParaRPr lang="en-US" sz="1100" dirty="0"/>
          </a:p>
        </p:txBody>
      </p:sp>
      <p:sp>
        <p:nvSpPr>
          <p:cNvPr id="10" name="Text 8"/>
          <p:cNvSpPr txBox="1"/>
          <p:nvPr/>
        </p:nvSpPr>
        <p:spPr>
          <a:xfrm>
            <a:off x="3246120" y="2331720"/>
            <a:ext cx="2743200" cy="1920240"/>
          </a:xfrm>
          <a:prstGeom prst="rect">
            <a:avLst/>
          </a:prstGeom>
          <a:noFill/>
          <a:ln/>
        </p:spPr>
        <p:txBody>
          <a:bodyPr wrap="square" lIns="0" tIns="0" rIns="0" bIns="0" rtlCol="0" anchor="t"/>
          <a:lstStyle/>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fetch(product, variable, time, region)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URL and filename patterns</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variable resolution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unit conversion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fill value → NaN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longitude convention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Africa crop</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cache</a:t>
            </a:r>
            <a:endParaRPr lang="en-US" sz="1100" dirty="0"/>
          </a:p>
        </p:txBody>
      </p:sp>
      <p:sp>
        <p:nvSpPr>
          <p:cNvPr id="11" name="Shape 9"/>
          <p:cNvSpPr/>
          <p:nvPr/>
        </p:nvSpPr>
        <p:spPr>
          <a:xfrm>
            <a:off x="6172200" y="2798064"/>
            <a:ext cx="411480" cy="256032"/>
          </a:xfrm>
          <a:prstGeom prst="rightArrow">
            <a:avLst/>
          </a:prstGeom>
          <a:solidFill>
            <a:srgbClr val="111111"/>
          </a:solidFill>
          <a:ln w="12700">
            <a:solidFill>
              <a:srgbClr val="111111"/>
            </a:solidFill>
            <a:prstDash val="solid"/>
          </a:ln>
        </p:spPr>
      </p:sp>
      <p:sp>
        <p:nvSpPr>
          <p:cNvPr id="12" name="Shape 10"/>
          <p:cNvSpPr/>
          <p:nvPr/>
        </p:nvSpPr>
        <p:spPr>
          <a:xfrm>
            <a:off x="6675120" y="1554480"/>
            <a:ext cx="2743200" cy="2743200"/>
          </a:xfrm>
          <a:prstGeom prst="rect">
            <a:avLst/>
          </a:prstGeom>
          <a:solidFill>
            <a:srgbClr val="FFFFFF"/>
          </a:solidFill>
          <a:ln w="12700">
            <a:solidFill>
              <a:srgbClr val="111111"/>
            </a:solidFill>
            <a:prstDash val="solid"/>
          </a:ln>
        </p:spPr>
      </p:sp>
      <p:sp>
        <p:nvSpPr>
          <p:cNvPr id="13" name="Text 11"/>
          <p:cNvSpPr txBox="1"/>
          <p:nvPr/>
        </p:nvSpPr>
        <p:spPr>
          <a:xfrm>
            <a:off x="6675120" y="1645920"/>
            <a:ext cx="2743200" cy="320040"/>
          </a:xfrm>
          <a:prstGeom prst="rect">
            <a:avLst/>
          </a:prstGeom>
          <a:noFill/>
          <a:ln/>
        </p:spPr>
        <p:txBody>
          <a:bodyPr wrap="square" lIns="0" tIns="0" rIns="0" bIns="0" rtlCol="0" anchor="t"/>
          <a:lstStyle/>
          <a:p>
            <a:pPr algn="ctr" indent="0" marL="0">
              <a:buNone/>
            </a:pPr>
            <a:r>
              <a:rPr lang="en-US" sz="1500" b="1" dirty="0">
                <a:solidFill>
                  <a:srgbClr val="111111"/>
                </a:solidFill>
                <a:latin typeface="Calibri" pitchFamily="34" charset="0"/>
                <a:ea typeface="Calibri" pitchFamily="34" charset="-122"/>
                <a:cs typeface="Calibri" pitchFamily="34" charset="-120"/>
              </a:rPr>
              <a:t>afrimet</a:t>
            </a:r>
            <a:endParaRPr lang="en-US" sz="1500" dirty="0"/>
          </a:p>
        </p:txBody>
      </p:sp>
      <p:sp>
        <p:nvSpPr>
          <p:cNvPr id="14" name="Text 12"/>
          <p:cNvSpPr txBox="1"/>
          <p:nvPr/>
        </p:nvSpPr>
        <p:spPr>
          <a:xfrm>
            <a:off x="6675120" y="1965960"/>
            <a:ext cx="2743200" cy="27432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canonical → published</a:t>
            </a:r>
            <a:endParaRPr lang="en-US" sz="1100" dirty="0"/>
          </a:p>
        </p:txBody>
      </p:sp>
      <p:sp>
        <p:nvSpPr>
          <p:cNvPr id="15" name="Text 13"/>
          <p:cNvSpPr txBox="1"/>
          <p:nvPr/>
        </p:nvSpPr>
        <p:spPr>
          <a:xfrm>
            <a:off x="6766560" y="2331720"/>
            <a:ext cx="2560320" cy="1920240"/>
          </a:xfrm>
          <a:prstGeom prst="rect">
            <a:avLst/>
          </a:prstGeom>
          <a:noFill/>
          <a:ln/>
        </p:spPr>
        <p:txBody>
          <a:bodyPr wrap="square" lIns="0" tIns="0" rIns="0" bIns="0" rtlCol="0" anchor="t"/>
          <a:lstStyle/>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rate → monthly total</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north-up COG per band</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GeoServer publish</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layer metadata</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TiTiler cache</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auth, quotas, collections</a:t>
            </a:r>
            <a:endParaRPr lang="en-US" sz="1100" dirty="0"/>
          </a:p>
        </p:txBody>
      </p:sp>
      <p:sp>
        <p:nvSpPr>
          <p:cNvPr id="16" name="Shape 14"/>
          <p:cNvSpPr/>
          <p:nvPr/>
        </p:nvSpPr>
        <p:spPr>
          <a:xfrm>
            <a:off x="9509760" y="2798064"/>
            <a:ext cx="411480" cy="256032"/>
          </a:xfrm>
          <a:prstGeom prst="rightArrow">
            <a:avLst/>
          </a:prstGeom>
          <a:solidFill>
            <a:srgbClr val="111111"/>
          </a:solidFill>
          <a:ln w="12700">
            <a:solidFill>
              <a:srgbClr val="111111"/>
            </a:solidFill>
            <a:prstDash val="solid"/>
          </a:ln>
        </p:spPr>
      </p:sp>
      <p:sp>
        <p:nvSpPr>
          <p:cNvPr id="17" name="Shape 15"/>
          <p:cNvSpPr/>
          <p:nvPr/>
        </p:nvSpPr>
        <p:spPr>
          <a:xfrm>
            <a:off x="10012680" y="1554480"/>
            <a:ext cx="1645920" cy="2743200"/>
          </a:xfrm>
          <a:prstGeom prst="rect">
            <a:avLst/>
          </a:prstGeom>
          <a:solidFill>
            <a:srgbClr val="F3F3F3"/>
          </a:solidFill>
          <a:ln w="12700">
            <a:solidFill>
              <a:srgbClr val="D9D9D9"/>
            </a:solidFill>
            <a:prstDash val="solid"/>
          </a:ln>
        </p:spPr>
      </p:sp>
      <p:sp>
        <p:nvSpPr>
          <p:cNvPr id="18" name="Text 16"/>
          <p:cNvSpPr txBox="1"/>
          <p:nvPr/>
        </p:nvSpPr>
        <p:spPr>
          <a:xfrm>
            <a:off x="10012680" y="1645920"/>
            <a:ext cx="1645920" cy="274320"/>
          </a:xfrm>
          <a:prstGeom prst="rect">
            <a:avLst/>
          </a:prstGeom>
          <a:noFill/>
          <a:ln/>
        </p:spPr>
        <p:txBody>
          <a:bodyPr wrap="square" lIns="0" tIns="0" rIns="0" bIns="0" rtlCol="0" anchor="t"/>
          <a:lstStyle/>
          <a:p>
            <a:pPr algn="ctr" indent="0" marL="0">
              <a:buNone/>
            </a:pPr>
            <a:r>
              <a:rPr lang="en-US" sz="1300" b="1" dirty="0">
                <a:solidFill>
                  <a:srgbClr val="111111"/>
                </a:solidFill>
                <a:latin typeface="Calibri" pitchFamily="34" charset="0"/>
                <a:ea typeface="Calibri" pitchFamily="34" charset="-122"/>
                <a:cs typeface="Calibri" pitchFamily="34" charset="-120"/>
              </a:rPr>
              <a:t>Users</a:t>
            </a:r>
            <a:endParaRPr lang="en-US" sz="1300" dirty="0"/>
          </a:p>
        </p:txBody>
      </p:sp>
      <p:sp>
        <p:nvSpPr>
          <p:cNvPr id="19" name="Text 17"/>
          <p:cNvSpPr txBox="1"/>
          <p:nvPr/>
        </p:nvSpPr>
        <p:spPr>
          <a:xfrm>
            <a:off x="10012680" y="2011680"/>
            <a:ext cx="1645920" cy="2194560"/>
          </a:xfrm>
          <a:prstGeom prst="rect">
            <a:avLst/>
          </a:prstGeom>
          <a:noFill/>
          <a:ln/>
        </p:spPr>
        <p:txBody>
          <a:bodyPr wrap="square" lIns="0" tIns="0" rIns="0" bIns="0" rtlCol="0" anchor="t"/>
          <a:lstStyle/>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Portal</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Map explorer</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GeoTIFF</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API</a:t>
            </a:r>
            <a:endParaRPr lang="en-US" sz="1100" dirty="0"/>
          </a:p>
        </p:txBody>
      </p:sp>
      <p:sp>
        <p:nvSpPr>
          <p:cNvPr id="20" name="Text 18"/>
          <p:cNvSpPr txBox="1"/>
          <p:nvPr/>
        </p:nvSpPr>
        <p:spPr>
          <a:xfrm>
            <a:off x="3154680" y="4434840"/>
            <a:ext cx="7315200" cy="27432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Also on acmadDL: africas2s, Forecast Hub, acmaddl-mcp, Beaker</a:t>
            </a:r>
            <a:endParaRPr lang="en-US" sz="1100" dirty="0"/>
          </a:p>
        </p:txBody>
      </p:sp>
      <p:sp>
        <p:nvSpPr>
          <p:cNvPr id="21" name="Text 19"/>
          <p:cNvSpPr txBox="1"/>
          <p:nvPr/>
        </p:nvSpPr>
        <p:spPr>
          <a:xfrm>
            <a:off x="548640" y="5029200"/>
            <a:ext cx="11064240" cy="1188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afrimet no longer stages raw files. The adapter returns a (time, lat, lon) array in final units.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New dataset: one entry in acmadDL's catalog, one in afrimet's. No adapter code.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acmadDL pinned to a commit. Bumps are re-verified.</a:t>
            </a:r>
            <a:endParaRPr lang="en-US" sz="1400" dirty="0"/>
          </a:p>
        </p:txBody>
      </p:sp>
      <p:sp>
        <p:nvSpPr>
          <p:cNvPr id="22" name="Text 20"/>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Catalogue: 23 → 53 datasets, 42 served by acmadDL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7955280"/>
                <a:gridCol w="731520"/>
              </a:tblGrid>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Migrated</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CHIRPS v2 monthly, dekad, pentad · GPCC monitoring, first guess · GPCP · TAMSAT · ERSST · OISST · ERA5-Land t2m, precip, PEV</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CHIRPS v3</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monthly, monthly prelim, dekad, dekad prelim, dekad TIF, pentad, annual, daily, daily 0.25°, rolling dekad</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reanalysis, merged obs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ERA5 t2m, precip, SST · CMAP · CAMS-OPI · CHIRPS v2 annual, daily</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NMME</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CFSv2 · CCSM4 · CESM1 · GEOS-S2S · SPEAR · CanSIPS-IC4</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C3S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ECMWF SEAS5 · UKMO · Météo-France · DWD · DWD GCFS2.1 · CMCC SPS4 · JMA · ECCC CanSIPSv3</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Unchanged, afrimet adapters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ARC2 · CRU TS · ISD-Lite · CFSv2 CPC hindcast · WIS2 stations · GHA stations · SPI 1, 3, 6, 12</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548640" y="5029200"/>
            <a:ext cx="11064240" cy="1188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The 12 migrated datasets produce the same rasters as before. Same layers, same styles, verified.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The 14 forecast systems are the models in ICPAC's and ACMAD's objective forecasts. AFRIMET had none.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acmadDL has 59 products. Each remaining one is a YAML entry away.</a:t>
            </a:r>
            <a:endParaRPr lang="en-US" sz="1400" dirty="0"/>
          </a:p>
        </p:txBody>
      </p:sp>
      <p:sp>
        <p:nvSpPr>
          <p:cNvPr id="5"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Verification and on-demand layers</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Verification</a:t>
            </a:r>
            <a:endParaRPr lang="en-US" sz="1700" dirty="0"/>
          </a:p>
        </p:txBody>
      </p:sp>
      <p:sp>
        <p:nvSpPr>
          <p:cNvPr id="4" name="Text 2"/>
          <p:cNvSpPr txBox="1"/>
          <p:nvPr/>
        </p:nvSpPr>
        <p:spPr>
          <a:xfrm>
            <a:off x="548640" y="1828800"/>
            <a:ext cx="5394960" cy="40233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Each migrated dataset published twice: legacy adapter, then acmadDL.</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COGs compared cell by cell: CRS, cell centres, nodata mask, values.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Centre tolerance 1% of grid spacing. Not byte equality; row order differs by source.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GPCP, ERSST, OISST now include cells west of 0°. The old clip stopped at the meridian.</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scripts/verify_acmaddl.py run, compare</a:t>
            </a:r>
            <a:endParaRPr lang="en-US" sz="1400" dirty="0"/>
          </a:p>
        </p:txBody>
      </p:sp>
      <p:sp>
        <p:nvSpPr>
          <p:cNvPr id="5" name="Text 3"/>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On-demand layers</a:t>
            </a:r>
            <a:endParaRPr lang="en-US" sz="1700" dirty="0"/>
          </a:p>
        </p:txBody>
      </p:sp>
      <p:sp>
        <p:nvSpPr>
          <p:cNvPr id="6" name="Shape 4"/>
          <p:cNvSpPr/>
          <p:nvPr/>
        </p:nvSpPr>
        <p:spPr>
          <a:xfrm>
            <a:off x="6400800" y="1874520"/>
            <a:ext cx="1051560" cy="548640"/>
          </a:xfrm>
          <a:prstGeom prst="rect">
            <a:avLst/>
          </a:prstGeom>
          <a:solidFill>
            <a:srgbClr val="FFFFFF"/>
          </a:solidFill>
          <a:ln w="12700">
            <a:solidFill>
              <a:srgbClr val="111111"/>
            </a:solidFill>
            <a:prstDash val="solid"/>
          </a:ln>
        </p:spPr>
      </p:sp>
      <p:sp>
        <p:nvSpPr>
          <p:cNvPr id="7" name="Text 5"/>
          <p:cNvSpPr txBox="1"/>
          <p:nvPr/>
        </p:nvSpPr>
        <p:spPr>
          <a:xfrm>
            <a:off x="6400800" y="1993392"/>
            <a:ext cx="105156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request</a:t>
            </a:r>
            <a:endParaRPr lang="en-US" sz="1050" dirty="0"/>
          </a:p>
          <a:p>
            <a:pPr algn="ctr" indent="0" marL="0">
              <a:buNone/>
            </a:pPr>
            <a:r>
              <a:rPr lang="en-US" sz="1050" dirty="0">
                <a:solidFill>
                  <a:srgbClr val="111111"/>
                </a:solidFill>
                <a:latin typeface="Calibri" pitchFamily="34" charset="0"/>
                <a:ea typeface="Calibri" pitchFamily="34" charset="-122"/>
                <a:cs typeface="Calibri" pitchFamily="34" charset="-120"/>
              </a:rPr>
              <a:t>month</a:t>
            </a:r>
            <a:endParaRPr lang="en-US" sz="1050" dirty="0"/>
          </a:p>
        </p:txBody>
      </p:sp>
      <p:sp>
        <p:nvSpPr>
          <p:cNvPr id="8" name="Shape 6"/>
          <p:cNvSpPr/>
          <p:nvPr/>
        </p:nvSpPr>
        <p:spPr>
          <a:xfrm>
            <a:off x="7498080" y="2020824"/>
            <a:ext cx="228600" cy="256032"/>
          </a:xfrm>
          <a:prstGeom prst="rightArrow">
            <a:avLst/>
          </a:prstGeom>
          <a:solidFill>
            <a:srgbClr val="111111"/>
          </a:solidFill>
          <a:ln w="12700">
            <a:solidFill>
              <a:srgbClr val="111111"/>
            </a:solidFill>
            <a:prstDash val="solid"/>
          </a:ln>
        </p:spPr>
      </p:sp>
      <p:sp>
        <p:nvSpPr>
          <p:cNvPr id="9" name="Shape 7"/>
          <p:cNvSpPr/>
          <p:nvPr/>
        </p:nvSpPr>
        <p:spPr>
          <a:xfrm>
            <a:off x="7772400" y="1874520"/>
            <a:ext cx="1005840" cy="548640"/>
          </a:xfrm>
          <a:prstGeom prst="rect">
            <a:avLst/>
          </a:prstGeom>
          <a:solidFill>
            <a:srgbClr val="FFFFFF"/>
          </a:solidFill>
          <a:ln w="12700">
            <a:solidFill>
              <a:srgbClr val="111111"/>
            </a:solidFill>
            <a:prstDash val="solid"/>
          </a:ln>
        </p:spPr>
      </p:sp>
      <p:sp>
        <p:nvSpPr>
          <p:cNvPr id="10" name="Text 8"/>
          <p:cNvSpPr txBox="1"/>
          <p:nvPr/>
        </p:nvSpPr>
        <p:spPr>
          <a:xfrm>
            <a:off x="7772400" y="1993392"/>
            <a:ext cx="100584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quota</a:t>
            </a:r>
            <a:endParaRPr lang="en-US" sz="1050" dirty="0"/>
          </a:p>
        </p:txBody>
      </p:sp>
      <p:sp>
        <p:nvSpPr>
          <p:cNvPr id="11" name="Shape 9"/>
          <p:cNvSpPr/>
          <p:nvPr/>
        </p:nvSpPr>
        <p:spPr>
          <a:xfrm>
            <a:off x="8823960" y="2020824"/>
            <a:ext cx="228600" cy="256032"/>
          </a:xfrm>
          <a:prstGeom prst="rightArrow">
            <a:avLst/>
          </a:prstGeom>
          <a:solidFill>
            <a:srgbClr val="111111"/>
          </a:solidFill>
          <a:ln w="12700">
            <a:solidFill>
              <a:srgbClr val="111111"/>
            </a:solidFill>
            <a:prstDash val="solid"/>
          </a:ln>
        </p:spPr>
      </p:sp>
      <p:sp>
        <p:nvSpPr>
          <p:cNvPr id="12" name="Shape 10"/>
          <p:cNvSpPr/>
          <p:nvPr/>
        </p:nvSpPr>
        <p:spPr>
          <a:xfrm>
            <a:off x="9098280" y="1874520"/>
            <a:ext cx="1097280" cy="548640"/>
          </a:xfrm>
          <a:prstGeom prst="rect">
            <a:avLst/>
          </a:prstGeom>
          <a:solidFill>
            <a:srgbClr val="FFFFFF"/>
          </a:solidFill>
          <a:ln w="19050">
            <a:solidFill>
              <a:srgbClr val="8A1C1C"/>
            </a:solidFill>
            <a:prstDash val="solid"/>
          </a:ln>
        </p:spPr>
      </p:sp>
      <p:sp>
        <p:nvSpPr>
          <p:cNvPr id="13" name="Text 11"/>
          <p:cNvSpPr txBox="1"/>
          <p:nvPr/>
        </p:nvSpPr>
        <p:spPr>
          <a:xfrm>
            <a:off x="9098280" y="1993392"/>
            <a:ext cx="1097280" cy="320040"/>
          </a:xfrm>
          <a:prstGeom prst="rect">
            <a:avLst/>
          </a:prstGeom>
          <a:noFill/>
          <a:ln/>
        </p:spPr>
        <p:txBody>
          <a:bodyPr wrap="square" lIns="0" tIns="0" rIns="0" bIns="0" rtlCol="0" anchor="t"/>
          <a:lstStyle/>
          <a:p>
            <a:pPr algn="ctr" indent="0" marL="0">
              <a:buNone/>
            </a:pPr>
            <a:r>
              <a:rPr lang="en-US" sz="1050" b="1" dirty="0">
                <a:solidFill>
                  <a:srgbClr val="8A1C1C"/>
                </a:solidFill>
                <a:latin typeface="Calibri" pitchFamily="34" charset="0"/>
                <a:ea typeface="Calibri" pitchFamily="34" charset="-122"/>
                <a:cs typeface="Calibri" pitchFamily="34" charset="-120"/>
              </a:rPr>
              <a:t>acmadDL</a:t>
            </a:r>
            <a:endParaRPr lang="en-US" sz="1050" dirty="0"/>
          </a:p>
          <a:p>
            <a:pPr algn="ctr" indent="0" marL="0">
              <a:buNone/>
            </a:pPr>
            <a:r>
              <a:rPr lang="en-US" sz="1050" b="1" dirty="0">
                <a:solidFill>
                  <a:srgbClr val="8A1C1C"/>
                </a:solidFill>
                <a:latin typeface="Calibri" pitchFamily="34" charset="0"/>
                <a:ea typeface="Calibri" pitchFamily="34" charset="-122"/>
                <a:cs typeface="Calibri" pitchFamily="34" charset="-120"/>
              </a:rPr>
              <a:t>fetch</a:t>
            </a:r>
            <a:endParaRPr lang="en-US" sz="1050" dirty="0"/>
          </a:p>
        </p:txBody>
      </p:sp>
      <p:sp>
        <p:nvSpPr>
          <p:cNvPr id="14" name="Shape 12"/>
          <p:cNvSpPr/>
          <p:nvPr/>
        </p:nvSpPr>
        <p:spPr>
          <a:xfrm>
            <a:off x="10241280" y="2020824"/>
            <a:ext cx="228600" cy="256032"/>
          </a:xfrm>
          <a:prstGeom prst="rightArrow">
            <a:avLst/>
          </a:prstGeom>
          <a:solidFill>
            <a:srgbClr val="111111"/>
          </a:solidFill>
          <a:ln w="12700">
            <a:solidFill>
              <a:srgbClr val="111111"/>
            </a:solidFill>
            <a:prstDash val="solid"/>
          </a:ln>
        </p:spPr>
      </p:sp>
      <p:sp>
        <p:nvSpPr>
          <p:cNvPr id="15" name="Shape 13"/>
          <p:cNvSpPr/>
          <p:nvPr/>
        </p:nvSpPr>
        <p:spPr>
          <a:xfrm>
            <a:off x="10515600" y="1874520"/>
            <a:ext cx="1097280" cy="548640"/>
          </a:xfrm>
          <a:prstGeom prst="rect">
            <a:avLst/>
          </a:prstGeom>
          <a:solidFill>
            <a:srgbClr val="FFFFFF"/>
          </a:solidFill>
          <a:ln w="12700">
            <a:solidFill>
              <a:srgbClr val="111111"/>
            </a:solidFill>
            <a:prstDash val="solid"/>
          </a:ln>
        </p:spPr>
      </p:sp>
      <p:sp>
        <p:nvSpPr>
          <p:cNvPr id="16" name="Text 14"/>
          <p:cNvSpPr txBox="1"/>
          <p:nvPr/>
        </p:nvSpPr>
        <p:spPr>
          <a:xfrm>
            <a:off x="10515600" y="1993392"/>
            <a:ext cx="109728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COG cache</a:t>
            </a:r>
            <a:endParaRPr lang="en-US" sz="1050" dirty="0"/>
          </a:p>
          <a:p>
            <a:pPr algn="ctr" indent="0" marL="0">
              <a:buNone/>
            </a:pPr>
            <a:r>
              <a:rPr lang="en-US" sz="1050" dirty="0">
                <a:solidFill>
                  <a:srgbClr val="111111"/>
                </a:solidFill>
                <a:latin typeface="Calibri" pitchFamily="34" charset="0"/>
                <a:ea typeface="Calibri" pitchFamily="34" charset="-122"/>
                <a:cs typeface="Calibri" pitchFamily="34" charset="-120"/>
              </a:rPr>
              <a:t>TiTiler</a:t>
            </a:r>
            <a:endParaRPr lang="en-US" sz="1050" dirty="0"/>
          </a:p>
        </p:txBody>
      </p:sp>
      <p:sp>
        <p:nvSpPr>
          <p:cNvPr id="17" name="Text 15"/>
          <p:cNvSpPr txBox="1"/>
          <p:nvPr/>
        </p:nvSpPr>
        <p:spPr>
          <a:xfrm>
            <a:off x="6400800" y="2651760"/>
            <a:ext cx="521208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core collection: scheduled monthly, published to GeoServer.</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extended collection: fetched per dataset, year, month on request. Cached, tiled, not archived.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500 MB per user per day. 5 GB global. 20 GB cache with eviction.</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Requests are logged. Usage decides what gets promoted to core.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Separate Celery queue. A slow CDS pull does not block the refresh.</a:t>
            </a:r>
            <a:endParaRPr lang="en-US" sz="1400" dirty="0"/>
          </a:p>
        </p:txBody>
      </p:sp>
      <p:sp>
        <p:nvSpPr>
          <p:cNvPr id="18" name="Text 16"/>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Status</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Where it is</a:t>
            </a:r>
            <a:endParaRPr lang="en-US" sz="1700" dirty="0"/>
          </a:p>
        </p:txBody>
      </p:sp>
      <p:sp>
        <p:nvSpPr>
          <p:cNvPr id="4" name="Text 2"/>
          <p:cNvSpPr txBox="1"/>
          <p:nvPr/>
        </p:nvSpPr>
        <p:spPr>
          <a:xfrm>
            <a:off x="548640" y="1828800"/>
            <a:ext cx="539496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Branch acmadDL on ACMAD-Niamey/afrimet. David Kelly, 9 commits, 8 to 30 Sep.</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Not merged. Not deployed. Pending ACMAD review.</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Tests cover the adapter, COG comparison, pipeline, on-demand API, cache, quotas.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 (Collins Asega) landed CI/CD and Docker on develop in parallel.</a:t>
            </a:r>
            <a:endParaRPr lang="en-US" sz="1400" dirty="0"/>
          </a:p>
        </p:txBody>
      </p:sp>
      <p:sp>
        <p:nvSpPr>
          <p:cNvPr id="5" name="Text 3"/>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Next</a:t>
            </a:r>
            <a:endParaRPr lang="en-US" sz="1700" dirty="0"/>
          </a:p>
        </p:txBody>
      </p:sp>
      <p:sp>
        <p:nvSpPr>
          <p:cNvPr id="6" name="Text 4"/>
          <p:cNvSpPr txBox="1"/>
          <p:nvPr/>
        </p:nvSpPr>
        <p:spPr>
          <a:xfrm>
            <a:off x="6400800" y="1828800"/>
            <a:ext cx="521208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 review, merge, deploy: core scheduled, extended on demand.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Forecast systems in Map explorer.</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Migrate ARC2, CRU TS, CFSv2 hindcast.</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africas2s layers: anomalies, terciles, seasonal aggregates.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Same library under ACMAD's NDJF run and s2s-mcp.</a:t>
            </a:r>
            <a:endParaRPr lang="en-US" sz="1400" dirty="0"/>
          </a:p>
        </p:txBody>
      </p:sp>
      <p:sp>
        <p:nvSpPr>
          <p:cNvPr id="7" name="Text 5"/>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0"/>
            <a:ext cx="11064240" cy="822960"/>
          </a:xfrm>
          <a:prstGeom prst="rect">
            <a:avLst/>
          </a:prstGeom>
          <a:noFill/>
          <a:ln/>
        </p:spPr>
        <p:txBody>
          <a:bodyPr wrap="square" lIns="0" tIns="0" rIns="0" bIns="0" rtlCol="0" anchor="t"/>
          <a:lstStyle/>
          <a:p>
            <a:pPr algn="ctr" indent="0" marL="0">
              <a:buNone/>
            </a:pPr>
            <a:r>
              <a:rPr lang="en-US" sz="3600" b="1" dirty="0">
                <a:solidFill>
                  <a:srgbClr val="111111"/>
                </a:solidFill>
                <a:latin typeface="Calibri" pitchFamily="34" charset="0"/>
                <a:ea typeface="Calibri" pitchFamily="34" charset="-122"/>
                <a:cs typeface="Calibri" pitchFamily="34" charset="-120"/>
              </a:rPr>
              <a:t>Weather agent benchmark</a:t>
            </a:r>
            <a:endParaRPr 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Questions for the benchmark</a:t>
            </a:r>
            <a:endParaRPr lang="en-US" sz="3000" dirty="0"/>
          </a:p>
        </p:txBody>
      </p:sp>
      <p:sp>
        <p:nvSpPr>
          <p:cNvPr id="3" name="Text 1"/>
          <p:cNvSpPr txBox="1"/>
          <p:nvPr/>
        </p:nvSpPr>
        <p:spPr>
          <a:xfrm>
            <a:off x="548640" y="1463040"/>
            <a:ext cx="11064240" cy="4114800"/>
          </a:xfrm>
          <a:prstGeom prst="rect">
            <a:avLst/>
          </a:prstGeom>
          <a:noFill/>
          <a:ln/>
        </p:spPr>
        <p:txBody>
          <a:bodyPr wrap="square" lIns="0" tIns="0" rIns="0" bIns="0" rtlCol="0" anchor="t"/>
          <a:lstStyle/>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Does reusing vetted code improve accuracy or reduce the cost of a complete forecasting workflow?</a:t>
            </a:r>
            <a:endParaRPr lang="en-US" sz="1800" dirty="0"/>
          </a:p>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Our skills teach agents how to use library APIs from Python. weather-skills primarily exposes parameterized commands.</a:t>
            </a:r>
            <a:endParaRPr lang="en-US" sz="1800" dirty="0"/>
          </a:p>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Working hypothesis: agents need Python to recover from data, parameter, and workflow errors.</a:t>
            </a:r>
            <a:endParaRPr lang="en-US" sz="1800" dirty="0"/>
          </a:p>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Compare task success, tokens, cost, and completion time across model sizes. Do not assume skills will win.</a:t>
            </a:r>
            <a:endParaRPr lang="en-US" sz="1800" dirty="0"/>
          </a:p>
        </p:txBody>
      </p:sp>
      <p:sp>
        <p:nvSpPr>
          <p:cNvPr id="4"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Current experiment: three execution conditions</a:t>
            </a:r>
            <a:endParaRPr lang="en-US" sz="3000" dirty="0"/>
          </a:p>
        </p:txBody>
      </p:sp>
      <p:sp>
        <p:nvSpPr>
          <p:cNvPr id="3" name="Shape 1"/>
          <p:cNvSpPr/>
          <p:nvPr/>
        </p:nvSpPr>
        <p:spPr>
          <a:xfrm>
            <a:off x="548640" y="1463040"/>
            <a:ext cx="3520440" cy="2377440"/>
          </a:xfrm>
          <a:prstGeom prst="rect">
            <a:avLst/>
          </a:prstGeom>
          <a:solidFill>
            <a:srgbClr val="FFFFFF"/>
          </a:solidFill>
          <a:ln w="12700">
            <a:solidFill>
              <a:srgbClr val="111111"/>
            </a:solidFill>
            <a:prstDash val="solid"/>
          </a:ln>
        </p:spPr>
      </p:sp>
      <p:sp>
        <p:nvSpPr>
          <p:cNvPr id="4" name="Text 2"/>
          <p:cNvSpPr txBox="1"/>
          <p:nvPr/>
        </p:nvSpPr>
        <p:spPr>
          <a:xfrm>
            <a:off x="731520"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Python only</a:t>
            </a:r>
            <a:endParaRPr lang="en-US" sz="1600" dirty="0"/>
          </a:p>
        </p:txBody>
      </p:sp>
      <p:sp>
        <p:nvSpPr>
          <p:cNvPr id="5" name="Text 3"/>
          <p:cNvSpPr txBox="1"/>
          <p:nvPr/>
        </p:nvSpPr>
        <p:spPr>
          <a:xfrm>
            <a:off x="731520"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writes, runs, and revises its own code using standard scientific Python packages.</a:t>
            </a:r>
            <a:endParaRPr lang="en-US" sz="1300" dirty="0"/>
          </a:p>
        </p:txBody>
      </p:sp>
      <p:sp>
        <p:nvSpPr>
          <p:cNvPr id="6" name="Shape 4"/>
          <p:cNvSpPr/>
          <p:nvPr/>
        </p:nvSpPr>
        <p:spPr>
          <a:xfrm>
            <a:off x="4315968" y="1463040"/>
            <a:ext cx="3520440" cy="2377440"/>
          </a:xfrm>
          <a:prstGeom prst="rect">
            <a:avLst/>
          </a:prstGeom>
          <a:solidFill>
            <a:srgbClr val="FFFFFF"/>
          </a:solidFill>
          <a:ln w="12700">
            <a:solidFill>
              <a:srgbClr val="111111"/>
            </a:solidFill>
            <a:prstDash val="solid"/>
          </a:ln>
        </p:spPr>
      </p:sp>
      <p:sp>
        <p:nvSpPr>
          <p:cNvPr id="7" name="Text 5"/>
          <p:cNvSpPr txBox="1"/>
          <p:nvPr/>
        </p:nvSpPr>
        <p:spPr>
          <a:xfrm>
            <a:off x="4498848"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Skills only</a:t>
            </a:r>
            <a:endParaRPr lang="en-US" sz="1600" dirty="0"/>
          </a:p>
        </p:txBody>
      </p:sp>
      <p:sp>
        <p:nvSpPr>
          <p:cNvPr id="8" name="Text 6"/>
          <p:cNvSpPr txBox="1"/>
          <p:nvPr/>
        </p:nvSpPr>
        <p:spPr>
          <a:xfrm>
            <a:off x="4498848"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reads guides and invokes weather-skills operations; custom Python is disabled.</a:t>
            </a:r>
            <a:endParaRPr lang="en-US" sz="1300" dirty="0"/>
          </a:p>
        </p:txBody>
      </p:sp>
      <p:sp>
        <p:nvSpPr>
          <p:cNvPr id="9" name="Shape 7"/>
          <p:cNvSpPr/>
          <p:nvPr/>
        </p:nvSpPr>
        <p:spPr>
          <a:xfrm>
            <a:off x="8092440" y="1463040"/>
            <a:ext cx="3520440" cy="2377440"/>
          </a:xfrm>
          <a:prstGeom prst="rect">
            <a:avLst/>
          </a:prstGeom>
          <a:solidFill>
            <a:srgbClr val="FFFFFF"/>
          </a:solidFill>
          <a:ln w="25400">
            <a:solidFill>
              <a:srgbClr val="8A1C1C"/>
            </a:solidFill>
            <a:prstDash val="solid"/>
          </a:ln>
        </p:spPr>
      </p:sp>
      <p:sp>
        <p:nvSpPr>
          <p:cNvPr id="10" name="Text 8"/>
          <p:cNvSpPr txBox="1"/>
          <p:nvPr/>
        </p:nvSpPr>
        <p:spPr>
          <a:xfrm>
            <a:off x="8275320" y="1600200"/>
            <a:ext cx="3154680" cy="365760"/>
          </a:xfrm>
          <a:prstGeom prst="rect">
            <a:avLst/>
          </a:prstGeom>
          <a:noFill/>
          <a:ln/>
        </p:spPr>
        <p:txBody>
          <a:bodyPr wrap="square" lIns="0" tIns="0" rIns="0" bIns="0" rtlCol="0" anchor="t"/>
          <a:lstStyle/>
          <a:p>
            <a:pPr indent="0" marL="0">
              <a:buNone/>
            </a:pPr>
            <a:r>
              <a:rPr lang="en-US" sz="1600" b="1" dirty="0">
                <a:solidFill>
                  <a:srgbClr val="8A1C1C"/>
                </a:solidFill>
                <a:latin typeface="Calibri" pitchFamily="34" charset="0"/>
                <a:ea typeface="Calibri" pitchFamily="34" charset="-122"/>
                <a:cs typeface="Calibri" pitchFamily="34" charset="-120"/>
              </a:rPr>
              <a:t>Python + skills</a:t>
            </a:r>
            <a:endParaRPr lang="en-US" sz="1600" dirty="0"/>
          </a:p>
        </p:txBody>
      </p:sp>
      <p:sp>
        <p:nvSpPr>
          <p:cNvPr id="11" name="Text 9"/>
          <p:cNvSpPr txBox="1"/>
          <p:nvPr/>
        </p:nvSpPr>
        <p:spPr>
          <a:xfrm>
            <a:off x="8275320"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can combine catalog operations with its own Python. Skill use is measured, not assumed.</a:t>
            </a:r>
            <a:endParaRPr lang="en-US" sz="1300" dirty="0"/>
          </a:p>
        </p:txBody>
      </p:sp>
      <p:sp>
        <p:nvSpPr>
          <p:cNvPr id="12" name="Text 10"/>
          <p:cNvSpPr txBox="1"/>
          <p:nvPr/>
        </p:nvSpPr>
        <p:spPr>
          <a:xfrm>
            <a:off x="548640" y="4206240"/>
            <a:ext cx="11064240" cy="14630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Ten models, one task, three conditions: 30 planned attempts. The small-model tier includes 1B, 3B, 7B, 8B, and 9B models.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Astra is excluded because it helped develop the benchmark. Earlier runs remain archived.</a:t>
            </a:r>
            <a:endParaRPr lang="en-US" sz="1500" dirty="0"/>
          </a:p>
        </p:txBody>
      </p:sp>
      <p:sp>
        <p:nvSpPr>
          <p:cNvPr id="13" name="Text 11"/>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Current task: a two-week Kenya heat outlook</a:t>
            </a:r>
            <a:endParaRPr lang="en-US" sz="3000" dirty="0"/>
          </a:p>
        </p:txBody>
      </p:sp>
      <p:sp>
        <p:nvSpPr>
          <p:cNvPr id="3" name="Shape 1"/>
          <p:cNvSpPr/>
          <p:nvPr/>
        </p:nvSpPr>
        <p:spPr>
          <a:xfrm>
            <a:off x="548640" y="1463040"/>
            <a:ext cx="3200400" cy="685800"/>
          </a:xfrm>
          <a:prstGeom prst="rect">
            <a:avLst/>
          </a:prstGeom>
          <a:solidFill>
            <a:srgbClr val="FFFFFF"/>
          </a:solidFill>
          <a:ln w="12700">
            <a:solidFill>
              <a:srgbClr val="111111"/>
            </a:solidFill>
            <a:prstDash val="solid"/>
          </a:ln>
        </p:spPr>
      </p:sp>
      <p:sp>
        <p:nvSpPr>
          <p:cNvPr id="4" name="Text 2"/>
          <p:cNvSpPr txBox="1"/>
          <p:nvPr/>
        </p:nvSpPr>
        <p:spPr>
          <a:xfrm>
            <a:off x="640080" y="1554480"/>
            <a:ext cx="301752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cosine-latitude spatial mean</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for each member and day</a:t>
            </a:r>
            <a:endParaRPr lang="en-US" sz="1150" dirty="0"/>
          </a:p>
        </p:txBody>
      </p:sp>
      <p:sp>
        <p:nvSpPr>
          <p:cNvPr id="5" name="Shape 3"/>
          <p:cNvSpPr/>
          <p:nvPr/>
        </p:nvSpPr>
        <p:spPr>
          <a:xfrm>
            <a:off x="3840480" y="1682496"/>
            <a:ext cx="365760" cy="256032"/>
          </a:xfrm>
          <a:prstGeom prst="rightArrow">
            <a:avLst/>
          </a:prstGeom>
          <a:solidFill>
            <a:srgbClr val="111111"/>
          </a:solidFill>
          <a:ln w="12700">
            <a:solidFill>
              <a:srgbClr val="111111"/>
            </a:solidFill>
            <a:prstDash val="solid"/>
          </a:ln>
        </p:spPr>
      </p:sp>
      <p:sp>
        <p:nvSpPr>
          <p:cNvPr id="6" name="Shape 4"/>
          <p:cNvSpPr/>
          <p:nvPr/>
        </p:nvSpPr>
        <p:spPr>
          <a:xfrm>
            <a:off x="4297680" y="1463040"/>
            <a:ext cx="3200400" cy="685800"/>
          </a:xfrm>
          <a:prstGeom prst="rect">
            <a:avLst/>
          </a:prstGeom>
          <a:solidFill>
            <a:srgbClr val="FFFFFF"/>
          </a:solidFill>
          <a:ln w="12700">
            <a:solidFill>
              <a:srgbClr val="111111"/>
            </a:solidFill>
            <a:prstDash val="solid"/>
          </a:ln>
        </p:spPr>
      </p:sp>
      <p:sp>
        <p:nvSpPr>
          <p:cNvPr id="7" name="Text 5"/>
          <p:cNvSpPr txBox="1"/>
          <p:nvPr/>
        </p:nvSpPr>
        <p:spPr>
          <a:xfrm>
            <a:off x="4389120" y="1554480"/>
            <a:ext cx="301752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weekly peak</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per member</a:t>
            </a:r>
            <a:endParaRPr lang="en-US" sz="1150" dirty="0"/>
          </a:p>
        </p:txBody>
      </p:sp>
      <p:sp>
        <p:nvSpPr>
          <p:cNvPr id="8" name="Shape 6"/>
          <p:cNvSpPr/>
          <p:nvPr/>
        </p:nvSpPr>
        <p:spPr>
          <a:xfrm>
            <a:off x="7589520" y="1682496"/>
            <a:ext cx="365760" cy="256032"/>
          </a:xfrm>
          <a:prstGeom prst="rightArrow">
            <a:avLst/>
          </a:prstGeom>
          <a:solidFill>
            <a:srgbClr val="111111"/>
          </a:solidFill>
          <a:ln w="12700">
            <a:solidFill>
              <a:srgbClr val="111111"/>
            </a:solidFill>
            <a:prstDash val="solid"/>
          </a:ln>
        </p:spPr>
      </p:sp>
      <p:sp>
        <p:nvSpPr>
          <p:cNvPr id="9" name="Shape 7"/>
          <p:cNvSpPr/>
          <p:nvPr/>
        </p:nvSpPr>
        <p:spPr>
          <a:xfrm>
            <a:off x="8046720" y="1463040"/>
            <a:ext cx="3566160" cy="685800"/>
          </a:xfrm>
          <a:prstGeom prst="rect">
            <a:avLst/>
          </a:prstGeom>
          <a:solidFill>
            <a:srgbClr val="FFFFFF"/>
          </a:solidFill>
          <a:ln w="12700">
            <a:solidFill>
              <a:srgbClr val="111111"/>
            </a:solidFill>
            <a:prstDash val="solid"/>
          </a:ln>
        </p:spPr>
      </p:sp>
      <p:sp>
        <p:nvSpPr>
          <p:cNvPr id="10" name="Text 8"/>
          <p:cNvSpPr txBox="1"/>
          <p:nvPr/>
        </p:nvSpPr>
        <p:spPr>
          <a:xfrm>
            <a:off x="8138160" y="1554480"/>
            <a:ext cx="338328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ensemble median, spread,</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minimum, and maximum</a:t>
            </a:r>
            <a:endParaRPr lang="en-US" sz="1150" dirty="0"/>
          </a:p>
        </p:txBody>
      </p:sp>
      <p:sp>
        <p:nvSpPr>
          <p:cNvPr id="11" name="Text 9"/>
          <p:cNvSpPr txBox="1"/>
          <p:nvPr/>
        </p:nvSpPr>
        <p:spPr>
          <a:xfrm>
            <a:off x="548640" y="2468880"/>
            <a:ext cx="11064240" cy="356616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Use a real, archived ECMWF S2S forecast to calculate the hottest daily regional-mean temperature in each week.</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Pass requires a structured answer matching an independent numeric reference, correct units and source citation, and a valid, nonblank figure.</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Every attempt gets the same cached raw data and an empty workspace. Intermediate results stay within that attempt; no outputs or history cross runs.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Equal ceilings: 24 model calls, 40 executions, 200k tokens, 600 seconds.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Download and setup are excluded so solve time measures analysis, not data transfer.</a:t>
            </a:r>
            <a:endParaRPr lang="en-US" sz="1500" dirty="0"/>
          </a:p>
        </p:txBody>
      </p:sp>
      <p:sp>
        <p:nvSpPr>
          <p:cNvPr id="12" name="Text 10"/>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Interim snapshot: 17 of 30 attempts</a:t>
            </a:r>
            <a:endParaRPr lang="en-US" sz="3000" dirty="0"/>
          </a:p>
        </p:txBody>
      </p:sp>
      <p:pic>
        <p:nvPicPr>
          <p:cNvPr id="3" name="Image 0" descr="/Users/brandonrose/repos/bmgf/accord/programmatic/meeting-slides/benchmark-dashboard.png">    </p:cNvPr>
          <p:cNvPicPr>
            <a:picLocks noChangeAspect="1"/>
          </p:cNvPicPr>
          <p:nvPr/>
        </p:nvPicPr>
        <p:blipFill>
          <a:blip r:embed="rId1"/>
          <a:stretch>
            <a:fillRect/>
          </a:stretch>
        </p:blipFill>
        <p:spPr>
          <a:xfrm>
            <a:off x="1709928" y="1325880"/>
            <a:ext cx="8778240" cy="4608576"/>
          </a:xfrm>
          <a:prstGeom prst="rect">
            <a:avLst/>
          </a:prstGeom>
        </p:spPr>
      </p:pic>
      <p:sp>
        <p:nvSpPr>
          <p:cNvPr id="4" name="Text 1"/>
          <p:cNvSpPr txBox="1"/>
          <p:nvPr/>
        </p:nvSpPr>
        <p:spPr>
          <a:xfrm>
            <a:off x="1709928" y="5989320"/>
            <a:ext cx="8778240" cy="32004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Landing page of the benchmark dashboard. Select a result to inspect its trace. Not a ranking.</a:t>
            </a:r>
            <a:endParaRPr lang="en-US" sz="1100" dirty="0"/>
          </a:p>
        </p:txBody>
      </p:sp>
      <p:sp>
        <p:nvSpPr>
          <p:cNvPr id="5"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Observed failure modes</a:t>
            </a:r>
            <a:endParaRPr lang="en-US" sz="3000" dirty="0"/>
          </a:p>
        </p:txBody>
      </p:sp>
      <p:sp>
        <p:nvSpPr>
          <p:cNvPr id="3" name="Text 1"/>
          <p:cNvSpPr txBox="1"/>
          <p:nvPr/>
        </p:nvSpPr>
        <p:spPr>
          <a:xfrm>
            <a:off x="548640" y="1463040"/>
            <a:ext cx="11064240" cy="4023360"/>
          </a:xfrm>
          <a:prstGeom prst="rect">
            <a:avLst/>
          </a:prstGeom>
          <a:noFill/>
          <a:ln/>
        </p:spPr>
        <p:txBody>
          <a:bodyPr wrap="square" lIns="0" tIns="0" rIns="0" bIns="0" rtlCol="0" anchor="t"/>
          <a:lstStyle/>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Skills bypassed: </a:t>
            </a:r>
            <a:pPr indent="0" marL="0">
              <a:buNone/>
            </a:pPr>
            <a:r>
              <a:rPr lang="en-US" sz="1700" dirty="0">
                <a:solidFill>
                  <a:srgbClr val="111111"/>
                </a:solidFill>
                <a:latin typeface="Calibri" pitchFamily="34" charset="0"/>
                <a:ea typeface="Calibri" pitchFamily="34" charset="-122"/>
                <a:cs typeface="Calibri" pitchFamily="34" charset="-120"/>
              </a:rPr>
              <a:t>0 of 6 Python + skills attempts invoked a skill. The prompt makes skills optional; this condition tests availability, not actual reuse.</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Interface friction: </a:t>
            </a:r>
            <a:pPr indent="0" marL="0">
              <a:buNone/>
            </a:pPr>
            <a:r>
              <a:rPr lang="en-US" sz="1700" dirty="0">
                <a:solidFill>
                  <a:srgbClr val="111111"/>
                </a:solidFill>
                <a:latin typeface="Calibri" pitchFamily="34" charset="0"/>
                <a:ea typeface="Calibri" pitchFamily="34" charset="-122"/>
                <a:cs typeface="Calibri" pitchFamily="34" charset="-120"/>
              </a:rPr>
              <a:t>wrong action names, XML tool-call wrappers, guide-read requirements, and invalid CLI arguments consumed turns.</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Recovery and delivery: </a:t>
            </a:r>
            <a:pPr indent="0" marL="0">
              <a:buNone/>
            </a:pPr>
            <a:r>
              <a:rPr lang="en-US" sz="1700" dirty="0">
                <a:solidFill>
                  <a:srgbClr val="111111"/>
                </a:solidFill>
                <a:latin typeface="Calibri" pitchFamily="34" charset="0"/>
                <a:ea typeface="Calibri" pitchFamily="34" charset="-122"/>
                <a:cs typeface="Calibri" pitchFamily="34" charset="-120"/>
              </a:rPr>
              <a:t>Python indexing and unit errors required retries. Sonnet produced a figure but failed the strict artifact-submission contract.</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Budget exhaustion: </a:t>
            </a:r>
            <a:pPr indent="0" marL="0">
              <a:buNone/>
            </a:pPr>
            <a:r>
              <a:rPr lang="en-US" sz="1700" dirty="0">
                <a:solidFill>
                  <a:srgbClr val="111111"/>
                </a:solidFill>
                <a:latin typeface="Calibri" pitchFamily="34" charset="0"/>
                <a:ea typeface="Calibri" pitchFamily="34" charset="-122"/>
                <a:cs typeface="Calibri" pitchFamily="34" charset="-120"/>
              </a:rPr>
              <a:t>6 of 7 failures hit the token limit; Qwen's hybrid run hit the time limit. Repeated context and unusable responses contributed.</a:t>
            </a:r>
            <a:endParaRPr lang="en-US" sz="1700" dirty="0"/>
          </a:p>
        </p:txBody>
      </p:sp>
      <p:sp>
        <p:nvSpPr>
          <p:cNvPr id="4" name="Text 2"/>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Initial six-model batch: 18 attempts, 7 failures. One attempt per model and condition.</a:t>
            </a:r>
            <a:endParaRPr lang="en-US" sz="1200" dirty="0"/>
          </a:p>
        </p:txBody>
      </p:sp>
      <p:sp>
        <p:nvSpPr>
          <p:cNvPr id="5" name="Text 3"/>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Next: test the libraries and their skill guides directly</a:t>
            </a:r>
            <a:endParaRPr lang="en-US" sz="3000" dirty="0"/>
          </a:p>
        </p:txBody>
      </p:sp>
      <p:sp>
        <p:nvSpPr>
          <p:cNvPr id="3" name="Shape 1"/>
          <p:cNvSpPr/>
          <p:nvPr/>
        </p:nvSpPr>
        <p:spPr>
          <a:xfrm>
            <a:off x="548640" y="1463040"/>
            <a:ext cx="3520440" cy="2194560"/>
          </a:xfrm>
          <a:prstGeom prst="rect">
            <a:avLst/>
          </a:prstGeom>
          <a:solidFill>
            <a:srgbClr val="FFFFFF"/>
          </a:solidFill>
          <a:ln w="12700">
            <a:solidFill>
              <a:srgbClr val="111111"/>
            </a:solidFill>
            <a:prstDash val="solid"/>
          </a:ln>
        </p:spPr>
      </p:sp>
      <p:sp>
        <p:nvSpPr>
          <p:cNvPr id="4" name="Text 2"/>
          <p:cNvSpPr txBox="1"/>
          <p:nvPr/>
        </p:nvSpPr>
        <p:spPr>
          <a:xfrm>
            <a:off x="731520"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Baseline</a:t>
            </a:r>
            <a:endParaRPr lang="en-US" sz="1600" dirty="0"/>
          </a:p>
        </p:txBody>
      </p:sp>
      <p:sp>
        <p:nvSpPr>
          <p:cNvPr id="5" name="Text 3"/>
          <p:cNvSpPr txBox="1"/>
          <p:nvPr/>
        </p:nvSpPr>
        <p:spPr>
          <a:xfrm>
            <a:off x="731520" y="2057400"/>
            <a:ext cx="3154680" cy="155448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General scientific Python; the agent implements the workflow itself.</a:t>
            </a:r>
            <a:endParaRPr lang="en-US" sz="1300" dirty="0"/>
          </a:p>
        </p:txBody>
      </p:sp>
      <p:sp>
        <p:nvSpPr>
          <p:cNvPr id="6" name="Shape 4"/>
          <p:cNvSpPr/>
          <p:nvPr/>
        </p:nvSpPr>
        <p:spPr>
          <a:xfrm>
            <a:off x="4315968" y="1463040"/>
            <a:ext cx="3520440" cy="2194560"/>
          </a:xfrm>
          <a:prstGeom prst="rect">
            <a:avLst/>
          </a:prstGeom>
          <a:solidFill>
            <a:srgbClr val="FFFFFF"/>
          </a:solidFill>
          <a:ln w="12700">
            <a:solidFill>
              <a:srgbClr val="111111"/>
            </a:solidFill>
            <a:prstDash val="solid"/>
          </a:ln>
        </p:spPr>
      </p:sp>
      <p:sp>
        <p:nvSpPr>
          <p:cNvPr id="7" name="Text 5"/>
          <p:cNvSpPr txBox="1"/>
          <p:nvPr/>
        </p:nvSpPr>
        <p:spPr>
          <a:xfrm>
            <a:off x="4498848"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Libraries</a:t>
            </a:r>
            <a:endParaRPr lang="en-US" sz="1600" dirty="0"/>
          </a:p>
        </p:txBody>
      </p:sp>
      <p:sp>
        <p:nvSpPr>
          <p:cNvPr id="8" name="Text 6"/>
          <p:cNvSpPr txBox="1"/>
          <p:nvPr/>
        </p:nvSpPr>
        <p:spPr>
          <a:xfrm>
            <a:off x="4498848" y="2057400"/>
            <a:ext cx="3154680" cy="155448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same Python environment plus acmadDL and africaS2S, with ordinary API documentation.</a:t>
            </a:r>
            <a:endParaRPr lang="en-US" sz="1300" dirty="0"/>
          </a:p>
        </p:txBody>
      </p:sp>
      <p:sp>
        <p:nvSpPr>
          <p:cNvPr id="9" name="Shape 7"/>
          <p:cNvSpPr/>
          <p:nvPr/>
        </p:nvSpPr>
        <p:spPr>
          <a:xfrm>
            <a:off x="8092440" y="1463040"/>
            <a:ext cx="3520440" cy="2194560"/>
          </a:xfrm>
          <a:prstGeom prst="rect">
            <a:avLst/>
          </a:prstGeom>
          <a:solidFill>
            <a:srgbClr val="FFFFFF"/>
          </a:solidFill>
          <a:ln w="25400">
            <a:solidFill>
              <a:srgbClr val="8A1C1C"/>
            </a:solidFill>
            <a:prstDash val="solid"/>
          </a:ln>
        </p:spPr>
      </p:sp>
      <p:sp>
        <p:nvSpPr>
          <p:cNvPr id="10" name="Text 8"/>
          <p:cNvSpPr txBox="1"/>
          <p:nvPr/>
        </p:nvSpPr>
        <p:spPr>
          <a:xfrm>
            <a:off x="8275320" y="1600200"/>
            <a:ext cx="3154680" cy="365760"/>
          </a:xfrm>
          <a:prstGeom prst="rect">
            <a:avLst/>
          </a:prstGeom>
          <a:noFill/>
          <a:ln/>
        </p:spPr>
        <p:txBody>
          <a:bodyPr wrap="square" lIns="0" tIns="0" rIns="0" bIns="0" rtlCol="0" anchor="t"/>
          <a:lstStyle/>
          <a:p>
            <a:pPr indent="0" marL="0">
              <a:buNone/>
            </a:pPr>
            <a:r>
              <a:rPr lang="en-US" sz="1600" b="1" dirty="0">
                <a:solidFill>
                  <a:srgbClr val="8A1C1C"/>
                </a:solidFill>
                <a:latin typeface="Calibri" pitchFamily="34" charset="0"/>
                <a:ea typeface="Calibri" pitchFamily="34" charset="-122"/>
                <a:cs typeface="Calibri" pitchFamily="34" charset="-120"/>
              </a:rPr>
              <a:t>Libraries + skills</a:t>
            </a:r>
            <a:endParaRPr lang="en-US" sz="1600" dirty="0"/>
          </a:p>
        </p:txBody>
      </p:sp>
      <p:sp>
        <p:nvSpPr>
          <p:cNvPr id="11" name="Text 9"/>
          <p:cNvSpPr txBox="1"/>
          <p:nvPr/>
        </p:nvSpPr>
        <p:spPr>
          <a:xfrm>
            <a:off x="8275320" y="2057400"/>
            <a:ext cx="3154680" cy="155448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same libraries plus agent guides and progressively disclosed workflow references.</a:t>
            </a:r>
            <a:endParaRPr lang="en-US" sz="1300" dirty="0"/>
          </a:p>
        </p:txBody>
      </p:sp>
      <p:sp>
        <p:nvSpPr>
          <p:cNvPr id="12" name="Text 10"/>
          <p:cNvSpPr txBox="1"/>
          <p:nvPr/>
        </p:nvSpPr>
        <p:spPr>
          <a:xfrm>
            <a:off x="548640" y="4023360"/>
            <a:ext cx="11064240" cy="164592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Keep Python available in every condition. Use seasonal tasks covering data acquisition, downscaling, held-out verification, and forecast delivery.</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Predeclare tasks and scoring; freeze versions and seeds; repeat across regions, methods, and models.</a:t>
            </a:r>
            <a:endParaRPr lang="en-US" sz="1500" dirty="0"/>
          </a:p>
        </p:txBody>
      </p:sp>
      <p:sp>
        <p:nvSpPr>
          <p:cNvPr id="13" name="Text 11"/>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