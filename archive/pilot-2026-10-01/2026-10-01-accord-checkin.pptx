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 id="272" r:id="rId23"/>
    <p:sldId id="273" r:id="rId24"/>
    <p:sldId id="274" r:id="rId25"/>
    <p:sldId id="275" r:id="rId2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ACMAD's own product and team. The issue is the one every tool in this space has: acquisition code is written again inside each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acmadDL owns remote source to clean xarray. afrimet keeps what is specific to a web catalogue. ACCORD's forecast tools and AFRIMET now share one acquisition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catalogue entries on the acmadDL branch of ACMAD-Niamey/afrimet vs develop. Portal shows 19 today because WIS2 and derived SPI are not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On-demand is how 59 products get exposed without ACMAD archiving all of them. The log tells ACMAD what to promote.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ask. Offer to walk through the branch if they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motivation for the actual three-arm seasonal pilot. No claim that Rhiza cannot produce reusable code, that ACCORD already improves accuracy, or that an extra ACCORD skills condition was tested.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content imported from the original check-in deck. Different task, conditions, model matrix and execution limits from the seasonal rainfall pilot. Hidden from the slideshow to avoid mixing claims; retained for reference. Its figures are not included in the current comparison.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content imported from the original check-in deck. Different task, conditions, model matrix and execution limits from the seasonal rainfall pilot. Hidden from the slideshow to avoid mixing claims; retained for reference. Its figures are not included in the current comparison.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content imported from the original check-in deck. Different task, conditions, model matrix and execution limits from the seasonal rainfall pilot. Hidden from the slideshow to avoid mixing claims; retained for reference. Its figures are not included in the current comparison.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content imported from the original check-in deck. Different task, conditions, model matrix and execution limits from the seasonal rainfall pilot. Hidden from the slideshow to avoid mixing claims; retained for reference. Its figures are not included in the current comparison.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Supersedes the unexecuted libraries-versus-libraries-plus-guides proposal in the original deck. There is no fourth arm or bespoke ACCORD skill-guide experiment. Generic Python is allowed everywhere. The configured Rhiza arm gets the actual catalog and scripts, but these attempts did not read individual SKILL.md files or invoke scripts. The ACCORD arm gets installed packages, package docs and a generic navigation pointer to the persistent ensemble-regression API. All tested data were supplied; Rosetta acquisition and download caching are available but their benefits were not measured here. Model IDs, configurations, artifacts and actual toolkit imports are logged.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Kenya locator places the shaded study box beside its probability grid. Natural Earth generalized boundary, source/hash in slides/assets/kenya-study-area.json. Forecast map source and hash: slides/assets/tercile-example.json. Above-normal rainfall is above the observed 1993–2004 upper-tercile threshold; this is one of three probabilities, not a map of skill. The 12 cells cover south=-3, north=1, west=36, east=39, not a national forecast. Monthly rates are converted to seasonal totals; CHIRPS observations are spatially aggregated with cosine-latitude weights. Leave-one-year-out validation fits both thresholds and calibration within each fold. Forecast-only frozen inference receives no verification observations. Twelve independent artifact, calculation and replay checks plus five LLM-judge criteria; accuracy uses RPS/RMSE separately from completion and cost. These are previously inspected development years, two per batch, so general skill and calibration are not established. Same per-attempt caps: $5.50, 900 seconds, 800k tokens, 60 turns, 16,384 output tokens. Data are supplied; acquisition is not tested.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Colors are arm-specific on all comparison charts: scratch gray, Rhiza blue, ACCORD red. Rows are grouped Haiku / Sonnet / Fable, always scratch / Rhiza / ACCORD within each group. Haiku + ACCORD and Sonnet + ACCORD are separately authorized extensions with identical task, model settings, pinned sandbox image, tool guidance and inputs. No retries or alternate prompts. All attempts retained. Sonnet scratch missed three units-metadata checks despite correct array values. Fable Rhiza has a read-only replay defect. Rhiza conditions did not call scripts or read individual SKILL.md files. ACCORD agents use the installed scientific API. Checks and exact RPS/RMSE, model versions, prompts, traces, tokens and USD are in report.html and results/revision-summary.json. Sonnet + Rhiza matched Fable scratch’s 12/12 checks with 49% fewer tokens, 67% less elapsed time and 89% lower agent API cost. This does not mean skills improve every model or that libraries universally improve accuracy.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Extension task: with the same 12 cells and training data, prepare the saved predictor for the September-issued October–December forecasts for 2007 and 2008, instead of the initial 2005 and 2006. Each Fable arm starts a fresh conversation with its own retained files. No refitting; repairs may be documented. Verification observations remain private. The locator on slide 16 marks the same study box for both phases. Follow-up uses 2007–08, two previously inspected development years. All three Fable arms retained unchanged fitted-state hashes and cached inputs. Direct predictors execute in approximately 1–2 seconds without LLM calls. Bars instead measure conversational follow-up including validation and reporting. ACCORD initial + follow-up cost $6.27595 versus scratch $7.13088. No causal reuse estimate without fresh-workspace controls. Sonnet has initial comparisons only; follow-ups remain Fable 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results/revision-summary.json, metrics.RPS for Fable scratch, Rhiza and ACCORD initial and follow-up attempts. All scores come from frozen predictors evaluated against private-to-agent CHIRPS observations on the same 12 cells. Training years 1993–2004; initial 2005–06; follow-up 2007–08. Raw baseline counts ECMWF members in observed-training terciles. The model-climatology baseline counts members against terciles from the model’s own historical ensemble distribution; it accounts for distribution differences without the agent-fitted regression. Lower RPS is better. Initial RPS: raw 0.368546598, model-climatology 0.295942372, scratch 0.279028737, Rhiza 0.281017925, ACCORD 0.279452220. Follow-up: raw 0.439242635, model-climatology 0.353362053, scratch 0.396182983, Rhiza 0.403827736, ACCORD 0.412328401. Rainfall-amount RMSE, initial/follow-up mm: raw 214.898/80.597, scratch 178.094/70.096, Rhiza 178.485/73.325, ACCORD 175.870/69.915. Those amount-error reductions do not establish an ACCORD advantage over scratch. Only two development years per batch; spatial cells are not independent years, and verification years had previously been inspected by the designer. Reliability diagnostics are descriptive, not evidence of generally calibrated probabilities. Rhiza’s frozen predictor produced scoreable outputs even though solve.py failed the separate full-workflow replay gate. No submissions were repaired, no new forecasts run, and no new model calls were made for this slide. The next scientific evaluation should apply saved predictors to more untouched years and compare against the same baselines.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from /Users/ezekielbarnett/Developer/ACCORD/docs/presentations/toward-auto-science.html and assets/slide-autoscience-loop.svg. The source describes retrieve/reason/experiment workers submitting to a shared evaluator, curating findings, dead ends, wiki pages and writeups, and using that record for the next hypothesis. This slide is the intended research direction; the weather pilot does not yet demonstrate recursive improvement, a shared scientific leaderboard, or community-contributed discoveries. No illustrative skill curve is presented as measured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468880"/>
            <a:ext cx="11064240" cy="914400"/>
          </a:xfrm>
          <a:prstGeom prst="rect">
            <a:avLst/>
          </a:prstGeom>
          <a:noFill/>
          <a:ln/>
        </p:spPr>
        <p:txBody>
          <a:bodyPr wrap="square" lIns="0" tIns="0" rIns="0" bIns="0" rtlCol="0" anchor="t"/>
          <a:lstStyle/>
          <a:p>
            <a:pPr algn="ctr" indent="0" marL="0">
              <a:buNone/>
            </a:pPr>
            <a:r>
              <a:rPr lang="en-US" sz="4000" b="1" dirty="0">
                <a:solidFill>
                  <a:srgbClr val="111111"/>
                </a:solidFill>
                <a:latin typeface="Calibri" pitchFamily="34" charset="0"/>
                <a:ea typeface="Calibri" pitchFamily="34" charset="-122"/>
                <a:cs typeface="Calibri" pitchFamily="34" charset="-120"/>
              </a:rPr>
              <a:t>ACCORD check-in</a:t>
            </a:r>
            <a:endParaRPr lang="en-US" sz="4000" dirty="0"/>
          </a:p>
        </p:txBody>
      </p:sp>
      <p:sp>
        <p:nvSpPr>
          <p:cNvPr id="3" name="Text 1"/>
          <p:cNvSpPr txBox="1"/>
          <p:nvPr/>
        </p:nvSpPr>
        <p:spPr>
          <a:xfrm>
            <a:off x="548640" y="3429000"/>
            <a:ext cx="11064240" cy="457200"/>
          </a:xfrm>
          <a:prstGeom prst="rect">
            <a:avLst/>
          </a:prstGeom>
          <a:noFill/>
          <a:ln/>
        </p:spPr>
        <p:txBody>
          <a:bodyPr wrap="square" lIns="0" tIns="0" rIns="0" bIns="0" rtlCol="0" anchor="t"/>
          <a:lstStyle/>
          <a:p>
            <a:pPr algn="ctr" indent="0" marL="0">
              <a:buNone/>
            </a:pPr>
            <a:r>
              <a:rPr lang="en-US" sz="1800" dirty="0">
                <a:solidFill>
                  <a:srgbClr val="6B6B6B"/>
                </a:solidFill>
                <a:latin typeface="Calibri" pitchFamily="34" charset="0"/>
                <a:ea typeface="Calibri" pitchFamily="34" charset="-122"/>
                <a:cs typeface="Calibri" pitchFamily="34" charset="-120"/>
              </a:rPr>
              <a:t>1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Agenda</a:t>
            </a:r>
            <a:endParaRPr lang="en-US" sz="3000" dirty="0"/>
          </a:p>
        </p:txBody>
      </p:sp>
      <p:sp>
        <p:nvSpPr>
          <p:cNvPr id="3" name="Text 1"/>
          <p:cNvSpPr txBox="1"/>
          <p:nvPr/>
        </p:nvSpPr>
        <p:spPr>
          <a:xfrm>
            <a:off x="548640" y="1463040"/>
            <a:ext cx="11064240" cy="4114800"/>
          </a:xfrm>
          <a:prstGeom prst="rect">
            <a:avLst/>
          </a:prstGeom>
          <a:noFill/>
          <a:ln/>
        </p:spPr>
        <p:txBody>
          <a:bodyPr wrap="square" lIns="0" tIns="0" rIns="0" bIns="0" rtlCol="0" anchor="t"/>
          <a:lstStyle/>
          <a:p>
            <a:pPr indent="0" marL="0">
              <a:spcAft>
                <a:spcPts val="600"/>
              </a:spcAft>
              <a:buNone/>
            </a:pPr>
            <a:r>
              <a:rPr lang="en-US" sz="2000" dirty="0">
                <a:solidFill>
                  <a:srgbClr val="111111"/>
                </a:solidFill>
                <a:latin typeface="Calibri" pitchFamily="34" charset="0"/>
                <a:ea typeface="Calibri" pitchFamily="34" charset="-122"/>
                <a:cs typeface="Calibri" pitchFamily="34" charset="-120"/>
              </a:rPr>
              <a:t>1.  AFRIMET on acmadDL</a:t>
            </a:r>
            <a:endParaRPr lang="en-US" sz="2000" dirty="0"/>
          </a:p>
          <a:p>
            <a:pPr indent="0" marL="0">
              <a:spcAft>
                <a:spcPts val="2200"/>
              </a:spcAft>
              <a:buNone/>
            </a:pPr>
            <a:r>
              <a:rPr lang="en-US" sz="1400" dirty="0">
                <a:solidFill>
                  <a:srgbClr val="6B6B6B"/>
                </a:solidFill>
                <a:latin typeface="Calibri" pitchFamily="34" charset="0"/>
                <a:ea typeface="Calibri" pitchFamily="34" charset="-122"/>
                <a:cs typeface="Calibri" pitchFamily="34" charset="-120"/>
              </a:rPr>
              <a:t>ACMAD's climate data catalogue moved onto the ACCORD data layer. Catalogue growth, verification, on-demand layers, status.</a:t>
            </a:r>
            <a:endParaRPr lang="en-US" sz="2000" dirty="0"/>
          </a:p>
          <a:p>
            <a:pPr indent="0" marL="0">
              <a:spcAft>
                <a:spcPts val="600"/>
              </a:spcAft>
              <a:buNone/>
            </a:pPr>
            <a:r>
              <a:rPr lang="en-US" sz="2000" dirty="0">
                <a:solidFill>
                  <a:srgbClr val="111111"/>
                </a:solidFill>
                <a:latin typeface="Calibri" pitchFamily="34" charset="0"/>
                <a:ea typeface="Calibri" pitchFamily="34" charset="-122"/>
                <a:cs typeface="Calibri" pitchFamily="34" charset="-120"/>
              </a:rPr>
              <a:t>2.  Weather agent benchmark</a:t>
            </a:r>
            <a:endParaRPr lang="en-US" sz="2000" dirty="0"/>
          </a:p>
          <a:p>
            <a:pPr indent="0" marL="0">
              <a:buNone/>
            </a:pPr>
            <a:r>
              <a:rPr lang="en-US" sz="1400" dirty="0">
                <a:solidFill>
                  <a:srgbClr val="6B6B6B"/>
                </a:solidFill>
                <a:latin typeface="Calibri" pitchFamily="34" charset="0"/>
                <a:ea typeface="Calibri" pitchFamily="34" charset="-122"/>
                <a:cs typeface="Calibri" pitchFamily="34" charset="-120"/>
              </a:rPr>
              <a:t>Do reusable skills help an agent complete a forecasting workflow? Current experiment, interim results, failure modes, next test.</a:t>
            </a:r>
            <a:endParaRPr lang="en-US" sz="2000" dirty="0"/>
          </a:p>
        </p:txBody>
      </p:sp>
      <p:sp>
        <p:nvSpPr>
          <p:cNvPr id="4"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Agenda  ·  1 Oct 2026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0"/>
            <a:ext cx="11064240" cy="822960"/>
          </a:xfrm>
          <a:prstGeom prst="rect">
            <a:avLst/>
          </a:prstGeom>
          <a:noFill/>
          <a:ln/>
        </p:spPr>
        <p:txBody>
          <a:bodyPr wrap="square" lIns="0" tIns="0" rIns="0" bIns="0" rtlCol="0" anchor="t"/>
          <a:lstStyle/>
          <a:p>
            <a:pPr algn="ctr" indent="0" marL="0">
              <a:buNone/>
            </a:pPr>
            <a:r>
              <a:rPr lang="en-US" sz="3600" b="1" dirty="0">
                <a:solidFill>
                  <a:srgbClr val="111111"/>
                </a:solidFill>
                <a:latin typeface="Calibri" pitchFamily="34" charset="0"/>
                <a:ea typeface="Calibri" pitchFamily="34" charset="-122"/>
                <a:cs typeface="Calibri" pitchFamily="34" charset="-120"/>
              </a:rPr>
              <a:t>AFRIMET on acmadDL</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AFRIMET today</a:t>
            </a:r>
            <a:endParaRPr lang="en-US" sz="3000" dirty="0"/>
          </a:p>
        </p:txBody>
      </p:sp>
      <p:pic>
        <p:nvPicPr>
          <p:cNvPr id="3" name="Image 0" descr="/Users/brandonrose/repos/bmgf/accord/programmatic/meeting-slides/afrimet.png">    </p:cNvPr>
          <p:cNvPicPr>
            <a:picLocks noChangeAspect="1"/>
          </p:cNvPicPr>
          <p:nvPr/>
        </p:nvPicPr>
        <p:blipFill>
          <a:blip r:embed="rId1"/>
          <a:stretch>
            <a:fillRect/>
          </a:stretch>
        </p:blipFill>
        <p:spPr>
          <a:xfrm>
            <a:off x="548640" y="1325880"/>
            <a:ext cx="7223760" cy="4343400"/>
          </a:xfrm>
          <a:prstGeom prst="rect">
            <a:avLst/>
          </a:prstGeom>
        </p:spPr>
      </p:pic>
      <p:sp>
        <p:nvSpPr>
          <p:cNvPr id="4" name="Text 1"/>
          <p:cNvSpPr txBox="1"/>
          <p:nvPr/>
        </p:nvSpPr>
        <p:spPr>
          <a:xfrm>
            <a:off x="8138160" y="1371600"/>
            <a:ext cx="3474720" cy="82296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ACMAD's climate data catalogue and map explorer.</a:t>
            </a:r>
            <a:endParaRPr lang="en-US" sz="1500" dirty="0"/>
          </a:p>
        </p:txBody>
      </p:sp>
      <p:sp>
        <p:nvSpPr>
          <p:cNvPr id="5" name="Text 2"/>
          <p:cNvSpPr txBox="1"/>
          <p:nvPr/>
        </p:nvSpPr>
        <p:spPr>
          <a:xfrm>
            <a:off x="8138160" y="2286000"/>
            <a:ext cx="3474720" cy="32004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FastAPI, Celery, GeoServer, TiTiler, PostGIS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19 datasets in the portal</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One adapter per source, maintained in afrimet</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Download, parse, units, crop: rewritten for each new source</a:t>
            </a:r>
            <a:endParaRPr lang="en-US" sz="1400" dirty="0"/>
          </a:p>
        </p:txBody>
      </p:sp>
      <p:sp>
        <p:nvSpPr>
          <p:cNvPr id="6" name="Text 3"/>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acmadDL as the data layer</a:t>
            </a:r>
            <a:endParaRPr lang="en-US" sz="3000" dirty="0"/>
          </a:p>
        </p:txBody>
      </p:sp>
      <p:sp>
        <p:nvSpPr>
          <p:cNvPr id="3" name="Shape 1"/>
          <p:cNvSpPr/>
          <p:nvPr/>
        </p:nvSpPr>
        <p:spPr>
          <a:xfrm>
            <a:off x="548640" y="1554480"/>
            <a:ext cx="2011680" cy="2743200"/>
          </a:xfrm>
          <a:prstGeom prst="rect">
            <a:avLst/>
          </a:prstGeom>
          <a:solidFill>
            <a:srgbClr val="F3F3F3"/>
          </a:solidFill>
          <a:ln w="12700">
            <a:solidFill>
              <a:srgbClr val="D9D9D9"/>
            </a:solidFill>
            <a:prstDash val="solid"/>
          </a:ln>
        </p:spPr>
      </p:sp>
      <p:sp>
        <p:nvSpPr>
          <p:cNvPr id="4" name="Text 2"/>
          <p:cNvSpPr txBox="1"/>
          <p:nvPr/>
        </p:nvSpPr>
        <p:spPr>
          <a:xfrm>
            <a:off x="548640" y="1645920"/>
            <a:ext cx="2011680" cy="274320"/>
          </a:xfrm>
          <a:prstGeom prst="rect">
            <a:avLst/>
          </a:prstGeom>
          <a:noFill/>
          <a:ln/>
        </p:spPr>
        <p:txBody>
          <a:bodyPr wrap="square" lIns="0" tIns="0" rIns="0" bIns="0" rtlCol="0" anchor="t"/>
          <a:lstStyle/>
          <a:p>
            <a:pPr algn="ctr" indent="0" marL="0">
              <a:buNone/>
            </a:pPr>
            <a:r>
              <a:rPr lang="en-US" sz="1300" b="1" dirty="0">
                <a:solidFill>
                  <a:srgbClr val="111111"/>
                </a:solidFill>
                <a:latin typeface="Calibri" pitchFamily="34" charset="0"/>
                <a:ea typeface="Calibri" pitchFamily="34" charset="-122"/>
                <a:cs typeface="Calibri" pitchFamily="34" charset="-120"/>
              </a:rPr>
              <a:t>Sources</a:t>
            </a:r>
            <a:endParaRPr lang="en-US" sz="1300" dirty="0"/>
          </a:p>
        </p:txBody>
      </p:sp>
      <p:sp>
        <p:nvSpPr>
          <p:cNvPr id="5" name="Text 3"/>
          <p:cNvSpPr txBox="1"/>
          <p:nvPr/>
        </p:nvSpPr>
        <p:spPr>
          <a:xfrm>
            <a:off x="640080" y="2011680"/>
            <a:ext cx="1828800" cy="2194560"/>
          </a:xfrm>
          <a:prstGeom prst="rect">
            <a:avLst/>
          </a:prstGeom>
          <a:noFill/>
          <a:ln/>
        </p:spPr>
        <p:txBody>
          <a:bodyPr wrap="square" lIns="0" tIns="0" rIns="0" bIns="0" rtlCol="0" anchor="t"/>
          <a:lstStyle/>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Copernicus CDS</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ECMWF ECDS</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IRI / CCSR OPeNDAP</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NOAA, UCSB, DWD HTTP</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Rhiza Sheerwater</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S3 / Icechunk</a:t>
            </a:r>
            <a:endParaRPr lang="en-US" sz="1100" dirty="0"/>
          </a:p>
        </p:txBody>
      </p:sp>
      <p:sp>
        <p:nvSpPr>
          <p:cNvPr id="6" name="Shape 4"/>
          <p:cNvSpPr/>
          <p:nvPr/>
        </p:nvSpPr>
        <p:spPr>
          <a:xfrm>
            <a:off x="2651760" y="2798064"/>
            <a:ext cx="411480" cy="256032"/>
          </a:xfrm>
          <a:prstGeom prst="rightArrow">
            <a:avLst/>
          </a:prstGeom>
          <a:solidFill>
            <a:srgbClr val="111111"/>
          </a:solidFill>
          <a:ln w="12700">
            <a:solidFill>
              <a:srgbClr val="111111"/>
            </a:solidFill>
            <a:prstDash val="solid"/>
          </a:ln>
        </p:spPr>
      </p:sp>
      <p:sp>
        <p:nvSpPr>
          <p:cNvPr id="7" name="Shape 5"/>
          <p:cNvSpPr/>
          <p:nvPr/>
        </p:nvSpPr>
        <p:spPr>
          <a:xfrm>
            <a:off x="3154680" y="1554480"/>
            <a:ext cx="2926080" cy="2743200"/>
          </a:xfrm>
          <a:prstGeom prst="rect">
            <a:avLst/>
          </a:prstGeom>
          <a:solidFill>
            <a:srgbClr val="FFFFFF"/>
          </a:solidFill>
          <a:ln w="25400">
            <a:solidFill>
              <a:srgbClr val="8A1C1C"/>
            </a:solidFill>
            <a:prstDash val="solid"/>
          </a:ln>
        </p:spPr>
      </p:sp>
      <p:sp>
        <p:nvSpPr>
          <p:cNvPr id="8" name="Text 6"/>
          <p:cNvSpPr txBox="1"/>
          <p:nvPr/>
        </p:nvSpPr>
        <p:spPr>
          <a:xfrm>
            <a:off x="3154680" y="1645920"/>
            <a:ext cx="2926080" cy="320040"/>
          </a:xfrm>
          <a:prstGeom prst="rect">
            <a:avLst/>
          </a:prstGeom>
          <a:noFill/>
          <a:ln/>
        </p:spPr>
        <p:txBody>
          <a:bodyPr wrap="square" lIns="0" tIns="0" rIns="0" bIns="0" rtlCol="0" anchor="t"/>
          <a:lstStyle/>
          <a:p>
            <a:pPr algn="ctr" indent="0" marL="0">
              <a:buNone/>
            </a:pPr>
            <a:r>
              <a:rPr lang="en-US" sz="1500" b="1" dirty="0">
                <a:solidFill>
                  <a:srgbClr val="8A1C1C"/>
                </a:solidFill>
                <a:latin typeface="Calibri" pitchFamily="34" charset="0"/>
                <a:ea typeface="Calibri" pitchFamily="34" charset="-122"/>
                <a:cs typeface="Calibri" pitchFamily="34" charset="-120"/>
              </a:rPr>
              <a:t>acmadDL</a:t>
            </a:r>
            <a:endParaRPr lang="en-US" sz="1500" dirty="0"/>
          </a:p>
        </p:txBody>
      </p:sp>
      <p:sp>
        <p:nvSpPr>
          <p:cNvPr id="9" name="Text 7"/>
          <p:cNvSpPr txBox="1"/>
          <p:nvPr/>
        </p:nvSpPr>
        <p:spPr>
          <a:xfrm>
            <a:off x="3154680" y="1965960"/>
            <a:ext cx="2926080" cy="27432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source → canonical</a:t>
            </a:r>
            <a:endParaRPr lang="en-US" sz="1100" dirty="0"/>
          </a:p>
        </p:txBody>
      </p:sp>
      <p:sp>
        <p:nvSpPr>
          <p:cNvPr id="10" name="Text 8"/>
          <p:cNvSpPr txBox="1"/>
          <p:nvPr/>
        </p:nvSpPr>
        <p:spPr>
          <a:xfrm>
            <a:off x="3246120" y="2331720"/>
            <a:ext cx="2743200" cy="1920240"/>
          </a:xfrm>
          <a:prstGeom prst="rect">
            <a:avLst/>
          </a:prstGeom>
          <a:noFill/>
          <a:ln/>
        </p:spPr>
        <p:txBody>
          <a:bodyPr wrap="square" lIns="0" tIns="0" rIns="0" bIns="0" rtlCol="0" anchor="t"/>
          <a:lstStyle/>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fetch(product, variable, time, region)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URL and filename patterns</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variable resolution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unit conversion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fill value → NaN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longitude convention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Africa crop</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cache</a:t>
            </a:r>
            <a:endParaRPr lang="en-US" sz="1100" dirty="0"/>
          </a:p>
        </p:txBody>
      </p:sp>
      <p:sp>
        <p:nvSpPr>
          <p:cNvPr id="11" name="Shape 9"/>
          <p:cNvSpPr/>
          <p:nvPr/>
        </p:nvSpPr>
        <p:spPr>
          <a:xfrm>
            <a:off x="6172200" y="2798064"/>
            <a:ext cx="411480" cy="256032"/>
          </a:xfrm>
          <a:prstGeom prst="rightArrow">
            <a:avLst/>
          </a:prstGeom>
          <a:solidFill>
            <a:srgbClr val="111111"/>
          </a:solidFill>
          <a:ln w="12700">
            <a:solidFill>
              <a:srgbClr val="111111"/>
            </a:solidFill>
            <a:prstDash val="solid"/>
          </a:ln>
        </p:spPr>
      </p:sp>
      <p:sp>
        <p:nvSpPr>
          <p:cNvPr id="12" name="Shape 10"/>
          <p:cNvSpPr/>
          <p:nvPr/>
        </p:nvSpPr>
        <p:spPr>
          <a:xfrm>
            <a:off x="6675120" y="1554480"/>
            <a:ext cx="2743200" cy="2743200"/>
          </a:xfrm>
          <a:prstGeom prst="rect">
            <a:avLst/>
          </a:prstGeom>
          <a:solidFill>
            <a:srgbClr val="FFFFFF"/>
          </a:solidFill>
          <a:ln w="12700">
            <a:solidFill>
              <a:srgbClr val="111111"/>
            </a:solidFill>
            <a:prstDash val="solid"/>
          </a:ln>
        </p:spPr>
      </p:sp>
      <p:sp>
        <p:nvSpPr>
          <p:cNvPr id="13" name="Text 11"/>
          <p:cNvSpPr txBox="1"/>
          <p:nvPr/>
        </p:nvSpPr>
        <p:spPr>
          <a:xfrm>
            <a:off x="6675120" y="1645920"/>
            <a:ext cx="2743200" cy="320040"/>
          </a:xfrm>
          <a:prstGeom prst="rect">
            <a:avLst/>
          </a:prstGeom>
          <a:noFill/>
          <a:ln/>
        </p:spPr>
        <p:txBody>
          <a:bodyPr wrap="square" lIns="0" tIns="0" rIns="0" bIns="0" rtlCol="0" anchor="t"/>
          <a:lstStyle/>
          <a:p>
            <a:pPr algn="ctr" indent="0" marL="0">
              <a:buNone/>
            </a:pPr>
            <a:r>
              <a:rPr lang="en-US" sz="1500" b="1" dirty="0">
                <a:solidFill>
                  <a:srgbClr val="111111"/>
                </a:solidFill>
                <a:latin typeface="Calibri" pitchFamily="34" charset="0"/>
                <a:ea typeface="Calibri" pitchFamily="34" charset="-122"/>
                <a:cs typeface="Calibri" pitchFamily="34" charset="-120"/>
              </a:rPr>
              <a:t>afrimet</a:t>
            </a:r>
            <a:endParaRPr lang="en-US" sz="1500" dirty="0"/>
          </a:p>
        </p:txBody>
      </p:sp>
      <p:sp>
        <p:nvSpPr>
          <p:cNvPr id="14" name="Text 12"/>
          <p:cNvSpPr txBox="1"/>
          <p:nvPr/>
        </p:nvSpPr>
        <p:spPr>
          <a:xfrm>
            <a:off x="6675120" y="1965960"/>
            <a:ext cx="2743200" cy="27432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canonical → published</a:t>
            </a:r>
            <a:endParaRPr lang="en-US" sz="1100" dirty="0"/>
          </a:p>
        </p:txBody>
      </p:sp>
      <p:sp>
        <p:nvSpPr>
          <p:cNvPr id="15" name="Text 13"/>
          <p:cNvSpPr txBox="1"/>
          <p:nvPr/>
        </p:nvSpPr>
        <p:spPr>
          <a:xfrm>
            <a:off x="6766560" y="2331720"/>
            <a:ext cx="2560320" cy="1920240"/>
          </a:xfrm>
          <a:prstGeom prst="rect">
            <a:avLst/>
          </a:prstGeom>
          <a:noFill/>
          <a:ln/>
        </p:spPr>
        <p:txBody>
          <a:bodyPr wrap="square" lIns="0" tIns="0" rIns="0" bIns="0" rtlCol="0" anchor="t"/>
          <a:lstStyle/>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rate → monthly total</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north-up COG per band</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GeoServer publish</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layer metadata</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TiTiler cache</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auth, quotas, collections</a:t>
            </a:r>
            <a:endParaRPr lang="en-US" sz="1100" dirty="0"/>
          </a:p>
        </p:txBody>
      </p:sp>
      <p:sp>
        <p:nvSpPr>
          <p:cNvPr id="16" name="Shape 14"/>
          <p:cNvSpPr/>
          <p:nvPr/>
        </p:nvSpPr>
        <p:spPr>
          <a:xfrm>
            <a:off x="9509760" y="2798064"/>
            <a:ext cx="411480" cy="256032"/>
          </a:xfrm>
          <a:prstGeom prst="rightArrow">
            <a:avLst/>
          </a:prstGeom>
          <a:solidFill>
            <a:srgbClr val="111111"/>
          </a:solidFill>
          <a:ln w="12700">
            <a:solidFill>
              <a:srgbClr val="111111"/>
            </a:solidFill>
            <a:prstDash val="solid"/>
          </a:ln>
        </p:spPr>
      </p:sp>
      <p:sp>
        <p:nvSpPr>
          <p:cNvPr id="17" name="Shape 15"/>
          <p:cNvSpPr/>
          <p:nvPr/>
        </p:nvSpPr>
        <p:spPr>
          <a:xfrm>
            <a:off x="10012680" y="1554480"/>
            <a:ext cx="1645920" cy="2743200"/>
          </a:xfrm>
          <a:prstGeom prst="rect">
            <a:avLst/>
          </a:prstGeom>
          <a:solidFill>
            <a:srgbClr val="F3F3F3"/>
          </a:solidFill>
          <a:ln w="12700">
            <a:solidFill>
              <a:srgbClr val="D9D9D9"/>
            </a:solidFill>
            <a:prstDash val="solid"/>
          </a:ln>
        </p:spPr>
      </p:sp>
      <p:sp>
        <p:nvSpPr>
          <p:cNvPr id="18" name="Text 16"/>
          <p:cNvSpPr txBox="1"/>
          <p:nvPr/>
        </p:nvSpPr>
        <p:spPr>
          <a:xfrm>
            <a:off x="10012680" y="1645920"/>
            <a:ext cx="1645920" cy="274320"/>
          </a:xfrm>
          <a:prstGeom prst="rect">
            <a:avLst/>
          </a:prstGeom>
          <a:noFill/>
          <a:ln/>
        </p:spPr>
        <p:txBody>
          <a:bodyPr wrap="square" lIns="0" tIns="0" rIns="0" bIns="0" rtlCol="0" anchor="t"/>
          <a:lstStyle/>
          <a:p>
            <a:pPr algn="ctr" indent="0" marL="0">
              <a:buNone/>
            </a:pPr>
            <a:r>
              <a:rPr lang="en-US" sz="1300" b="1" dirty="0">
                <a:solidFill>
                  <a:srgbClr val="111111"/>
                </a:solidFill>
                <a:latin typeface="Calibri" pitchFamily="34" charset="0"/>
                <a:ea typeface="Calibri" pitchFamily="34" charset="-122"/>
                <a:cs typeface="Calibri" pitchFamily="34" charset="-120"/>
              </a:rPr>
              <a:t>Users</a:t>
            </a:r>
            <a:endParaRPr lang="en-US" sz="1300" dirty="0"/>
          </a:p>
        </p:txBody>
      </p:sp>
      <p:sp>
        <p:nvSpPr>
          <p:cNvPr id="19" name="Text 17"/>
          <p:cNvSpPr txBox="1"/>
          <p:nvPr/>
        </p:nvSpPr>
        <p:spPr>
          <a:xfrm>
            <a:off x="10012680" y="2011680"/>
            <a:ext cx="1645920" cy="2194560"/>
          </a:xfrm>
          <a:prstGeom prst="rect">
            <a:avLst/>
          </a:prstGeom>
          <a:noFill/>
          <a:ln/>
        </p:spPr>
        <p:txBody>
          <a:bodyPr wrap="square" lIns="0" tIns="0" rIns="0" bIns="0" rtlCol="0" anchor="t"/>
          <a:lstStyle/>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Portal</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Map explorer</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GeoTIFF</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API</a:t>
            </a:r>
            <a:endParaRPr lang="en-US" sz="1100" dirty="0"/>
          </a:p>
        </p:txBody>
      </p:sp>
      <p:sp>
        <p:nvSpPr>
          <p:cNvPr id="20" name="Text 18"/>
          <p:cNvSpPr txBox="1"/>
          <p:nvPr/>
        </p:nvSpPr>
        <p:spPr>
          <a:xfrm>
            <a:off x="3154680" y="4434840"/>
            <a:ext cx="7315200" cy="27432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Also on acmadDL: africas2s, Forecast Hub, acmaddl-mcp, Beaker</a:t>
            </a:r>
            <a:endParaRPr lang="en-US" sz="1100" dirty="0"/>
          </a:p>
        </p:txBody>
      </p:sp>
      <p:sp>
        <p:nvSpPr>
          <p:cNvPr id="21" name="Text 19"/>
          <p:cNvSpPr txBox="1"/>
          <p:nvPr/>
        </p:nvSpPr>
        <p:spPr>
          <a:xfrm>
            <a:off x="548640" y="5029200"/>
            <a:ext cx="11064240" cy="1188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afrimet no longer stages raw files. The adapter returns a (time, lat, lon) array in final units.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New dataset: one entry in acmadDL's catalog, one in afrimet's. No adapter code.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acmadDL pinned to a commit. Bumps are re-verified.</a:t>
            </a:r>
            <a:endParaRPr lang="en-US" sz="1400" dirty="0"/>
          </a:p>
        </p:txBody>
      </p:sp>
      <p:sp>
        <p:nvSpPr>
          <p:cNvPr id="22" name="Text 20"/>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Catalogue: 23 → 53 datasets, 42 served by acmadDL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7955280"/>
                <a:gridCol w="731520"/>
              </a:tblGrid>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Migrated</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CHIRPS v2 monthly, dekad, pentad · GPCC monitoring, first guess · GPCP · TAMSAT · ERSST · OISST · ERA5-Land t2m, precip, PEV</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CHIRPS v3</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monthly, monthly prelim, dekad, dekad prelim, dekad TIF, pentad, annual, daily, daily 0.25°, rolling dekad</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reanalysis, merged obs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ERA5 t2m, precip, SST · CMAP · CAMS-OPI · CHIRPS v2 annual, daily</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NMME</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CFSv2 · CCSM4 · CESM1 · GEOS-S2S · SPEAR · CanSIPS-IC4</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C3S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ECMWF SEAS5 · UKMO · Météo-France · DWD · DWD GCFS2.1 · CMCC SPS4 · JMA · ECCC CanSIPSv3</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Unchanged, afrimet adapters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ARC2 · CRU TS · ISD-Lite · CFSv2 CPC hindcast · WIS2 stations · GHA stations · SPI 1, 3, 6, 12</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548640" y="5029200"/>
            <a:ext cx="11064240" cy="1188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The 12 migrated datasets produce the same rasters as before. Same layers, same styles, verified.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The 14 forecast systems are the models in ICPAC's and ACMAD's objective forecasts. AFRIMET had none.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acmadDL has 59 products. Each remaining one is a YAML entry away.</a:t>
            </a:r>
            <a:endParaRPr lang="en-US" sz="1400" dirty="0"/>
          </a:p>
        </p:txBody>
      </p:sp>
      <p:sp>
        <p:nvSpPr>
          <p:cNvPr id="5"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Verification and on-demand layers</a:t>
            </a:r>
            <a:endParaRPr lang="en-US" sz="30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Verification</a:t>
            </a:r>
            <a:endParaRPr lang="en-US" sz="1700" dirty="0"/>
          </a:p>
        </p:txBody>
      </p:sp>
      <p:sp>
        <p:nvSpPr>
          <p:cNvPr id="4" name="Text 2"/>
          <p:cNvSpPr txBox="1"/>
          <p:nvPr/>
        </p:nvSpPr>
        <p:spPr>
          <a:xfrm>
            <a:off x="548640" y="1828800"/>
            <a:ext cx="5394960" cy="40233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Each migrated dataset published twice: legacy adapter, then acmadDL.</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COGs compared cell by cell: CRS, cell centres, nodata mask, values.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Centre tolerance 1% of grid spacing. Not byte equality; row order differs by source.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GPCP, ERSST, OISST now include cells west of 0°. The old clip stopped at the meridian.</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scripts/verify_acmaddl.py run, compare</a:t>
            </a:r>
            <a:endParaRPr lang="en-US" sz="1400" dirty="0"/>
          </a:p>
        </p:txBody>
      </p:sp>
      <p:sp>
        <p:nvSpPr>
          <p:cNvPr id="5" name="Text 3"/>
          <p:cNvSpPr txBox="1"/>
          <p:nvPr/>
        </p:nvSpPr>
        <p:spPr>
          <a:xfrm>
            <a:off x="6400800" y="1371600"/>
            <a:ext cx="521208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On-demand layers</a:t>
            </a:r>
            <a:endParaRPr lang="en-US" sz="1700" dirty="0"/>
          </a:p>
        </p:txBody>
      </p:sp>
      <p:sp>
        <p:nvSpPr>
          <p:cNvPr id="6" name="Shape 4"/>
          <p:cNvSpPr/>
          <p:nvPr/>
        </p:nvSpPr>
        <p:spPr>
          <a:xfrm>
            <a:off x="6400800" y="1874520"/>
            <a:ext cx="1051560" cy="548640"/>
          </a:xfrm>
          <a:prstGeom prst="rect">
            <a:avLst/>
          </a:prstGeom>
          <a:solidFill>
            <a:srgbClr val="FFFFFF"/>
          </a:solidFill>
          <a:ln w="12700">
            <a:solidFill>
              <a:srgbClr val="111111"/>
            </a:solidFill>
            <a:prstDash val="solid"/>
          </a:ln>
        </p:spPr>
      </p:sp>
      <p:sp>
        <p:nvSpPr>
          <p:cNvPr id="7" name="Text 5"/>
          <p:cNvSpPr txBox="1"/>
          <p:nvPr/>
        </p:nvSpPr>
        <p:spPr>
          <a:xfrm>
            <a:off x="6400800" y="1993392"/>
            <a:ext cx="105156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request</a:t>
            </a:r>
            <a:endParaRPr lang="en-US" sz="1050" dirty="0"/>
          </a:p>
          <a:p>
            <a:pPr algn="ctr" indent="0" marL="0">
              <a:buNone/>
            </a:pPr>
            <a:r>
              <a:rPr lang="en-US" sz="1050" dirty="0">
                <a:solidFill>
                  <a:srgbClr val="111111"/>
                </a:solidFill>
                <a:latin typeface="Calibri" pitchFamily="34" charset="0"/>
                <a:ea typeface="Calibri" pitchFamily="34" charset="-122"/>
                <a:cs typeface="Calibri" pitchFamily="34" charset="-120"/>
              </a:rPr>
              <a:t>month</a:t>
            </a:r>
            <a:endParaRPr lang="en-US" sz="1050" dirty="0"/>
          </a:p>
        </p:txBody>
      </p:sp>
      <p:sp>
        <p:nvSpPr>
          <p:cNvPr id="8" name="Shape 6"/>
          <p:cNvSpPr/>
          <p:nvPr/>
        </p:nvSpPr>
        <p:spPr>
          <a:xfrm>
            <a:off x="7498080" y="2020824"/>
            <a:ext cx="228600" cy="256032"/>
          </a:xfrm>
          <a:prstGeom prst="rightArrow">
            <a:avLst/>
          </a:prstGeom>
          <a:solidFill>
            <a:srgbClr val="111111"/>
          </a:solidFill>
          <a:ln w="12700">
            <a:solidFill>
              <a:srgbClr val="111111"/>
            </a:solidFill>
            <a:prstDash val="solid"/>
          </a:ln>
        </p:spPr>
      </p:sp>
      <p:sp>
        <p:nvSpPr>
          <p:cNvPr id="9" name="Shape 7"/>
          <p:cNvSpPr/>
          <p:nvPr/>
        </p:nvSpPr>
        <p:spPr>
          <a:xfrm>
            <a:off x="7772400" y="1874520"/>
            <a:ext cx="1005840" cy="548640"/>
          </a:xfrm>
          <a:prstGeom prst="rect">
            <a:avLst/>
          </a:prstGeom>
          <a:solidFill>
            <a:srgbClr val="FFFFFF"/>
          </a:solidFill>
          <a:ln w="12700">
            <a:solidFill>
              <a:srgbClr val="111111"/>
            </a:solidFill>
            <a:prstDash val="solid"/>
          </a:ln>
        </p:spPr>
      </p:sp>
      <p:sp>
        <p:nvSpPr>
          <p:cNvPr id="10" name="Text 8"/>
          <p:cNvSpPr txBox="1"/>
          <p:nvPr/>
        </p:nvSpPr>
        <p:spPr>
          <a:xfrm>
            <a:off x="7772400" y="1993392"/>
            <a:ext cx="100584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quota</a:t>
            </a:r>
            <a:endParaRPr lang="en-US" sz="1050" dirty="0"/>
          </a:p>
        </p:txBody>
      </p:sp>
      <p:sp>
        <p:nvSpPr>
          <p:cNvPr id="11" name="Shape 9"/>
          <p:cNvSpPr/>
          <p:nvPr/>
        </p:nvSpPr>
        <p:spPr>
          <a:xfrm>
            <a:off x="8823960" y="2020824"/>
            <a:ext cx="228600" cy="256032"/>
          </a:xfrm>
          <a:prstGeom prst="rightArrow">
            <a:avLst/>
          </a:prstGeom>
          <a:solidFill>
            <a:srgbClr val="111111"/>
          </a:solidFill>
          <a:ln w="12700">
            <a:solidFill>
              <a:srgbClr val="111111"/>
            </a:solidFill>
            <a:prstDash val="solid"/>
          </a:ln>
        </p:spPr>
      </p:sp>
      <p:sp>
        <p:nvSpPr>
          <p:cNvPr id="12" name="Shape 10"/>
          <p:cNvSpPr/>
          <p:nvPr/>
        </p:nvSpPr>
        <p:spPr>
          <a:xfrm>
            <a:off x="9098280" y="1874520"/>
            <a:ext cx="1097280" cy="548640"/>
          </a:xfrm>
          <a:prstGeom prst="rect">
            <a:avLst/>
          </a:prstGeom>
          <a:solidFill>
            <a:srgbClr val="FFFFFF"/>
          </a:solidFill>
          <a:ln w="19050">
            <a:solidFill>
              <a:srgbClr val="8A1C1C"/>
            </a:solidFill>
            <a:prstDash val="solid"/>
          </a:ln>
        </p:spPr>
      </p:sp>
      <p:sp>
        <p:nvSpPr>
          <p:cNvPr id="13" name="Text 11"/>
          <p:cNvSpPr txBox="1"/>
          <p:nvPr/>
        </p:nvSpPr>
        <p:spPr>
          <a:xfrm>
            <a:off x="9098280" y="1993392"/>
            <a:ext cx="1097280" cy="320040"/>
          </a:xfrm>
          <a:prstGeom prst="rect">
            <a:avLst/>
          </a:prstGeom>
          <a:noFill/>
          <a:ln/>
        </p:spPr>
        <p:txBody>
          <a:bodyPr wrap="square" lIns="0" tIns="0" rIns="0" bIns="0" rtlCol="0" anchor="t"/>
          <a:lstStyle/>
          <a:p>
            <a:pPr algn="ctr" indent="0" marL="0">
              <a:buNone/>
            </a:pPr>
            <a:r>
              <a:rPr lang="en-US" sz="1050" b="1" dirty="0">
                <a:solidFill>
                  <a:srgbClr val="8A1C1C"/>
                </a:solidFill>
                <a:latin typeface="Calibri" pitchFamily="34" charset="0"/>
                <a:ea typeface="Calibri" pitchFamily="34" charset="-122"/>
                <a:cs typeface="Calibri" pitchFamily="34" charset="-120"/>
              </a:rPr>
              <a:t>acmadDL</a:t>
            </a:r>
            <a:endParaRPr lang="en-US" sz="1050" dirty="0"/>
          </a:p>
          <a:p>
            <a:pPr algn="ctr" indent="0" marL="0">
              <a:buNone/>
            </a:pPr>
            <a:r>
              <a:rPr lang="en-US" sz="1050" b="1" dirty="0">
                <a:solidFill>
                  <a:srgbClr val="8A1C1C"/>
                </a:solidFill>
                <a:latin typeface="Calibri" pitchFamily="34" charset="0"/>
                <a:ea typeface="Calibri" pitchFamily="34" charset="-122"/>
                <a:cs typeface="Calibri" pitchFamily="34" charset="-120"/>
              </a:rPr>
              <a:t>fetch</a:t>
            </a:r>
            <a:endParaRPr lang="en-US" sz="1050" dirty="0"/>
          </a:p>
        </p:txBody>
      </p:sp>
      <p:sp>
        <p:nvSpPr>
          <p:cNvPr id="14" name="Shape 12"/>
          <p:cNvSpPr/>
          <p:nvPr/>
        </p:nvSpPr>
        <p:spPr>
          <a:xfrm>
            <a:off x="10241280" y="2020824"/>
            <a:ext cx="228600" cy="256032"/>
          </a:xfrm>
          <a:prstGeom prst="rightArrow">
            <a:avLst/>
          </a:prstGeom>
          <a:solidFill>
            <a:srgbClr val="111111"/>
          </a:solidFill>
          <a:ln w="12700">
            <a:solidFill>
              <a:srgbClr val="111111"/>
            </a:solidFill>
            <a:prstDash val="solid"/>
          </a:ln>
        </p:spPr>
      </p:sp>
      <p:sp>
        <p:nvSpPr>
          <p:cNvPr id="15" name="Shape 13"/>
          <p:cNvSpPr/>
          <p:nvPr/>
        </p:nvSpPr>
        <p:spPr>
          <a:xfrm>
            <a:off x="10515600" y="1874520"/>
            <a:ext cx="1097280" cy="548640"/>
          </a:xfrm>
          <a:prstGeom prst="rect">
            <a:avLst/>
          </a:prstGeom>
          <a:solidFill>
            <a:srgbClr val="FFFFFF"/>
          </a:solidFill>
          <a:ln w="12700">
            <a:solidFill>
              <a:srgbClr val="111111"/>
            </a:solidFill>
            <a:prstDash val="solid"/>
          </a:ln>
        </p:spPr>
      </p:sp>
      <p:sp>
        <p:nvSpPr>
          <p:cNvPr id="16" name="Text 14"/>
          <p:cNvSpPr txBox="1"/>
          <p:nvPr/>
        </p:nvSpPr>
        <p:spPr>
          <a:xfrm>
            <a:off x="10515600" y="1993392"/>
            <a:ext cx="109728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COG cache</a:t>
            </a:r>
            <a:endParaRPr lang="en-US" sz="1050" dirty="0"/>
          </a:p>
          <a:p>
            <a:pPr algn="ctr" indent="0" marL="0">
              <a:buNone/>
            </a:pPr>
            <a:r>
              <a:rPr lang="en-US" sz="1050" dirty="0">
                <a:solidFill>
                  <a:srgbClr val="111111"/>
                </a:solidFill>
                <a:latin typeface="Calibri" pitchFamily="34" charset="0"/>
                <a:ea typeface="Calibri" pitchFamily="34" charset="-122"/>
                <a:cs typeface="Calibri" pitchFamily="34" charset="-120"/>
              </a:rPr>
              <a:t>TiTiler</a:t>
            </a:r>
            <a:endParaRPr lang="en-US" sz="1050" dirty="0"/>
          </a:p>
        </p:txBody>
      </p:sp>
      <p:sp>
        <p:nvSpPr>
          <p:cNvPr id="17" name="Text 15"/>
          <p:cNvSpPr txBox="1"/>
          <p:nvPr/>
        </p:nvSpPr>
        <p:spPr>
          <a:xfrm>
            <a:off x="6400800" y="2651760"/>
            <a:ext cx="521208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core collection: scheduled monthly, published to GeoServer.</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extended collection: fetched per dataset, year, month on request. Cached, tiled, not archived.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500 MB per user per day. 5 GB global. 20 GB cache with eviction.</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Requests are logged. Usage decides what gets promoted to core.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Separate Celery queue. A slow CDS pull does not block the refresh.</a:t>
            </a:r>
            <a:endParaRPr lang="en-US" sz="1400" dirty="0"/>
          </a:p>
        </p:txBody>
      </p:sp>
      <p:sp>
        <p:nvSpPr>
          <p:cNvPr id="18" name="Text 16"/>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Status</a:t>
            </a:r>
            <a:endParaRPr lang="en-US" sz="30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Where it is</a:t>
            </a:r>
            <a:endParaRPr lang="en-US" sz="1700" dirty="0"/>
          </a:p>
        </p:txBody>
      </p:sp>
      <p:sp>
        <p:nvSpPr>
          <p:cNvPr id="4" name="Text 2"/>
          <p:cNvSpPr txBox="1"/>
          <p:nvPr/>
        </p:nvSpPr>
        <p:spPr>
          <a:xfrm>
            <a:off x="548640" y="1828800"/>
            <a:ext cx="539496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Branch acmadDL on ACMAD-Niamey/afrimet. David Kelly, 9 commits, 8 to 30 Sep.</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Not merged. Not deployed. Pending ACMAD review.</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Tests cover the adapter, COG comparison, pipeline, on-demand API, cache, quotas.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 (Collins Asega) landed CI/CD and Docker on develop in parallel.</a:t>
            </a:r>
            <a:endParaRPr lang="en-US" sz="1400" dirty="0"/>
          </a:p>
        </p:txBody>
      </p:sp>
      <p:sp>
        <p:nvSpPr>
          <p:cNvPr id="5" name="Text 3"/>
          <p:cNvSpPr txBox="1"/>
          <p:nvPr/>
        </p:nvSpPr>
        <p:spPr>
          <a:xfrm>
            <a:off x="6400800" y="1371600"/>
            <a:ext cx="521208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Next</a:t>
            </a:r>
            <a:endParaRPr lang="en-US" sz="1700" dirty="0"/>
          </a:p>
        </p:txBody>
      </p:sp>
      <p:sp>
        <p:nvSpPr>
          <p:cNvPr id="6" name="Text 4"/>
          <p:cNvSpPr txBox="1"/>
          <p:nvPr/>
        </p:nvSpPr>
        <p:spPr>
          <a:xfrm>
            <a:off x="6400800" y="1828800"/>
            <a:ext cx="521208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 review, merge, deploy: core scheduled, extended on demand.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Forecast systems in Map explorer.</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Migrate ARC2, CRU TS, CFSv2 hindcast.</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africas2s layers: anomalies, terciles, seasonal aggregates.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Same library under ACMAD's NDJF run and s2s-mcp.</a:t>
            </a:r>
            <a:endParaRPr lang="en-US" sz="1400" dirty="0"/>
          </a:p>
        </p:txBody>
      </p:sp>
      <p:sp>
        <p:nvSpPr>
          <p:cNvPr id="7" name="Text 5"/>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0"/>
            <a:ext cx="11064240" cy="822960"/>
          </a:xfrm>
          <a:prstGeom prst="rect">
            <a:avLst/>
          </a:prstGeom>
          <a:noFill/>
          <a:ln/>
        </p:spPr>
        <p:txBody>
          <a:bodyPr wrap="square" lIns="0" tIns="0" rIns="0" bIns="0" rtlCol="0" anchor="t"/>
          <a:lstStyle/>
          <a:p>
            <a:pPr algn="ctr" indent="0" marL="0">
              <a:buNone/>
            </a:pPr>
            <a:r>
              <a:rPr lang="en-US" sz="3600" b="1" dirty="0">
                <a:solidFill>
                  <a:srgbClr val="111111"/>
                </a:solidFill>
                <a:latin typeface="Calibri" pitchFamily="34" charset="0"/>
                <a:ea typeface="Calibri" pitchFamily="34" charset="-122"/>
                <a:cs typeface="Calibri" pitchFamily="34" charset="-120"/>
              </a:rPr>
              <a:t>Weather agent benchmark</a:t>
            </a:r>
            <a:endParaRPr 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What are we testing?</a:t>
            </a:r>
          </a:p>
        </p:txBody>
      </p:sp>
      <p:sp>
        <p:nvSpPr>
          <p:cNvPr id="3" name="TextBox 2"/>
          <p:cNvSpPr txBox="1"/>
          <p:nvPr/>
        </p:nvSpPr>
        <p:spPr>
          <a:xfrm>
            <a:off x="548640" y="1554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Can a coding agent build a working forecast from scratch, and how does that depend on the model?</a:t>
            </a:r>
          </a:p>
        </p:txBody>
      </p:sp>
      <p:sp>
        <p:nvSpPr>
          <p:cNvPr id="4" name="TextBox 3"/>
          <p:cNvSpPr txBox="1"/>
          <p:nvPr/>
        </p:nvSpPr>
        <p:spPr>
          <a:xfrm>
            <a:off x="548640" y="2697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Does adding Rhiza weather skills or ACCORD libraries improve completion, time or cost?</a:t>
            </a:r>
          </a:p>
        </p:txBody>
      </p:sp>
      <p:sp>
        <p:nvSpPr>
          <p:cNvPr id="5" name="TextBox 4"/>
          <p:cNvSpPr txBox="1"/>
          <p:nvPr/>
        </p:nvSpPr>
        <p:spPr>
          <a:xfrm>
            <a:off x="548640" y="3840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When the next forecast is needed, does retained code and fitted state reduce the work?</a:t>
            </a:r>
          </a:p>
        </p:txBody>
      </p:sp>
      <p:sp>
        <p:nvSpPr>
          <p:cNvPr id="6" name="TextBox 5"/>
          <p:cNvSpPr txBox="1"/>
          <p:nvPr/>
        </p:nvSpPr>
        <p:spPr>
          <a:xfrm>
            <a:off x="548640" y="512064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Report completion, forecast error, tokens, time and cost separately. Treat the expected advantages as hypotheses.</a:t>
            </a:r>
          </a:p>
        </p:txBody>
      </p:sp>
      <p:sp>
        <p:nvSpPr>
          <p:cNvPr id="7" name="TextBox 6"/>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Archived benchmark: execution conditions</a:t>
            </a:r>
            <a:endParaRPr lang="en-US" sz="3000" dirty="0"/>
          </a:p>
        </p:txBody>
      </p:sp>
      <p:sp>
        <p:nvSpPr>
          <p:cNvPr id="3" name="Shape 1"/>
          <p:cNvSpPr/>
          <p:nvPr/>
        </p:nvSpPr>
        <p:spPr>
          <a:xfrm>
            <a:off x="548640" y="1463040"/>
            <a:ext cx="3520440" cy="2377440"/>
          </a:xfrm>
          <a:prstGeom prst="rect">
            <a:avLst/>
          </a:prstGeom>
          <a:solidFill>
            <a:srgbClr val="FFFFFF"/>
          </a:solidFill>
          <a:ln w="12700">
            <a:solidFill>
              <a:srgbClr val="111111"/>
            </a:solidFill>
            <a:prstDash val="solid"/>
          </a:ln>
        </p:spPr>
        <p:txBody>
          <a:bodyPr/>
          <a:p/>
        </p:txBody>
      </p:sp>
      <p:sp>
        <p:nvSpPr>
          <p:cNvPr id="4" name="Text 2"/>
          <p:cNvSpPr txBox="1"/>
          <p:nvPr/>
        </p:nvSpPr>
        <p:spPr>
          <a:xfrm>
            <a:off x="731520"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Python only</a:t>
            </a:r>
            <a:endParaRPr lang="en-US" sz="1600" dirty="0"/>
          </a:p>
        </p:txBody>
      </p:sp>
      <p:sp>
        <p:nvSpPr>
          <p:cNvPr id="5" name="Text 3"/>
          <p:cNvSpPr txBox="1"/>
          <p:nvPr/>
        </p:nvSpPr>
        <p:spPr>
          <a:xfrm>
            <a:off x="731520"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writes, runs, and revises its own code using standard scientific Python packages.</a:t>
            </a:r>
            <a:endParaRPr lang="en-US" sz="1300" dirty="0"/>
          </a:p>
        </p:txBody>
      </p:sp>
      <p:sp>
        <p:nvSpPr>
          <p:cNvPr id="6" name="Shape 4"/>
          <p:cNvSpPr/>
          <p:nvPr/>
        </p:nvSpPr>
        <p:spPr>
          <a:xfrm>
            <a:off x="4315968" y="1463040"/>
            <a:ext cx="3520440" cy="2377440"/>
          </a:xfrm>
          <a:prstGeom prst="rect">
            <a:avLst/>
          </a:prstGeom>
          <a:solidFill>
            <a:srgbClr val="FFFFFF"/>
          </a:solidFill>
          <a:ln w="12700">
            <a:solidFill>
              <a:srgbClr val="111111"/>
            </a:solidFill>
            <a:prstDash val="solid"/>
          </a:ln>
        </p:spPr>
        <p:txBody>
          <a:bodyPr/>
          <a:p/>
        </p:txBody>
      </p:sp>
      <p:sp>
        <p:nvSpPr>
          <p:cNvPr id="7" name="Text 5"/>
          <p:cNvSpPr txBox="1"/>
          <p:nvPr/>
        </p:nvSpPr>
        <p:spPr>
          <a:xfrm>
            <a:off x="4498848"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Skills only</a:t>
            </a:r>
            <a:endParaRPr lang="en-US" sz="1600" dirty="0"/>
          </a:p>
        </p:txBody>
      </p:sp>
      <p:sp>
        <p:nvSpPr>
          <p:cNvPr id="8" name="Text 6"/>
          <p:cNvSpPr txBox="1"/>
          <p:nvPr/>
        </p:nvSpPr>
        <p:spPr>
          <a:xfrm>
            <a:off x="4498848"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reads guides and invokes weather-skills operations; custom Python is disabled.</a:t>
            </a:r>
            <a:endParaRPr lang="en-US" sz="1300" dirty="0"/>
          </a:p>
        </p:txBody>
      </p:sp>
      <p:sp>
        <p:nvSpPr>
          <p:cNvPr id="9" name="Shape 7"/>
          <p:cNvSpPr/>
          <p:nvPr/>
        </p:nvSpPr>
        <p:spPr>
          <a:xfrm>
            <a:off x="8092440" y="1463040"/>
            <a:ext cx="3520440" cy="2377440"/>
          </a:xfrm>
          <a:prstGeom prst="rect">
            <a:avLst/>
          </a:prstGeom>
          <a:solidFill>
            <a:srgbClr val="FFFFFF"/>
          </a:solidFill>
          <a:ln w="25400">
            <a:solidFill>
              <a:srgbClr val="8A1C1C"/>
            </a:solidFill>
            <a:prstDash val="solid"/>
          </a:ln>
        </p:spPr>
        <p:txBody>
          <a:bodyPr/>
          <a:p/>
        </p:txBody>
      </p:sp>
      <p:sp>
        <p:nvSpPr>
          <p:cNvPr id="10" name="Text 8"/>
          <p:cNvSpPr txBox="1"/>
          <p:nvPr/>
        </p:nvSpPr>
        <p:spPr>
          <a:xfrm>
            <a:off x="8275320" y="1600200"/>
            <a:ext cx="3154680" cy="365760"/>
          </a:xfrm>
          <a:prstGeom prst="rect">
            <a:avLst/>
          </a:prstGeom>
          <a:noFill/>
          <a:ln/>
        </p:spPr>
        <p:txBody>
          <a:bodyPr wrap="square" lIns="0" tIns="0" rIns="0" bIns="0" rtlCol="0" anchor="t"/>
          <a:lstStyle/>
          <a:p>
            <a:pPr indent="0" marL="0">
              <a:buNone/>
            </a:pPr>
            <a:r>
              <a:rPr lang="en-US" sz="1600" b="1" dirty="0">
                <a:solidFill>
                  <a:srgbClr val="8A1C1C"/>
                </a:solidFill>
                <a:latin typeface="Calibri" pitchFamily="34" charset="0"/>
                <a:ea typeface="Calibri" pitchFamily="34" charset="-122"/>
                <a:cs typeface="Calibri" pitchFamily="34" charset="-120"/>
              </a:rPr>
              <a:t>Python + skills</a:t>
            </a:r>
            <a:endParaRPr lang="en-US" sz="1600" dirty="0"/>
          </a:p>
        </p:txBody>
      </p:sp>
      <p:sp>
        <p:nvSpPr>
          <p:cNvPr id="11" name="Text 9"/>
          <p:cNvSpPr txBox="1"/>
          <p:nvPr/>
        </p:nvSpPr>
        <p:spPr>
          <a:xfrm>
            <a:off x="8275320"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can combine catalog operations with its own Python. Skill use is measured, not assumed.</a:t>
            </a:r>
            <a:endParaRPr lang="en-US" sz="1300" dirty="0"/>
          </a:p>
        </p:txBody>
      </p:sp>
      <p:sp>
        <p:nvSpPr>
          <p:cNvPr id="12" name="Text 10"/>
          <p:cNvSpPr txBox="1"/>
          <p:nvPr/>
        </p:nvSpPr>
        <p:spPr>
          <a:xfrm>
            <a:off x="548640" y="4206240"/>
            <a:ext cx="11064240" cy="14630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Ten models, one task, three conditions: 30 planned attempts. The small-model tier includes 1B, 3B, 7B, 8B, and 9B models.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Astra is excluded because it helped develop the benchmark. Earlier runs remain archived.</a:t>
            </a:r>
            <a:endParaRPr lang="en-US" sz="1500" dirty="0"/>
          </a:p>
        </p:txBody>
      </p:sp>
      <p:sp>
        <p:nvSpPr>
          <p:cNvPr id="13" name="Text 11"/>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Archived Kenya heat benchmark · different task and protocol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Archived task: two-week Kenya heat outlook</a:t>
            </a:r>
            <a:endParaRPr lang="en-US" sz="3000" dirty="0"/>
          </a:p>
        </p:txBody>
      </p:sp>
      <p:sp>
        <p:nvSpPr>
          <p:cNvPr id="3" name="Shape 1"/>
          <p:cNvSpPr/>
          <p:nvPr/>
        </p:nvSpPr>
        <p:spPr>
          <a:xfrm>
            <a:off x="548640" y="1463040"/>
            <a:ext cx="3200400" cy="685800"/>
          </a:xfrm>
          <a:prstGeom prst="rect">
            <a:avLst/>
          </a:prstGeom>
          <a:solidFill>
            <a:srgbClr val="FFFFFF"/>
          </a:solidFill>
          <a:ln w="12700">
            <a:solidFill>
              <a:srgbClr val="111111"/>
            </a:solidFill>
            <a:prstDash val="solid"/>
          </a:ln>
        </p:spPr>
        <p:txBody>
          <a:bodyPr/>
          <a:p/>
        </p:txBody>
      </p:sp>
      <p:sp>
        <p:nvSpPr>
          <p:cNvPr id="4" name="Text 2"/>
          <p:cNvSpPr txBox="1"/>
          <p:nvPr/>
        </p:nvSpPr>
        <p:spPr>
          <a:xfrm>
            <a:off x="640080" y="1554480"/>
            <a:ext cx="301752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cosine-latitude spatial mean</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for each member and day</a:t>
            </a:r>
            <a:endParaRPr lang="en-US" sz="1150" dirty="0"/>
          </a:p>
        </p:txBody>
      </p:sp>
      <p:sp>
        <p:nvSpPr>
          <p:cNvPr id="5" name="Shape 3"/>
          <p:cNvSpPr/>
          <p:nvPr/>
        </p:nvSpPr>
        <p:spPr>
          <a:xfrm>
            <a:off x="3840480" y="1682496"/>
            <a:ext cx="365760" cy="256032"/>
          </a:xfrm>
          <a:prstGeom prst="rightArrow">
            <a:avLst/>
          </a:prstGeom>
          <a:solidFill>
            <a:srgbClr val="111111"/>
          </a:solidFill>
          <a:ln w="12700">
            <a:solidFill>
              <a:srgbClr val="111111"/>
            </a:solidFill>
            <a:prstDash val="solid"/>
          </a:ln>
        </p:spPr>
        <p:txBody>
          <a:bodyPr/>
          <a:p/>
        </p:txBody>
      </p:sp>
      <p:sp>
        <p:nvSpPr>
          <p:cNvPr id="6" name="Shape 4"/>
          <p:cNvSpPr/>
          <p:nvPr/>
        </p:nvSpPr>
        <p:spPr>
          <a:xfrm>
            <a:off x="4297680" y="1463040"/>
            <a:ext cx="3200400" cy="685800"/>
          </a:xfrm>
          <a:prstGeom prst="rect">
            <a:avLst/>
          </a:prstGeom>
          <a:solidFill>
            <a:srgbClr val="FFFFFF"/>
          </a:solidFill>
          <a:ln w="12700">
            <a:solidFill>
              <a:srgbClr val="111111"/>
            </a:solidFill>
            <a:prstDash val="solid"/>
          </a:ln>
        </p:spPr>
        <p:txBody>
          <a:bodyPr/>
          <a:p/>
        </p:txBody>
      </p:sp>
      <p:sp>
        <p:nvSpPr>
          <p:cNvPr id="7" name="Text 5"/>
          <p:cNvSpPr txBox="1"/>
          <p:nvPr/>
        </p:nvSpPr>
        <p:spPr>
          <a:xfrm>
            <a:off x="4389120" y="1554480"/>
            <a:ext cx="301752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weekly peak</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per member</a:t>
            </a:r>
            <a:endParaRPr lang="en-US" sz="1150" dirty="0"/>
          </a:p>
        </p:txBody>
      </p:sp>
      <p:sp>
        <p:nvSpPr>
          <p:cNvPr id="8" name="Shape 6"/>
          <p:cNvSpPr/>
          <p:nvPr/>
        </p:nvSpPr>
        <p:spPr>
          <a:xfrm>
            <a:off x="7589520" y="1682496"/>
            <a:ext cx="365760" cy="256032"/>
          </a:xfrm>
          <a:prstGeom prst="rightArrow">
            <a:avLst/>
          </a:prstGeom>
          <a:solidFill>
            <a:srgbClr val="111111"/>
          </a:solidFill>
          <a:ln w="12700">
            <a:solidFill>
              <a:srgbClr val="111111"/>
            </a:solidFill>
            <a:prstDash val="solid"/>
          </a:ln>
        </p:spPr>
        <p:txBody>
          <a:bodyPr/>
          <a:p/>
        </p:txBody>
      </p:sp>
      <p:sp>
        <p:nvSpPr>
          <p:cNvPr id="9" name="Shape 7"/>
          <p:cNvSpPr/>
          <p:nvPr/>
        </p:nvSpPr>
        <p:spPr>
          <a:xfrm>
            <a:off x="8046720" y="1463040"/>
            <a:ext cx="3566160" cy="685800"/>
          </a:xfrm>
          <a:prstGeom prst="rect">
            <a:avLst/>
          </a:prstGeom>
          <a:solidFill>
            <a:srgbClr val="FFFFFF"/>
          </a:solidFill>
          <a:ln w="12700">
            <a:solidFill>
              <a:srgbClr val="111111"/>
            </a:solidFill>
            <a:prstDash val="solid"/>
          </a:ln>
        </p:spPr>
        <p:txBody>
          <a:bodyPr/>
          <a:p/>
        </p:txBody>
      </p:sp>
      <p:sp>
        <p:nvSpPr>
          <p:cNvPr id="10" name="Text 8"/>
          <p:cNvSpPr txBox="1"/>
          <p:nvPr/>
        </p:nvSpPr>
        <p:spPr>
          <a:xfrm>
            <a:off x="8138160" y="1554480"/>
            <a:ext cx="338328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ensemble median, spread,</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minimum, and maximum</a:t>
            </a:r>
            <a:endParaRPr lang="en-US" sz="1150" dirty="0"/>
          </a:p>
        </p:txBody>
      </p:sp>
      <p:sp>
        <p:nvSpPr>
          <p:cNvPr id="11" name="Text 9"/>
          <p:cNvSpPr txBox="1"/>
          <p:nvPr/>
        </p:nvSpPr>
        <p:spPr>
          <a:xfrm>
            <a:off x="548640" y="2468880"/>
            <a:ext cx="11064240" cy="356616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Use a real, archived ECMWF S2S forecast to calculate the hottest daily regional-mean temperature in each week.</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Pass requires a structured answer matching an independent numeric reference, correct units and source citation, and a valid, nonblank figure.</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Every attempt gets the same cached raw data and an empty workspace. Intermediate results stay within that attempt; no outputs or history cross runs.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Equal ceilings: 24 model calls, 40 executions, 200k tokens, 600 seconds.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Download and setup are excluded so solve time measures analysis, not data transfer.</a:t>
            </a:r>
            <a:endParaRPr lang="en-US" sz="1500" dirty="0"/>
          </a:p>
        </p:txBody>
      </p:sp>
      <p:sp>
        <p:nvSpPr>
          <p:cNvPr id="12" name="Text 10"/>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Archived Kenya heat benchmark · different task and protocol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Archived benchmark: interim snapshot</a:t>
            </a:r>
            <a:endParaRPr lang="en-US" sz="3000" dirty="0"/>
          </a:p>
        </p:txBody>
      </p:sp>
      <p:pic>
        <p:nvPicPr>
          <p:cNvPr id="3" name="Image 0" descr="/Users/brandonrose/repos/bmgf/accord/programmatic/meeting-slides/benchmark-dashboard.png">    </p:cNvPr>
          <p:cNvPicPr>
            <a:picLocks noChangeAspect="1"/>
          </p:cNvPicPr>
          <p:nvPr/>
        </p:nvPicPr>
        <p:blipFill>
          <a:blip r:embed="rId1"/>
          <a:stretch>
            <a:fillRect/>
          </a:stretch>
        </p:blipFill>
        <p:spPr>
          <a:xfrm>
            <a:off x="1709928" y="1325880"/>
            <a:ext cx="8778240" cy="4608576"/>
          </a:xfrm>
          <a:prstGeom prst="rect">
            <a:avLst/>
          </a:prstGeom>
        </p:spPr>
      </p:pic>
      <p:sp>
        <p:nvSpPr>
          <p:cNvPr id="4" name="Text 1"/>
          <p:cNvSpPr txBox="1"/>
          <p:nvPr/>
        </p:nvSpPr>
        <p:spPr>
          <a:xfrm>
            <a:off x="1709928" y="5989320"/>
            <a:ext cx="8778240" cy="32004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Landing page of the benchmark dashboard. Select a result to inspect its trace. Not a ranking.</a:t>
            </a:r>
            <a:endParaRPr lang="en-US" sz="1100" dirty="0"/>
          </a:p>
        </p:txBody>
      </p:sp>
      <p:sp>
        <p:nvSpPr>
          <p:cNvPr id="5"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Archived Kenya heat benchmark · different task and protocol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Archived benchmark: failure modes</a:t>
            </a:r>
            <a:endParaRPr lang="en-US" sz="3000" dirty="0"/>
          </a:p>
        </p:txBody>
      </p:sp>
      <p:sp>
        <p:nvSpPr>
          <p:cNvPr id="3" name="Text 1"/>
          <p:cNvSpPr txBox="1"/>
          <p:nvPr/>
        </p:nvSpPr>
        <p:spPr>
          <a:xfrm>
            <a:off x="548640" y="1463040"/>
            <a:ext cx="11064240" cy="4023360"/>
          </a:xfrm>
          <a:prstGeom prst="rect">
            <a:avLst/>
          </a:prstGeom>
          <a:noFill/>
          <a:ln/>
        </p:spPr>
        <p:txBody>
          <a:bodyPr wrap="square" lIns="0" tIns="0" rIns="0" bIns="0" rtlCol="0" anchor="t"/>
          <a:lstStyle/>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Skills bypassed: </a:t>
            </a:r>
            <a:pPr indent="0" marL="0">
              <a:buNone/>
            </a:pPr>
            <a:r>
              <a:rPr lang="en-US" sz="1700" dirty="0">
                <a:solidFill>
                  <a:srgbClr val="111111"/>
                </a:solidFill>
                <a:latin typeface="Calibri" pitchFamily="34" charset="0"/>
                <a:ea typeface="Calibri" pitchFamily="34" charset="-122"/>
                <a:cs typeface="Calibri" pitchFamily="34" charset="-120"/>
              </a:rPr>
              <a:t>0 of 6 Python + skills attempts invoked a skill. The prompt makes skills optional; this condition tests availability, not actual reuse.</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Interface friction: </a:t>
            </a:r>
            <a:pPr indent="0" marL="0">
              <a:buNone/>
            </a:pPr>
            <a:r>
              <a:rPr lang="en-US" sz="1700" dirty="0">
                <a:solidFill>
                  <a:srgbClr val="111111"/>
                </a:solidFill>
                <a:latin typeface="Calibri" pitchFamily="34" charset="0"/>
                <a:ea typeface="Calibri" pitchFamily="34" charset="-122"/>
                <a:cs typeface="Calibri" pitchFamily="34" charset="-120"/>
              </a:rPr>
              <a:t>wrong action names, XML tool-call wrappers, guide-read requirements, and invalid CLI arguments consumed turns.</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Recovery and delivery: </a:t>
            </a:r>
            <a:pPr indent="0" marL="0">
              <a:buNone/>
            </a:pPr>
            <a:r>
              <a:rPr lang="en-US" sz="1700" dirty="0">
                <a:solidFill>
                  <a:srgbClr val="111111"/>
                </a:solidFill>
                <a:latin typeface="Calibri" pitchFamily="34" charset="0"/>
                <a:ea typeface="Calibri" pitchFamily="34" charset="-122"/>
                <a:cs typeface="Calibri" pitchFamily="34" charset="-120"/>
              </a:rPr>
              <a:t>Python indexing and unit errors required retries. Sonnet produced a figure but failed the strict artifact-submission contract.</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Budget exhaustion: </a:t>
            </a:r>
            <a:pPr indent="0" marL="0">
              <a:buNone/>
            </a:pPr>
            <a:r>
              <a:rPr lang="en-US" sz="1700" dirty="0">
                <a:solidFill>
                  <a:srgbClr val="111111"/>
                </a:solidFill>
                <a:latin typeface="Calibri" pitchFamily="34" charset="0"/>
                <a:ea typeface="Calibri" pitchFamily="34" charset="-122"/>
                <a:cs typeface="Calibri" pitchFamily="34" charset="-120"/>
              </a:rPr>
              <a:t>6 of 7 failures hit the token limit; Qwen's hybrid run hit the time limit. Repeated context and unusable responses contributed.</a:t>
            </a:r>
            <a:endParaRPr lang="en-US" sz="1700" dirty="0"/>
          </a:p>
        </p:txBody>
      </p:sp>
      <p:sp>
        <p:nvSpPr>
          <p:cNvPr id="4" name="Text 2"/>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Initial six-model batch: 18 attempts, 7 failures. One attempt per model and condition.</a:t>
            </a:r>
            <a:endParaRPr lang="en-US" sz="1200" dirty="0"/>
          </a:p>
        </p:txBody>
      </p:sp>
      <p:sp>
        <p:nvSpPr>
          <p:cNvPr id="5" name="Text 3"/>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Archived Kenya heat benchmark · different task and protocol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The three arms we actually tested</a:t>
            </a:r>
          </a:p>
        </p:txBody>
      </p:sp>
      <p:sp>
        <p:nvSpPr>
          <p:cNvPr id="3" name="TextBox 2"/>
          <p:cNvSpPr txBox="1"/>
          <p:nvPr/>
        </p:nvSpPr>
        <p:spPr>
          <a:xfrm>
            <a:off x="548640" y="1554480"/>
            <a:ext cx="2057400" cy="457200"/>
          </a:xfrm>
          <a:prstGeom prst="rect">
            <a:avLst/>
          </a:prstGeom>
          <a:noFill/>
        </p:spPr>
        <p:txBody>
          <a:bodyPr wrap="square" lIns="0" rIns="0">
            <a:spAutoFit/>
          </a:bodyPr>
          <a:lstStyle/>
          <a:p>
            <a:pPr>
              <a:spcAft>
                <a:spcPts val="1000"/>
              </a:spcAft>
              <a:defRPr sz="2300" b="1">
                <a:solidFill>
                  <a:srgbClr val="777777"/>
                </a:solidFill>
                <a:latin typeface="Calibri"/>
              </a:defRPr>
            </a:pPr>
            <a:r>
              <a:t>Scratch</a:t>
            </a:r>
          </a:p>
        </p:txBody>
      </p:sp>
      <p:sp>
        <p:nvSpPr>
          <p:cNvPr id="4" name="TextBox 3"/>
          <p:cNvSpPr txBox="1"/>
          <p:nvPr/>
        </p:nvSpPr>
        <p:spPr>
          <a:xfrm>
            <a:off x="2834640" y="1554480"/>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Standard scientific Python; the agent builds the workflow.</a:t>
            </a:r>
          </a:p>
        </p:txBody>
      </p:sp>
      <p:sp>
        <p:nvSpPr>
          <p:cNvPr id="5" name="TextBox 4"/>
          <p:cNvSpPr txBox="1"/>
          <p:nvPr/>
        </p:nvSpPr>
        <p:spPr>
          <a:xfrm>
            <a:off x="548640" y="2651760"/>
            <a:ext cx="2057400" cy="457200"/>
          </a:xfrm>
          <a:prstGeom prst="rect">
            <a:avLst/>
          </a:prstGeom>
          <a:noFill/>
        </p:spPr>
        <p:txBody>
          <a:bodyPr wrap="square" lIns="0" rIns="0">
            <a:spAutoFit/>
          </a:bodyPr>
          <a:lstStyle/>
          <a:p>
            <a:pPr>
              <a:spcAft>
                <a:spcPts val="1000"/>
              </a:spcAft>
              <a:defRPr sz="2300" b="1">
                <a:solidFill>
                  <a:srgbClr val="2F6B8A"/>
                </a:solidFill>
                <a:latin typeface="Calibri"/>
              </a:defRPr>
            </a:pPr>
            <a:r>
              <a:t>Rhiza skills</a:t>
            </a:r>
          </a:p>
        </p:txBody>
      </p:sp>
      <p:sp>
        <p:nvSpPr>
          <p:cNvPr id="6" name="TextBox 5"/>
          <p:cNvSpPr txBox="1"/>
          <p:nvPr/>
        </p:nvSpPr>
        <p:spPr>
          <a:xfrm>
            <a:off x="2834640" y="2651760"/>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The same Python environment + Rhiza weather skills catalog and scripts.</a:t>
            </a:r>
          </a:p>
        </p:txBody>
      </p:sp>
      <p:sp>
        <p:nvSpPr>
          <p:cNvPr id="7" name="TextBox 6"/>
          <p:cNvSpPr txBox="1"/>
          <p:nvPr/>
        </p:nvSpPr>
        <p:spPr>
          <a:xfrm>
            <a:off x="548640" y="3749039"/>
            <a:ext cx="2057400" cy="457200"/>
          </a:xfrm>
          <a:prstGeom prst="rect">
            <a:avLst/>
          </a:prstGeom>
          <a:noFill/>
        </p:spPr>
        <p:txBody>
          <a:bodyPr wrap="square" lIns="0" rIns="0">
            <a:spAutoFit/>
          </a:bodyPr>
          <a:lstStyle/>
          <a:p>
            <a:pPr>
              <a:spcAft>
                <a:spcPts val="1000"/>
              </a:spcAft>
              <a:defRPr sz="2300" b="1">
                <a:solidFill>
                  <a:srgbClr val="8A1C1C"/>
                </a:solidFill>
                <a:latin typeface="Calibri"/>
              </a:defRPr>
            </a:pPr>
            <a:r>
              <a:t>ACCORD</a:t>
            </a:r>
          </a:p>
        </p:txBody>
      </p:sp>
      <p:sp>
        <p:nvSpPr>
          <p:cNvPr id="8" name="TextBox 7"/>
          <p:cNvSpPr txBox="1"/>
          <p:nvPr/>
        </p:nvSpPr>
        <p:spPr>
          <a:xfrm>
            <a:off x="2834640" y="3749039"/>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The same Python environment + africas2s (DeepScale) and Rosetta/acmadDL, with API documentation.</a:t>
            </a:r>
          </a:p>
        </p:txBody>
      </p:sp>
      <p:sp>
        <p:nvSpPr>
          <p:cNvPr id="9" name="TextBox 8"/>
          <p:cNvSpPr txBox="1"/>
          <p:nvPr/>
        </p:nvSpPr>
        <p:spPr>
          <a:xfrm>
            <a:off x="548640" y="5074920"/>
            <a:ext cx="11064240" cy="548640"/>
          </a:xfrm>
          <a:prstGeom prst="rect">
            <a:avLst/>
          </a:prstGeom>
          <a:noFill/>
        </p:spPr>
        <p:txBody>
          <a:bodyPr wrap="square" lIns="0" rIns="0">
            <a:spAutoFit/>
          </a:bodyPr>
          <a:lstStyle/>
          <a:p>
            <a:pPr>
              <a:spcAft>
                <a:spcPts val="1000"/>
              </a:spcAft>
              <a:defRPr sz="1900" b="0">
                <a:solidFill>
                  <a:srgbClr val="111111"/>
                </a:solidFill>
                <a:latin typeface="Calibri"/>
              </a:defRPr>
            </a:pPr>
            <a:r>
              <a:t>Identical supplied data and budgets. Every arm can retain its own code, inputs and fitted models.</a:t>
            </a:r>
          </a:p>
        </p:txBody>
      </p:sp>
      <p:sp>
        <p:nvSpPr>
          <p:cNvPr id="10" name="TextBox 9"/>
          <p:cNvSpPr txBox="1"/>
          <p:nvPr/>
        </p:nvSpPr>
        <p:spPr>
          <a:xfrm>
            <a:off x="548640" y="5852160"/>
            <a:ext cx="11064240" cy="457200"/>
          </a:xfrm>
          <a:prstGeom prst="rect">
            <a:avLst/>
          </a:prstGeom>
          <a:noFill/>
        </p:spPr>
        <p:txBody>
          <a:bodyPr wrap="square" lIns="0" rIns="0">
            <a:spAutoFit/>
          </a:bodyPr>
          <a:lstStyle/>
          <a:p>
            <a:pPr>
              <a:spcAft>
                <a:spcPts val="1000"/>
              </a:spcAft>
              <a:defRPr sz="1400" b="0">
                <a:solidFill>
                  <a:srgbClr val="555555"/>
                </a:solidFill>
                <a:latin typeface="Calibri"/>
              </a:defRPr>
            </a:pPr>
            <a:r>
              <a:t>Observed use: Rhiza catalog context, no script calls; ACCORD agents called africas2s. Data retrieval was not tested.</a:t>
            </a:r>
          </a:p>
        </p:txBody>
      </p:sp>
      <p:sp>
        <p:nvSpPr>
          <p:cNvPr id="11" name="TextBox 10"/>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The task: a reusable seasonal rainfall forecast</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Same data and budgets; scratch, Rhiza skills, or ACCORD libraries (DeepScale / Rosetta).</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16</a:t>
            </a:r>
          </a:p>
        </p:txBody>
      </p:sp>
      <p:sp>
        <p:nvSpPr>
          <p:cNvPr id="5" name="TextBox 4"/>
          <p:cNvSpPr txBox="1"/>
          <p:nvPr/>
        </p:nvSpPr>
        <p:spPr>
          <a:xfrm>
            <a:off x="548640" y="1965960"/>
            <a:ext cx="5577840" cy="868680"/>
          </a:xfrm>
          <a:prstGeom prst="rect">
            <a:avLst/>
          </a:prstGeom>
          <a:noFill/>
        </p:spPr>
        <p:txBody>
          <a:bodyPr wrap="square" lIns="0" rIns="0">
            <a:spAutoFit/>
          </a:bodyPr>
          <a:lstStyle/>
          <a:p>
            <a:pPr>
              <a:spcAft>
                <a:spcPts val="1000"/>
              </a:spcAft>
              <a:defRPr sz="2000" b="0">
                <a:solidFill>
                  <a:srgbClr val="111111"/>
                </a:solidFill>
                <a:latin typeface="Calibri"/>
              </a:defRPr>
            </a:pPr>
            <a:r>
              <a:t>Turn September-issued ECMWF forecasts and CHIRPS observations into Oct–Dec rainfall probabilities for a 12-cell Kenyan study box.</a:t>
            </a:r>
          </a:p>
        </p:txBody>
      </p:sp>
      <p:sp>
        <p:nvSpPr>
          <p:cNvPr id="6" name="TextBox 5"/>
          <p:cNvSpPr txBox="1"/>
          <p:nvPr/>
        </p:nvSpPr>
        <p:spPr>
          <a:xfrm>
            <a:off x="548640" y="3108960"/>
            <a:ext cx="5577840" cy="822960"/>
          </a:xfrm>
          <a:prstGeom prst="rect">
            <a:avLst/>
          </a:prstGeom>
          <a:noFill/>
        </p:spPr>
        <p:txBody>
          <a:bodyPr wrap="square" lIns="0" rIns="0">
            <a:spAutoFit/>
          </a:bodyPr>
          <a:lstStyle/>
          <a:p>
            <a:pPr>
              <a:spcAft>
                <a:spcPts val="1000"/>
              </a:spcAft>
              <a:defRPr sz="2000" b="0">
                <a:solidFill>
                  <a:srgbClr val="111111"/>
                </a:solidFill>
                <a:latin typeface="Calibri"/>
              </a:defRPr>
            </a:pPr>
            <a:r>
              <a:t>Train on 1993–2004; predict 2005–06. Save the code and fitted model, then forecast 2007–08 in a fresh conversation.</a:t>
            </a:r>
          </a:p>
        </p:txBody>
      </p:sp>
      <p:sp>
        <p:nvSpPr>
          <p:cNvPr id="7" name="TextBox 6"/>
          <p:cNvSpPr txBox="1"/>
          <p:nvPr/>
        </p:nvSpPr>
        <p:spPr>
          <a:xfrm>
            <a:off x="548640" y="4251960"/>
            <a:ext cx="5577840" cy="822960"/>
          </a:xfrm>
          <a:prstGeom prst="rect">
            <a:avLst/>
          </a:prstGeom>
          <a:noFill/>
        </p:spPr>
        <p:txBody>
          <a:bodyPr wrap="square" lIns="0" rIns="0">
            <a:spAutoFit/>
          </a:bodyPr>
          <a:lstStyle/>
          <a:p>
            <a:pPr>
              <a:spcAft>
                <a:spcPts val="1000"/>
              </a:spcAft>
              <a:defRPr sz="2000" b="0">
                <a:solidFill>
                  <a:srgbClr val="111111"/>
                </a:solidFill>
                <a:latin typeface="Calibri"/>
              </a:defRPr>
            </a:pPr>
            <a:r>
              <a:t>Check completion and replay, scientific quality with an LLM judge, forecast error, tokens, time and cost.</a:t>
            </a:r>
          </a:p>
        </p:txBody>
      </p:sp>
      <p:sp>
        <p:nvSpPr>
          <p:cNvPr id="8" name="TextBox 7"/>
          <p:cNvSpPr txBox="1"/>
          <p:nvPr/>
        </p:nvSpPr>
        <p:spPr>
          <a:xfrm>
            <a:off x="548640" y="5440680"/>
            <a:ext cx="5577840" cy="777240"/>
          </a:xfrm>
          <a:prstGeom prst="rect">
            <a:avLst/>
          </a:prstGeom>
          <a:noFill/>
        </p:spPr>
        <p:txBody>
          <a:bodyPr wrap="square" lIns="0" rIns="0">
            <a:spAutoFit/>
          </a:bodyPr>
          <a:lstStyle/>
          <a:p>
            <a:pPr>
              <a:spcAft>
                <a:spcPts val="1000"/>
              </a:spcAft>
              <a:defRPr sz="1900" b="1">
                <a:solidFill>
                  <a:srgbClr val="111111"/>
                </a:solidFill>
                <a:latin typeface="Calibri"/>
              </a:defRPr>
            </a:pPr>
            <a:r>
              <a:t>Can stronger agents finish? Do tools save effort? Does saved work help next time?</a:t>
            </a:r>
          </a:p>
        </p:txBody>
      </p:sp>
      <p:pic>
        <p:nvPicPr>
          <p:cNvPr id="9" name="Picture 8" descr="tercile-example.png"/>
          <p:cNvPicPr>
            <a:picLocks noChangeAspect="1"/>
          </p:cNvPicPr>
          <p:nvPr/>
        </p:nvPicPr>
        <p:blipFill>
          <a:blip r:embed="rId2"/>
          <a:stretch>
            <a:fillRect/>
          </a:stretch>
        </p:blipFill>
        <p:spPr>
          <a:xfrm>
            <a:off x="6217920" y="1965960"/>
            <a:ext cx="5532120" cy="3793454"/>
          </a:xfrm>
          <a:prstGeom prst="rect">
            <a:avLst/>
          </a:prstGeom>
        </p:spPr>
      </p:pic>
      <p:sp>
        <p:nvSpPr>
          <p:cNvPr id="10" name="TextBox 9"/>
          <p:cNvSpPr txBox="1"/>
          <p:nvPr/>
        </p:nvSpPr>
        <p:spPr>
          <a:xfrm>
            <a:off x="6492240" y="6080760"/>
            <a:ext cx="5029200" cy="219456"/>
          </a:xfrm>
          <a:prstGeom prst="rect">
            <a:avLst/>
          </a:prstGeom>
          <a:noFill/>
        </p:spPr>
        <p:txBody>
          <a:bodyPr wrap="square" lIns="0" rIns="0">
            <a:spAutoFit/>
          </a:bodyPr>
          <a:lstStyle/>
          <a:p>
            <a:pPr>
              <a:spcAft>
                <a:spcPts val="1000"/>
              </a:spcAft>
              <a:defRPr sz="1000" b="0">
                <a:solidFill>
                  <a:srgbClr val="6B6B6B"/>
                </a:solidFill>
                <a:latin typeface="Calibri"/>
              </a:defRPr>
            </a:pPr>
            <a:r>
              <a:t>Example: Fable + ACCORD, historical 2005 forecast; 33% is climatology.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Model capability and tools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Nine initial attempts: three models × three tool environments, with the same task, data and limits.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17</a:t>
            </a:r>
          </a:p>
        </p:txBody>
      </p:sp>
      <p:sp>
        <p:nvSpPr>
          <p:cNvPr id="5" name="Rectangle 4"/>
          <p:cNvSpPr/>
          <p:nvPr/>
        </p:nvSpPr>
        <p:spPr>
          <a:xfrm>
            <a:off x="548640" y="1874519"/>
            <a:ext cx="164592" cy="164592"/>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Scratch</a:t>
            </a:r>
          </a:p>
        </p:txBody>
      </p:sp>
      <p:sp>
        <p:nvSpPr>
          <p:cNvPr id="7" name="Rectangle 6"/>
          <p:cNvSpPr/>
          <p:nvPr/>
        </p:nvSpPr>
        <p:spPr>
          <a:xfrm>
            <a:off x="2194560" y="1874519"/>
            <a:ext cx="164592" cy="164592"/>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41448"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Rhiza</a:t>
            </a:r>
          </a:p>
        </p:txBody>
      </p:sp>
      <p:sp>
        <p:nvSpPr>
          <p:cNvPr id="9" name="Rectangle 8"/>
          <p:cNvSpPr/>
          <p:nvPr/>
        </p:nvSpPr>
        <p:spPr>
          <a:xfrm>
            <a:off x="3657600" y="1874519"/>
            <a:ext cx="164592" cy="164592"/>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04487"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ACCORD</a:t>
            </a:r>
          </a:p>
        </p:txBody>
      </p:sp>
      <p:sp>
        <p:nvSpPr>
          <p:cNvPr id="11" name="TextBox 10"/>
          <p:cNvSpPr txBox="1"/>
          <p:nvPr/>
        </p:nvSpPr>
        <p:spPr>
          <a:xfrm>
            <a:off x="548640" y="2167128"/>
            <a:ext cx="2377440" cy="320040"/>
          </a:xfrm>
          <a:prstGeom prst="rect">
            <a:avLst/>
          </a:prstGeom>
          <a:noFill/>
        </p:spPr>
        <p:txBody>
          <a:bodyPr wrap="square" lIns="0" rIns="0">
            <a:spAutoFit/>
          </a:bodyPr>
          <a:lstStyle/>
          <a:p>
            <a:pPr>
              <a:spcAft>
                <a:spcPts val="1000"/>
              </a:spcAft>
              <a:defRPr sz="1500" b="1">
                <a:solidFill>
                  <a:srgbClr val="111111"/>
                </a:solidFill>
                <a:latin typeface="Calibri"/>
              </a:defRPr>
            </a:pPr>
            <a:r>
              <a:t>Model / tools</a:t>
            </a:r>
          </a:p>
        </p:txBody>
      </p:sp>
      <p:sp>
        <p:nvSpPr>
          <p:cNvPr id="12" name="TextBox 11"/>
          <p:cNvSpPr txBox="1"/>
          <p:nvPr/>
        </p:nvSpPr>
        <p:spPr>
          <a:xfrm>
            <a:off x="2788920" y="2167128"/>
            <a:ext cx="2194560" cy="320040"/>
          </a:xfrm>
          <a:prstGeom prst="rect">
            <a:avLst/>
          </a:prstGeom>
          <a:noFill/>
        </p:spPr>
        <p:txBody>
          <a:bodyPr wrap="square" lIns="0" rIns="0">
            <a:spAutoFit/>
          </a:bodyPr>
          <a:lstStyle/>
          <a:p>
            <a:pPr>
              <a:spcAft>
                <a:spcPts val="1000"/>
              </a:spcAft>
              <a:defRPr sz="1500" b="1">
                <a:solidFill>
                  <a:srgbClr val="111111"/>
                </a:solidFill>
                <a:latin typeface="Calibri"/>
              </a:defRPr>
            </a:pPr>
            <a:r>
              <a:t>Checks / 12</a:t>
            </a:r>
          </a:p>
        </p:txBody>
      </p:sp>
      <p:sp>
        <p:nvSpPr>
          <p:cNvPr id="13" name="TextBox 12"/>
          <p:cNvSpPr txBox="1"/>
          <p:nvPr/>
        </p:nvSpPr>
        <p:spPr>
          <a:xfrm>
            <a:off x="5577840" y="2167128"/>
            <a:ext cx="2377440" cy="320040"/>
          </a:xfrm>
          <a:prstGeom prst="rect">
            <a:avLst/>
          </a:prstGeom>
          <a:noFill/>
        </p:spPr>
        <p:txBody>
          <a:bodyPr wrap="square" lIns="0" rIns="0">
            <a:spAutoFit/>
          </a:bodyPr>
          <a:lstStyle/>
          <a:p>
            <a:pPr>
              <a:spcAft>
                <a:spcPts val="1000"/>
              </a:spcAft>
              <a:defRPr sz="1500" b="1">
                <a:solidFill>
                  <a:srgbClr val="111111"/>
                </a:solidFill>
                <a:latin typeface="Calibri"/>
              </a:defRPr>
            </a:pPr>
            <a:r>
              <a:t>Agent API cost ($)</a:t>
            </a:r>
          </a:p>
        </p:txBody>
      </p:sp>
      <p:sp>
        <p:nvSpPr>
          <p:cNvPr id="14" name="TextBox 13"/>
          <p:cNvSpPr txBox="1"/>
          <p:nvPr/>
        </p:nvSpPr>
        <p:spPr>
          <a:xfrm>
            <a:off x="8887968" y="2167128"/>
            <a:ext cx="1188720" cy="320040"/>
          </a:xfrm>
          <a:prstGeom prst="rect">
            <a:avLst/>
          </a:prstGeom>
          <a:noFill/>
        </p:spPr>
        <p:txBody>
          <a:bodyPr wrap="square" lIns="0" rIns="0">
            <a:spAutoFit/>
          </a:bodyPr>
          <a:lstStyle/>
          <a:p>
            <a:pPr>
              <a:spcAft>
                <a:spcPts val="1000"/>
              </a:spcAft>
              <a:defRPr sz="1500" b="1">
                <a:solidFill>
                  <a:srgbClr val="111111"/>
                </a:solidFill>
                <a:latin typeface="Calibri"/>
              </a:defRPr>
            </a:pPr>
            <a:r>
              <a:t>Tokens</a:t>
            </a:r>
          </a:p>
        </p:txBody>
      </p:sp>
      <p:sp>
        <p:nvSpPr>
          <p:cNvPr id="15" name="TextBox 14"/>
          <p:cNvSpPr txBox="1"/>
          <p:nvPr/>
        </p:nvSpPr>
        <p:spPr>
          <a:xfrm>
            <a:off x="10332720" y="2167128"/>
            <a:ext cx="1097280" cy="320040"/>
          </a:xfrm>
          <a:prstGeom prst="rect">
            <a:avLst/>
          </a:prstGeom>
          <a:noFill/>
        </p:spPr>
        <p:txBody>
          <a:bodyPr wrap="square" lIns="0" rIns="0">
            <a:spAutoFit/>
          </a:bodyPr>
          <a:lstStyle/>
          <a:p>
            <a:pPr>
              <a:spcAft>
                <a:spcPts val="1000"/>
              </a:spcAft>
              <a:defRPr sz="1500" b="1">
                <a:solidFill>
                  <a:srgbClr val="111111"/>
                </a:solidFill>
                <a:latin typeface="Calibri"/>
              </a:defRPr>
            </a:pPr>
            <a:r>
              <a:t>Minutes</a:t>
            </a:r>
          </a:p>
        </p:txBody>
      </p:sp>
      <p:sp>
        <p:nvSpPr>
          <p:cNvPr id="16" name="TextBox 15"/>
          <p:cNvSpPr txBox="1"/>
          <p:nvPr/>
        </p:nvSpPr>
        <p:spPr>
          <a:xfrm>
            <a:off x="548640" y="2596896"/>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scratch</a:t>
            </a:r>
          </a:p>
        </p:txBody>
      </p:sp>
      <p:sp>
        <p:nvSpPr>
          <p:cNvPr id="17" name="Rectangle 16"/>
          <p:cNvSpPr/>
          <p:nvPr/>
        </p:nvSpPr>
        <p:spPr>
          <a:xfrm>
            <a:off x="2788920" y="2651760"/>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88920" y="2651760"/>
            <a:ext cx="4572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596896"/>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3/12</a:t>
            </a:r>
          </a:p>
        </p:txBody>
      </p:sp>
      <p:sp>
        <p:nvSpPr>
          <p:cNvPr id="20" name="Rectangle 19"/>
          <p:cNvSpPr/>
          <p:nvPr/>
        </p:nvSpPr>
        <p:spPr>
          <a:xfrm>
            <a:off x="5577840" y="2651760"/>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0" y="2651760"/>
            <a:ext cx="469997"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2596896"/>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$0.92</a:t>
            </a:r>
          </a:p>
        </p:txBody>
      </p:sp>
      <p:sp>
        <p:nvSpPr>
          <p:cNvPr id="23" name="TextBox 22"/>
          <p:cNvSpPr txBox="1"/>
          <p:nvPr/>
        </p:nvSpPr>
        <p:spPr>
          <a:xfrm>
            <a:off x="8887968" y="2596896"/>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776,678</a:t>
            </a:r>
          </a:p>
        </p:txBody>
      </p:sp>
      <p:sp>
        <p:nvSpPr>
          <p:cNvPr id="24" name="TextBox 23"/>
          <p:cNvSpPr txBox="1"/>
          <p:nvPr/>
        </p:nvSpPr>
        <p:spPr>
          <a:xfrm>
            <a:off x="10332720" y="2596896"/>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4.5</a:t>
            </a:r>
          </a:p>
        </p:txBody>
      </p:sp>
      <p:sp>
        <p:nvSpPr>
          <p:cNvPr id="25" name="TextBox 24"/>
          <p:cNvSpPr txBox="1"/>
          <p:nvPr/>
        </p:nvSpPr>
        <p:spPr>
          <a:xfrm>
            <a:off x="548640" y="2898648"/>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Rhiza</a:t>
            </a:r>
          </a:p>
        </p:txBody>
      </p:sp>
      <p:sp>
        <p:nvSpPr>
          <p:cNvPr id="26" name="Rectangle 25"/>
          <p:cNvSpPr/>
          <p:nvPr/>
        </p:nvSpPr>
        <p:spPr>
          <a:xfrm>
            <a:off x="2788920" y="2953512"/>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2953512"/>
            <a:ext cx="10668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2898648"/>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7/12</a:t>
            </a:r>
          </a:p>
        </p:txBody>
      </p:sp>
      <p:sp>
        <p:nvSpPr>
          <p:cNvPr id="29" name="Rectangle 28"/>
          <p:cNvSpPr/>
          <p:nvPr/>
        </p:nvSpPr>
        <p:spPr>
          <a:xfrm>
            <a:off x="5577840" y="2953512"/>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77840" y="2953512"/>
            <a:ext cx="439363"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2898648"/>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$0.86</a:t>
            </a:r>
          </a:p>
        </p:txBody>
      </p:sp>
      <p:sp>
        <p:nvSpPr>
          <p:cNvPr id="32" name="TextBox 31"/>
          <p:cNvSpPr txBox="1"/>
          <p:nvPr/>
        </p:nvSpPr>
        <p:spPr>
          <a:xfrm>
            <a:off x="8887968" y="2898648"/>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748,020</a:t>
            </a:r>
          </a:p>
        </p:txBody>
      </p:sp>
      <p:sp>
        <p:nvSpPr>
          <p:cNvPr id="33" name="TextBox 32"/>
          <p:cNvSpPr txBox="1"/>
          <p:nvPr/>
        </p:nvSpPr>
        <p:spPr>
          <a:xfrm>
            <a:off x="10332720" y="2898648"/>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3.8</a:t>
            </a:r>
          </a:p>
        </p:txBody>
      </p:sp>
      <p:sp>
        <p:nvSpPr>
          <p:cNvPr id="34" name="TextBox 33"/>
          <p:cNvSpPr txBox="1"/>
          <p:nvPr/>
        </p:nvSpPr>
        <p:spPr>
          <a:xfrm>
            <a:off x="548640" y="3200400"/>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ACCORD</a:t>
            </a:r>
          </a:p>
        </p:txBody>
      </p:sp>
      <p:sp>
        <p:nvSpPr>
          <p:cNvPr id="35" name="Rectangle 34"/>
          <p:cNvSpPr/>
          <p:nvPr/>
        </p:nvSpPr>
        <p:spPr>
          <a:xfrm>
            <a:off x="2788920" y="3255264"/>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88920" y="3255264"/>
            <a:ext cx="7620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0" y="3200400"/>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5/12</a:t>
            </a:r>
          </a:p>
        </p:txBody>
      </p:sp>
      <p:sp>
        <p:nvSpPr>
          <p:cNvPr id="38" name="Rectangle 37"/>
          <p:cNvSpPr/>
          <p:nvPr/>
        </p:nvSpPr>
        <p:spPr>
          <a:xfrm>
            <a:off x="5577840" y="3255264"/>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77840" y="3255264"/>
            <a:ext cx="452552"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3200400"/>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$0.88</a:t>
            </a:r>
          </a:p>
        </p:txBody>
      </p:sp>
      <p:sp>
        <p:nvSpPr>
          <p:cNvPr id="41" name="TextBox 40"/>
          <p:cNvSpPr txBox="1"/>
          <p:nvPr/>
        </p:nvSpPr>
        <p:spPr>
          <a:xfrm>
            <a:off x="8887968" y="3200400"/>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764,137</a:t>
            </a:r>
          </a:p>
        </p:txBody>
      </p:sp>
      <p:sp>
        <p:nvSpPr>
          <p:cNvPr id="42" name="TextBox 41"/>
          <p:cNvSpPr txBox="1"/>
          <p:nvPr/>
        </p:nvSpPr>
        <p:spPr>
          <a:xfrm>
            <a:off x="10332720" y="3200400"/>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4.1</a:t>
            </a:r>
          </a:p>
        </p:txBody>
      </p:sp>
      <p:sp>
        <p:nvSpPr>
          <p:cNvPr id="43" name="TextBox 42"/>
          <p:cNvSpPr txBox="1"/>
          <p:nvPr/>
        </p:nvSpPr>
        <p:spPr>
          <a:xfrm>
            <a:off x="548640" y="3593592"/>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scratch</a:t>
            </a:r>
          </a:p>
        </p:txBody>
      </p:sp>
      <p:sp>
        <p:nvSpPr>
          <p:cNvPr id="44" name="Rectangle 43"/>
          <p:cNvSpPr/>
          <p:nvPr/>
        </p:nvSpPr>
        <p:spPr>
          <a:xfrm>
            <a:off x="2788920" y="3648456"/>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88920" y="3648456"/>
            <a:ext cx="13716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54880" y="3593592"/>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9/12</a:t>
            </a:r>
          </a:p>
        </p:txBody>
      </p:sp>
      <p:sp>
        <p:nvSpPr>
          <p:cNvPr id="47" name="Rectangle 46"/>
          <p:cNvSpPr/>
          <p:nvPr/>
        </p:nvSpPr>
        <p:spPr>
          <a:xfrm>
            <a:off x="5577840" y="3648456"/>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577840" y="3648456"/>
            <a:ext cx="135653"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0" y="3593592"/>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$0.26</a:t>
            </a:r>
          </a:p>
        </p:txBody>
      </p:sp>
      <p:sp>
        <p:nvSpPr>
          <p:cNvPr id="50" name="TextBox 49"/>
          <p:cNvSpPr txBox="1"/>
          <p:nvPr/>
        </p:nvSpPr>
        <p:spPr>
          <a:xfrm>
            <a:off x="8887968" y="3593592"/>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86,410</a:t>
            </a:r>
          </a:p>
        </p:txBody>
      </p:sp>
      <p:sp>
        <p:nvSpPr>
          <p:cNvPr id="51" name="TextBox 50"/>
          <p:cNvSpPr txBox="1"/>
          <p:nvPr/>
        </p:nvSpPr>
        <p:spPr>
          <a:xfrm>
            <a:off x="10332720" y="3593592"/>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1.6</a:t>
            </a:r>
          </a:p>
        </p:txBody>
      </p:sp>
      <p:sp>
        <p:nvSpPr>
          <p:cNvPr id="52" name="TextBox 51"/>
          <p:cNvSpPr txBox="1"/>
          <p:nvPr/>
        </p:nvSpPr>
        <p:spPr>
          <a:xfrm>
            <a:off x="548640" y="3895344"/>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Rhiza</a:t>
            </a:r>
          </a:p>
        </p:txBody>
      </p:sp>
      <p:sp>
        <p:nvSpPr>
          <p:cNvPr id="53" name="Rectangle 52"/>
          <p:cNvSpPr/>
          <p:nvPr/>
        </p:nvSpPr>
        <p:spPr>
          <a:xfrm>
            <a:off x="2788920" y="3950208"/>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788920" y="3950208"/>
            <a:ext cx="18288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54880" y="3895344"/>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56" name="Rectangle 55"/>
          <p:cNvSpPr/>
          <p:nvPr/>
        </p:nvSpPr>
        <p:spPr>
          <a:xfrm>
            <a:off x="5577840" y="3950208"/>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577840" y="3950208"/>
            <a:ext cx="1843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0" y="3895344"/>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$0.36</a:t>
            </a:r>
          </a:p>
        </p:txBody>
      </p:sp>
      <p:sp>
        <p:nvSpPr>
          <p:cNvPr id="59" name="TextBox 58"/>
          <p:cNvSpPr txBox="1"/>
          <p:nvPr/>
        </p:nvSpPr>
        <p:spPr>
          <a:xfrm>
            <a:off x="8887968" y="3895344"/>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132,946</a:t>
            </a:r>
          </a:p>
        </p:txBody>
      </p:sp>
      <p:sp>
        <p:nvSpPr>
          <p:cNvPr id="60" name="TextBox 59"/>
          <p:cNvSpPr txBox="1"/>
          <p:nvPr/>
        </p:nvSpPr>
        <p:spPr>
          <a:xfrm>
            <a:off x="10332720" y="3895344"/>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1.6</a:t>
            </a:r>
          </a:p>
        </p:txBody>
      </p:sp>
      <p:sp>
        <p:nvSpPr>
          <p:cNvPr id="61" name="TextBox 60"/>
          <p:cNvSpPr txBox="1"/>
          <p:nvPr/>
        </p:nvSpPr>
        <p:spPr>
          <a:xfrm>
            <a:off x="548640" y="4197096"/>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ACCORD</a:t>
            </a:r>
          </a:p>
        </p:txBody>
      </p:sp>
      <p:sp>
        <p:nvSpPr>
          <p:cNvPr id="62" name="Rectangle 61"/>
          <p:cNvSpPr/>
          <p:nvPr/>
        </p:nvSpPr>
        <p:spPr>
          <a:xfrm>
            <a:off x="2788920" y="4251960"/>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88920" y="4251960"/>
            <a:ext cx="13716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754880" y="4197096"/>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9/12</a:t>
            </a:r>
          </a:p>
        </p:txBody>
      </p:sp>
      <p:sp>
        <p:nvSpPr>
          <p:cNvPr id="65" name="Rectangle 64"/>
          <p:cNvSpPr/>
          <p:nvPr/>
        </p:nvSpPr>
        <p:spPr>
          <a:xfrm>
            <a:off x="5577840" y="4251960"/>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577840" y="4251960"/>
            <a:ext cx="283951"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29600" y="4197096"/>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$0.55</a:t>
            </a:r>
          </a:p>
        </p:txBody>
      </p:sp>
      <p:sp>
        <p:nvSpPr>
          <p:cNvPr id="68" name="TextBox 67"/>
          <p:cNvSpPr txBox="1"/>
          <p:nvPr/>
        </p:nvSpPr>
        <p:spPr>
          <a:xfrm>
            <a:off x="8887968" y="4197096"/>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213,754</a:t>
            </a:r>
          </a:p>
        </p:txBody>
      </p:sp>
      <p:sp>
        <p:nvSpPr>
          <p:cNvPr id="69" name="TextBox 68"/>
          <p:cNvSpPr txBox="1"/>
          <p:nvPr/>
        </p:nvSpPr>
        <p:spPr>
          <a:xfrm>
            <a:off x="10332720" y="4197096"/>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2.6</a:t>
            </a:r>
          </a:p>
        </p:txBody>
      </p:sp>
      <p:sp>
        <p:nvSpPr>
          <p:cNvPr id="70" name="TextBox 69"/>
          <p:cNvSpPr txBox="1"/>
          <p:nvPr/>
        </p:nvSpPr>
        <p:spPr>
          <a:xfrm>
            <a:off x="548640" y="4590288"/>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scratch</a:t>
            </a:r>
          </a:p>
        </p:txBody>
      </p:sp>
      <p:sp>
        <p:nvSpPr>
          <p:cNvPr id="71" name="Rectangle 70"/>
          <p:cNvSpPr/>
          <p:nvPr/>
        </p:nvSpPr>
        <p:spPr>
          <a:xfrm>
            <a:off x="2788920" y="4645152"/>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788920" y="4645152"/>
            <a:ext cx="18288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4880" y="4590288"/>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74" name="Rectangle 73"/>
          <p:cNvSpPr/>
          <p:nvPr/>
        </p:nvSpPr>
        <p:spPr>
          <a:xfrm>
            <a:off x="5577840" y="4645152"/>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577840" y="4645152"/>
            <a:ext cx="1720857"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29600" y="4590288"/>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$3.36</a:t>
            </a:r>
          </a:p>
        </p:txBody>
      </p:sp>
      <p:sp>
        <p:nvSpPr>
          <p:cNvPr id="77" name="TextBox 76"/>
          <p:cNvSpPr txBox="1"/>
          <p:nvPr/>
        </p:nvSpPr>
        <p:spPr>
          <a:xfrm>
            <a:off x="8887968" y="4590288"/>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260,515</a:t>
            </a:r>
          </a:p>
        </p:txBody>
      </p:sp>
      <p:sp>
        <p:nvSpPr>
          <p:cNvPr id="78" name="TextBox 77"/>
          <p:cNvSpPr txBox="1"/>
          <p:nvPr/>
        </p:nvSpPr>
        <p:spPr>
          <a:xfrm>
            <a:off x="10332720" y="4590288"/>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4.9</a:t>
            </a:r>
          </a:p>
        </p:txBody>
      </p:sp>
      <p:sp>
        <p:nvSpPr>
          <p:cNvPr id="79" name="TextBox 78"/>
          <p:cNvSpPr txBox="1"/>
          <p:nvPr/>
        </p:nvSpPr>
        <p:spPr>
          <a:xfrm>
            <a:off x="548640" y="4892040"/>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Rhiza</a:t>
            </a:r>
          </a:p>
        </p:txBody>
      </p:sp>
      <p:sp>
        <p:nvSpPr>
          <p:cNvPr id="80" name="Rectangle 79"/>
          <p:cNvSpPr/>
          <p:nvPr/>
        </p:nvSpPr>
        <p:spPr>
          <a:xfrm>
            <a:off x="2788920" y="4946904"/>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788920" y="4946904"/>
            <a:ext cx="16764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754880" y="4892040"/>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11/12</a:t>
            </a:r>
          </a:p>
        </p:txBody>
      </p:sp>
      <p:sp>
        <p:nvSpPr>
          <p:cNvPr id="83" name="Rectangle 82"/>
          <p:cNvSpPr/>
          <p:nvPr/>
        </p:nvSpPr>
        <p:spPr>
          <a:xfrm>
            <a:off x="5577840" y="4946904"/>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577840" y="4946904"/>
            <a:ext cx="2264198"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229600" y="4892040"/>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$4.42</a:t>
            </a:r>
          </a:p>
        </p:txBody>
      </p:sp>
      <p:sp>
        <p:nvSpPr>
          <p:cNvPr id="86" name="TextBox 85"/>
          <p:cNvSpPr txBox="1"/>
          <p:nvPr/>
        </p:nvSpPr>
        <p:spPr>
          <a:xfrm>
            <a:off x="8887968" y="4892040"/>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360,047</a:t>
            </a:r>
          </a:p>
        </p:txBody>
      </p:sp>
      <p:sp>
        <p:nvSpPr>
          <p:cNvPr id="87" name="TextBox 86"/>
          <p:cNvSpPr txBox="1"/>
          <p:nvPr/>
        </p:nvSpPr>
        <p:spPr>
          <a:xfrm>
            <a:off x="10332720" y="4892040"/>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4.9</a:t>
            </a:r>
          </a:p>
        </p:txBody>
      </p:sp>
      <p:sp>
        <p:nvSpPr>
          <p:cNvPr id="88" name="TextBox 87"/>
          <p:cNvSpPr txBox="1"/>
          <p:nvPr/>
        </p:nvSpPr>
        <p:spPr>
          <a:xfrm>
            <a:off x="548640" y="5193792"/>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ACCORD</a:t>
            </a:r>
          </a:p>
        </p:txBody>
      </p:sp>
      <p:sp>
        <p:nvSpPr>
          <p:cNvPr id="89" name="Rectangle 88"/>
          <p:cNvSpPr/>
          <p:nvPr/>
        </p:nvSpPr>
        <p:spPr>
          <a:xfrm>
            <a:off x="2788920" y="5248656"/>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2788920" y="5248656"/>
            <a:ext cx="18288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754880" y="5193792"/>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92" name="Rectangle 91"/>
          <p:cNvSpPr/>
          <p:nvPr/>
        </p:nvSpPr>
        <p:spPr>
          <a:xfrm>
            <a:off x="5577840" y="5248656"/>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577840" y="5248656"/>
            <a:ext cx="2246317"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229600" y="5193792"/>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$4.39</a:t>
            </a:r>
          </a:p>
        </p:txBody>
      </p:sp>
      <p:sp>
        <p:nvSpPr>
          <p:cNvPr id="95" name="TextBox 94"/>
          <p:cNvSpPr txBox="1"/>
          <p:nvPr/>
        </p:nvSpPr>
        <p:spPr>
          <a:xfrm>
            <a:off x="8887968" y="5193792"/>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365,355</a:t>
            </a:r>
          </a:p>
        </p:txBody>
      </p:sp>
      <p:sp>
        <p:nvSpPr>
          <p:cNvPr id="96" name="TextBox 95"/>
          <p:cNvSpPr txBox="1"/>
          <p:nvPr/>
        </p:nvSpPr>
        <p:spPr>
          <a:xfrm>
            <a:off x="10332720" y="5193792"/>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4.1</a:t>
            </a:r>
          </a:p>
        </p:txBody>
      </p:sp>
      <p:sp>
        <p:nvSpPr>
          <p:cNvPr id="97" name="TextBox 96"/>
          <p:cNvSpPr txBox="1"/>
          <p:nvPr/>
        </p:nvSpPr>
        <p:spPr>
          <a:xfrm>
            <a:off x="548640" y="5532120"/>
            <a:ext cx="11064240" cy="457200"/>
          </a:xfrm>
          <a:prstGeom prst="rect">
            <a:avLst/>
          </a:prstGeom>
          <a:noFill/>
        </p:spPr>
        <p:txBody>
          <a:bodyPr wrap="square" lIns="0" rIns="0">
            <a:spAutoFit/>
          </a:bodyPr>
          <a:lstStyle/>
          <a:p>
            <a:pPr>
              <a:spcAft>
                <a:spcPts val="1000"/>
              </a:spcAft>
              <a:defRPr sz="1700" b="0">
                <a:solidFill>
                  <a:srgbClr val="111111"/>
                </a:solidFill>
                <a:latin typeface="Calibri"/>
              </a:defRPr>
            </a:pPr>
            <a:r>
              <a:t>Sonnet + Rhiza matched Fable scratch’s 12/12 checks at 89% lower API cost. Haiku stayed incomplete in all arms.</a:t>
            </a:r>
          </a:p>
        </p:txBody>
      </p:sp>
      <p:sp>
        <p:nvSpPr>
          <p:cNvPr id="98" name="TextBox 97"/>
          <p:cNvSpPr txBox="1"/>
          <p:nvPr/>
        </p:nvSpPr>
        <p:spPr>
          <a:xfrm>
            <a:off x="548640" y="6080760"/>
            <a:ext cx="11064240" cy="228600"/>
          </a:xfrm>
          <a:prstGeom prst="rect">
            <a:avLst/>
          </a:prstGeom>
          <a:noFill/>
        </p:spPr>
        <p:txBody>
          <a:bodyPr wrap="square" lIns="0" rIns="0">
            <a:spAutoFit/>
          </a:bodyPr>
          <a:lstStyle/>
          <a:p>
            <a:pPr>
              <a:spcAft>
                <a:spcPts val="1000"/>
              </a:spcAft>
              <a:defRPr sz="1100" b="0">
                <a:solidFill>
                  <a:srgbClr val="6B6B6B"/>
                </a:solidFill>
                <a:latin typeface="Calibri"/>
              </a:defRPr>
            </a:pPr>
            <a:r>
              <a:t>One attempt per condition. Cost bars: $0–$5. Haiku 4.5 / Sonnet 5.5 / Fable 5.1. Rhiza supplied catalog context; scripts were not called.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Follow-up task: forecast the next two years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Produce Oct–Dec rainfall probabilities for 2007–08 in the same Kenyan study area (initial: 2005–06).</a:t>
            </a:r>
          </a:p>
          <a:p>
            <a:pPr>
              <a:spcAft>
                <a:spcPts val="1000"/>
              </a:spcAft>
              <a:defRPr sz="1800" b="0">
                <a:solidFill>
                  <a:srgbClr val="111111"/>
                </a:solidFill>
                <a:latin typeface="Calibri"/>
              </a:defRPr>
            </a:pPr>
            <a:r>
              <a:t>Fable, fresh conversation: reuse the saved model without refitting; validate the workflow and record repairs.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18</a:t>
            </a:r>
          </a:p>
        </p:txBody>
      </p:sp>
      <p:sp>
        <p:nvSpPr>
          <p:cNvPr id="5" name="TextBox 4"/>
          <p:cNvSpPr txBox="1"/>
          <p:nvPr/>
        </p:nvSpPr>
        <p:spPr>
          <a:xfrm>
            <a:off x="548640" y="2331720"/>
            <a:ext cx="3017520" cy="292608"/>
          </a:xfrm>
          <a:prstGeom prst="rect">
            <a:avLst/>
          </a:prstGeom>
          <a:noFill/>
        </p:spPr>
        <p:txBody>
          <a:bodyPr wrap="square" lIns="0" rIns="0">
            <a:spAutoFit/>
          </a:bodyPr>
          <a:lstStyle/>
          <a:p>
            <a:pPr>
              <a:spcAft>
                <a:spcPts val="1000"/>
              </a:spcAft>
              <a:defRPr sz="1500" b="1">
                <a:solidFill>
                  <a:srgbClr val="111111"/>
                </a:solidFill>
                <a:latin typeface="Calibri"/>
              </a:defRPr>
            </a:pPr>
            <a:r>
              <a:t>Agent API cost ($0–$5)</a:t>
            </a:r>
          </a:p>
        </p:txBody>
      </p:sp>
      <p:sp>
        <p:nvSpPr>
          <p:cNvPr id="6" name="TextBox 5"/>
          <p:cNvSpPr txBox="1"/>
          <p:nvPr/>
        </p:nvSpPr>
        <p:spPr>
          <a:xfrm>
            <a:off x="3566160" y="2331720"/>
            <a:ext cx="2788920" cy="292608"/>
          </a:xfrm>
          <a:prstGeom prst="rect">
            <a:avLst/>
          </a:prstGeom>
          <a:noFill/>
        </p:spPr>
        <p:txBody>
          <a:bodyPr wrap="square" lIns="0" rIns="0">
            <a:spAutoFit/>
          </a:bodyPr>
          <a:lstStyle/>
          <a:p>
            <a:pPr>
              <a:spcAft>
                <a:spcPts val="1000"/>
              </a:spcAft>
              <a:defRPr sz="1200" b="0">
                <a:solidFill>
                  <a:srgbClr val="111111"/>
                </a:solidFill>
                <a:latin typeface="Calibri"/>
              </a:defRPr>
            </a:pPr>
            <a:r>
              <a:t>Light: initial · dark: follow-up</a:t>
            </a:r>
          </a:p>
        </p:txBody>
      </p:sp>
      <p:sp>
        <p:nvSpPr>
          <p:cNvPr id="7" name="TextBox 6"/>
          <p:cNvSpPr txBox="1"/>
          <p:nvPr/>
        </p:nvSpPr>
        <p:spPr>
          <a:xfrm>
            <a:off x="7360920" y="2331720"/>
            <a:ext cx="4251960" cy="320040"/>
          </a:xfrm>
          <a:prstGeom prst="rect">
            <a:avLst/>
          </a:prstGeom>
          <a:noFill/>
        </p:spPr>
        <p:txBody>
          <a:bodyPr wrap="square" lIns="0" rIns="0">
            <a:spAutoFit/>
          </a:bodyPr>
          <a:lstStyle/>
          <a:p>
            <a:pPr>
              <a:spcAft>
                <a:spcPts val="1000"/>
              </a:spcAft>
              <a:defRPr sz="1500" b="1">
                <a:solidFill>
                  <a:srgbClr val="111111"/>
                </a:solidFill>
                <a:latin typeface="Calibri"/>
              </a:defRPr>
            </a:pPr>
            <a:r>
              <a:t>Follow-up: tokens / time / checks</a:t>
            </a:r>
          </a:p>
        </p:txBody>
      </p:sp>
      <p:sp>
        <p:nvSpPr>
          <p:cNvPr id="8" name="TextBox 7"/>
          <p:cNvSpPr txBox="1"/>
          <p:nvPr/>
        </p:nvSpPr>
        <p:spPr>
          <a:xfrm>
            <a:off x="548640" y="2971800"/>
            <a:ext cx="1371600" cy="320040"/>
          </a:xfrm>
          <a:prstGeom prst="rect">
            <a:avLst/>
          </a:prstGeom>
          <a:noFill/>
        </p:spPr>
        <p:txBody>
          <a:bodyPr wrap="square" lIns="0" rIns="0">
            <a:spAutoFit/>
          </a:bodyPr>
          <a:lstStyle/>
          <a:p>
            <a:pPr>
              <a:spcAft>
                <a:spcPts val="1000"/>
              </a:spcAft>
              <a:defRPr sz="1800" b="1">
                <a:solidFill>
                  <a:srgbClr val="777777"/>
                </a:solidFill>
                <a:latin typeface="Calibri"/>
              </a:defRPr>
            </a:pPr>
            <a:r>
              <a:t>Scratch</a:t>
            </a:r>
          </a:p>
        </p:txBody>
      </p:sp>
      <p:sp>
        <p:nvSpPr>
          <p:cNvPr id="9" name="Rectangle 8"/>
          <p:cNvSpPr/>
          <p:nvPr/>
        </p:nvSpPr>
        <p:spPr>
          <a:xfrm>
            <a:off x="2057400" y="2880360"/>
            <a:ext cx="2888582"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46566" y="2807208"/>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$3.36</a:t>
            </a:r>
          </a:p>
        </p:txBody>
      </p:sp>
      <p:sp>
        <p:nvSpPr>
          <p:cNvPr id="11" name="Rectangle 10"/>
          <p:cNvSpPr/>
          <p:nvPr/>
        </p:nvSpPr>
        <p:spPr>
          <a:xfrm>
            <a:off x="2057400" y="3145536"/>
            <a:ext cx="3240665"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8649" y="3072384"/>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$3.77</a:t>
            </a:r>
          </a:p>
        </p:txBody>
      </p:sp>
      <p:sp>
        <p:nvSpPr>
          <p:cNvPr id="13" name="TextBox 12"/>
          <p:cNvSpPr txBox="1"/>
          <p:nvPr/>
        </p:nvSpPr>
        <p:spPr>
          <a:xfrm>
            <a:off x="7360920" y="3026664"/>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334,053 / 3.8 min / 12/12</a:t>
            </a:r>
          </a:p>
        </p:txBody>
      </p:sp>
      <p:sp>
        <p:nvSpPr>
          <p:cNvPr id="14" name="TextBox 13"/>
          <p:cNvSpPr txBox="1"/>
          <p:nvPr/>
        </p:nvSpPr>
        <p:spPr>
          <a:xfrm>
            <a:off x="548640" y="3721607"/>
            <a:ext cx="1371600" cy="320040"/>
          </a:xfrm>
          <a:prstGeom prst="rect">
            <a:avLst/>
          </a:prstGeom>
          <a:noFill/>
        </p:spPr>
        <p:txBody>
          <a:bodyPr wrap="square" lIns="0" rIns="0">
            <a:spAutoFit/>
          </a:bodyPr>
          <a:lstStyle/>
          <a:p>
            <a:pPr>
              <a:spcAft>
                <a:spcPts val="1000"/>
              </a:spcAft>
              <a:defRPr sz="1800" b="1">
                <a:solidFill>
                  <a:srgbClr val="2F6B8A"/>
                </a:solidFill>
                <a:latin typeface="Calibri"/>
              </a:defRPr>
            </a:pPr>
            <a:r>
              <a:t>Rhiza</a:t>
            </a:r>
          </a:p>
        </p:txBody>
      </p:sp>
      <p:sp>
        <p:nvSpPr>
          <p:cNvPr id="15" name="Rectangle 14"/>
          <p:cNvSpPr/>
          <p:nvPr/>
        </p:nvSpPr>
        <p:spPr>
          <a:xfrm>
            <a:off x="2057400" y="3630168"/>
            <a:ext cx="3800618" cy="182880"/>
          </a:xfrm>
          <a:prstGeom prst="rect">
            <a:avLst/>
          </a:prstGeom>
          <a:solidFill>
            <a:srgbClr val="BCD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58602" y="3557015"/>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$4.42</a:t>
            </a:r>
          </a:p>
        </p:txBody>
      </p:sp>
      <p:sp>
        <p:nvSpPr>
          <p:cNvPr id="17" name="Rectangle 16"/>
          <p:cNvSpPr/>
          <p:nvPr/>
        </p:nvSpPr>
        <p:spPr>
          <a:xfrm>
            <a:off x="2057400" y="3895344"/>
            <a:ext cx="2053079"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1063" y="3822191"/>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$2.39</a:t>
            </a:r>
          </a:p>
        </p:txBody>
      </p:sp>
      <p:sp>
        <p:nvSpPr>
          <p:cNvPr id="19" name="TextBox 18"/>
          <p:cNvSpPr txBox="1"/>
          <p:nvPr/>
        </p:nvSpPr>
        <p:spPr>
          <a:xfrm>
            <a:off x="7360920" y="3776472"/>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213,139 / 2.5 min / 11/12</a:t>
            </a:r>
          </a:p>
        </p:txBody>
      </p:sp>
      <p:sp>
        <p:nvSpPr>
          <p:cNvPr id="20" name="TextBox 19"/>
          <p:cNvSpPr txBox="1"/>
          <p:nvPr/>
        </p:nvSpPr>
        <p:spPr>
          <a:xfrm>
            <a:off x="548640" y="4471416"/>
            <a:ext cx="1371600" cy="320040"/>
          </a:xfrm>
          <a:prstGeom prst="rect">
            <a:avLst/>
          </a:prstGeom>
          <a:noFill/>
        </p:spPr>
        <p:txBody>
          <a:bodyPr wrap="square" lIns="0" rIns="0">
            <a:spAutoFit/>
          </a:bodyPr>
          <a:lstStyle/>
          <a:p>
            <a:pPr>
              <a:spcAft>
                <a:spcPts val="1000"/>
              </a:spcAft>
              <a:defRPr sz="1800" b="1">
                <a:solidFill>
                  <a:srgbClr val="8A1C1C"/>
                </a:solidFill>
                <a:latin typeface="Calibri"/>
              </a:defRPr>
            </a:pPr>
            <a:r>
              <a:t>ACCORD</a:t>
            </a:r>
          </a:p>
        </p:txBody>
      </p:sp>
      <p:sp>
        <p:nvSpPr>
          <p:cNvPr id="21" name="Rectangle 20"/>
          <p:cNvSpPr/>
          <p:nvPr/>
        </p:nvSpPr>
        <p:spPr>
          <a:xfrm>
            <a:off x="2057400" y="4379976"/>
            <a:ext cx="3770603" cy="182880"/>
          </a:xfrm>
          <a:prstGeom prst="rect">
            <a:avLst/>
          </a:prstGeom>
          <a:solidFill>
            <a:srgbClr val="DEB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28587" y="4306824"/>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$4.39</a:t>
            </a:r>
          </a:p>
        </p:txBody>
      </p:sp>
      <p:sp>
        <p:nvSpPr>
          <p:cNvPr id="23" name="Rectangle 22"/>
          <p:cNvSpPr/>
          <p:nvPr/>
        </p:nvSpPr>
        <p:spPr>
          <a:xfrm>
            <a:off x="2057400" y="4645152"/>
            <a:ext cx="1623801"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81785" y="4572000"/>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$1.89</a:t>
            </a:r>
          </a:p>
        </p:txBody>
      </p:sp>
      <p:sp>
        <p:nvSpPr>
          <p:cNvPr id="25" name="TextBox 24"/>
          <p:cNvSpPr txBox="1"/>
          <p:nvPr/>
        </p:nvSpPr>
        <p:spPr>
          <a:xfrm>
            <a:off x="7360920" y="4526280"/>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165,576 / 2.6 min / 12/12</a:t>
            </a:r>
          </a:p>
        </p:txBody>
      </p:sp>
      <p:sp>
        <p:nvSpPr>
          <p:cNvPr id="26" name="TextBox 25"/>
          <p:cNvSpPr txBox="1"/>
          <p:nvPr/>
        </p:nvSpPr>
        <p:spPr>
          <a:xfrm>
            <a:off x="548640" y="5394960"/>
            <a:ext cx="11064240" cy="457200"/>
          </a:xfrm>
          <a:prstGeom prst="rect">
            <a:avLst/>
          </a:prstGeom>
          <a:noFill/>
        </p:spPr>
        <p:txBody>
          <a:bodyPr wrap="square" lIns="0" rIns="0">
            <a:spAutoFit/>
          </a:bodyPr>
          <a:lstStyle/>
          <a:p>
            <a:pPr>
              <a:spcAft>
                <a:spcPts val="1000"/>
              </a:spcAft>
              <a:defRPr sz="1700" b="0">
                <a:solidFill>
                  <a:srgbClr val="111111"/>
                </a:solidFill>
                <a:latin typeface="Calibri"/>
              </a:defRPr>
            </a:pPr>
            <a:r>
              <a:t>ACCORD’s follow-up: 50% fewer tokens, 50% lower cost and 31% less time than scratch.</a:t>
            </a:r>
          </a:p>
          <a:p>
            <a:pPr>
              <a:spcAft>
                <a:spcPts val="1000"/>
              </a:spcAft>
              <a:defRPr sz="1700" b="0">
                <a:solidFill>
                  <a:srgbClr val="111111"/>
                </a:solidFill>
                <a:latin typeface="Calibri"/>
              </a:defRPr>
            </a:pPr>
            <a:r>
              <a:t>Both passed 12/12 checks. Across both attempts, ACCORD cost 12% less.</a:t>
            </a:r>
          </a:p>
        </p:txBody>
      </p:sp>
      <p:sp>
        <p:nvSpPr>
          <p:cNvPr id="27" name="TextBox 26"/>
          <p:cNvSpPr txBox="1"/>
          <p:nvPr/>
        </p:nvSpPr>
        <p:spPr>
          <a:xfrm>
            <a:off x="548640" y="6080760"/>
            <a:ext cx="11064240" cy="228600"/>
          </a:xfrm>
          <a:prstGeom prst="rect">
            <a:avLst/>
          </a:prstGeom>
          <a:noFill/>
        </p:spPr>
        <p:txBody>
          <a:bodyPr wrap="square" lIns="0" rIns="0">
            <a:spAutoFit/>
          </a:bodyPr>
          <a:lstStyle/>
          <a:p>
            <a:pPr>
              <a:spcAft>
                <a:spcPts val="1000"/>
              </a:spcAft>
              <a:defRPr sz="1100" b="0">
                <a:solidFill>
                  <a:srgbClr val="6B6B6B"/>
                </a:solidFill>
                <a:latin typeface="Calibri"/>
              </a:defRPr>
            </a:pPr>
            <a:r>
              <a:t>RPS ↓: scratch 0.396; Rhiza 0.404; ACCORD 0.412. No accuracy advantage established. No fresh-workspace controls or download savings.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How good were the forecasts?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Fable in all three arms, evaluated against CHIRPS observations.</a:t>
            </a:r>
          </a:p>
          <a:p>
            <a:pPr>
              <a:spcAft>
                <a:spcPts val="1000"/>
              </a:spcAft>
              <a:defRPr sz="1800" b="0">
                <a:solidFill>
                  <a:srgbClr val="111111"/>
                </a:solidFill>
                <a:latin typeface="Calibri"/>
              </a:defRPr>
            </a:pPr>
            <a:r>
              <a:t>Ranked Probability Score (RPS): error in below / near / above probabilities; lower is better.</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19</a:t>
            </a:r>
          </a:p>
        </p:txBody>
      </p:sp>
      <p:graphicFrame>
        <p:nvGraphicFramePr>
          <p:cNvPr id="5" name="Table 4"/>
          <p:cNvGraphicFramePr>
            <a:graphicFrameLocks noGrp="1"/>
          </p:cNvGraphicFramePr>
          <p:nvPr/>
        </p:nvGraphicFramePr>
        <p:xfrm>
          <a:off x="548640" y="2286000"/>
          <a:ext cx="11064240" cy="2414016"/>
        </p:xfrm>
        <a:graphic>
          <a:graphicData uri="http://schemas.openxmlformats.org/drawingml/2006/table">
            <a:tbl>
              <a:tblPr firstRow="1" bandRow="1">
                <a:tableStyleId>{5C22544A-7EE6-4342-B048-85BDC9FD1C3A}</a:tableStyleId>
              </a:tblPr>
              <a:tblGrid>
                <a:gridCol w="5577840"/>
                <a:gridCol w="2743200"/>
                <a:gridCol w="2743200"/>
              </a:tblGrid>
              <a:tr h="402336">
                <a:tc>
                  <a:txBody>
                    <a:bodyPr/>
                    <a:lstStyle/>
                    <a:p>
                      <a:pPr>
                        <a:defRPr sz="1700" b="1">
                          <a:solidFill>
                            <a:srgbClr val="111111"/>
                          </a:solidFill>
                          <a:latin typeface="Calibri"/>
                        </a:defRPr>
                      </a:pPr>
                      <a:r>
                        <a:t>Forecast</a:t>
                      </a:r>
                    </a:p>
                  </a:txBody>
                  <a:tcPr marL="82296" marT="45720" marB="36576">
                    <a:solidFill>
                      <a:srgbClr val="EEEEEE"/>
                    </a:solidFill>
                  </a:tcPr>
                </a:tc>
                <a:tc>
                  <a:txBody>
                    <a:bodyPr/>
                    <a:lstStyle/>
                    <a:p>
                      <a:pPr>
                        <a:defRPr sz="1700" b="1">
                          <a:solidFill>
                            <a:srgbClr val="111111"/>
                          </a:solidFill>
                          <a:latin typeface="Calibri"/>
                        </a:defRPr>
                      </a:pPr>
                      <a:r>
                        <a:t>2005–06 initial</a:t>
                      </a:r>
                    </a:p>
                  </a:txBody>
                  <a:tcPr marL="82296" marT="45720" marB="36576">
                    <a:solidFill>
                      <a:srgbClr val="EEEEEE"/>
                    </a:solidFill>
                  </a:tcPr>
                </a:tc>
                <a:tc>
                  <a:txBody>
                    <a:bodyPr/>
                    <a:lstStyle/>
                    <a:p>
                      <a:pPr>
                        <a:defRPr sz="1700" b="1">
                          <a:solidFill>
                            <a:srgbClr val="111111"/>
                          </a:solidFill>
                          <a:latin typeface="Calibri"/>
                        </a:defRPr>
                      </a:pPr>
                      <a:r>
                        <a:t>2007–08 follow-up</a:t>
                      </a:r>
                    </a:p>
                  </a:txBody>
                  <a:tcPr marL="82296" marT="45720" marB="36576">
                    <a:solidFill>
                      <a:srgbClr val="EEEEEE"/>
                    </a:solidFill>
                  </a:tcPr>
                </a:tc>
              </a:tr>
              <a:tr h="402336">
                <a:tc>
                  <a:txBody>
                    <a:bodyPr/>
                    <a:lstStyle/>
                    <a:p>
                      <a:pPr>
                        <a:defRPr sz="1700" b="1">
                          <a:solidFill>
                            <a:srgbClr val="111111"/>
                          </a:solidFill>
                          <a:latin typeface="Calibri"/>
                        </a:defRPr>
                      </a:pPr>
                      <a:r>
                        <a:t>Raw ECMWF</a:t>
                      </a:r>
                    </a:p>
                  </a:txBody>
                  <a:tcPr marL="82296" marT="45720" marB="36576">
                    <a:solidFill>
                      <a:srgbClr val="FFFFFF"/>
                    </a:solidFill>
                  </a:tcPr>
                </a:tc>
                <a:tc>
                  <a:txBody>
                    <a:bodyPr/>
                    <a:lstStyle/>
                    <a:p>
                      <a:pPr>
                        <a:defRPr sz="1700" b="0">
                          <a:solidFill>
                            <a:srgbClr val="111111"/>
                          </a:solidFill>
                          <a:latin typeface="Calibri"/>
                        </a:defRPr>
                      </a:pPr>
                      <a:r>
                        <a:t>0.369</a:t>
                      </a:r>
                    </a:p>
                  </a:txBody>
                  <a:tcPr marL="82296" marT="45720" marB="36576">
                    <a:solidFill>
                      <a:srgbClr val="FFFFFF"/>
                    </a:solidFill>
                  </a:tcPr>
                </a:tc>
                <a:tc>
                  <a:txBody>
                    <a:bodyPr/>
                    <a:lstStyle/>
                    <a:p>
                      <a:pPr>
                        <a:defRPr sz="1700" b="0">
                          <a:solidFill>
                            <a:srgbClr val="111111"/>
                          </a:solidFill>
                          <a:latin typeface="Calibri"/>
                        </a:defRPr>
                      </a:pPr>
                      <a:r>
                        <a:t>0.439</a:t>
                      </a:r>
                    </a:p>
                  </a:txBody>
                  <a:tcPr marL="82296" marT="45720" marB="36576">
                    <a:solidFill>
                      <a:srgbClr val="FFFFFF"/>
                    </a:solidFill>
                  </a:tcPr>
                </a:tc>
              </a:tr>
              <a:tr h="402336">
                <a:tc>
                  <a:txBody>
                    <a:bodyPr/>
                    <a:lstStyle/>
                    <a:p>
                      <a:pPr>
                        <a:defRPr sz="1700" b="1">
                          <a:solidFill>
                            <a:srgbClr val="111111"/>
                          </a:solidFill>
                          <a:latin typeface="Calibri"/>
                        </a:defRPr>
                      </a:pPr>
                      <a:r>
                        <a:t>Simple model-climatology baseline</a:t>
                      </a:r>
                    </a:p>
                  </a:txBody>
                  <a:tcPr marL="82296" marT="45720" marB="36576">
                    <a:solidFill>
                      <a:srgbClr val="FFFFFF"/>
                    </a:solidFill>
                  </a:tcPr>
                </a:tc>
                <a:tc>
                  <a:txBody>
                    <a:bodyPr/>
                    <a:lstStyle/>
                    <a:p>
                      <a:pPr>
                        <a:defRPr sz="1700" b="0">
                          <a:solidFill>
                            <a:srgbClr val="111111"/>
                          </a:solidFill>
                          <a:latin typeface="Calibri"/>
                        </a:defRPr>
                      </a:pPr>
                      <a:r>
                        <a:t>0.296</a:t>
                      </a:r>
                    </a:p>
                  </a:txBody>
                  <a:tcPr marL="82296" marT="45720" marB="36576">
                    <a:solidFill>
                      <a:srgbClr val="FFFFFF"/>
                    </a:solidFill>
                  </a:tcPr>
                </a:tc>
                <a:tc>
                  <a:txBody>
                    <a:bodyPr/>
                    <a:lstStyle/>
                    <a:p>
                      <a:pPr>
                        <a:defRPr sz="1700" b="0">
                          <a:solidFill>
                            <a:srgbClr val="111111"/>
                          </a:solidFill>
                          <a:latin typeface="Calibri"/>
                        </a:defRPr>
                      </a:pPr>
                      <a:r>
                        <a:t>0.353</a:t>
                      </a:r>
                    </a:p>
                  </a:txBody>
                  <a:tcPr marL="82296" marT="45720" marB="36576">
                    <a:solidFill>
                      <a:srgbClr val="FFFFFF"/>
                    </a:solidFill>
                  </a:tcPr>
                </a:tc>
              </a:tr>
              <a:tr h="402336">
                <a:tc>
                  <a:txBody>
                    <a:bodyPr/>
                    <a:lstStyle/>
                    <a:p>
                      <a:pPr>
                        <a:defRPr sz="1700" b="1">
                          <a:solidFill>
                            <a:srgbClr val="777777"/>
                          </a:solidFill>
                          <a:latin typeface="Calibri"/>
                        </a:defRPr>
                      </a:pPr>
                      <a:r>
                        <a:t>Fable / scratch</a:t>
                      </a:r>
                    </a:p>
                  </a:txBody>
                  <a:tcPr marL="82296" marT="45720" marB="36576">
                    <a:solidFill>
                      <a:srgbClr val="FFFFFF"/>
                    </a:solidFill>
                  </a:tcPr>
                </a:tc>
                <a:tc>
                  <a:txBody>
                    <a:bodyPr/>
                    <a:lstStyle/>
                    <a:p>
                      <a:pPr>
                        <a:defRPr sz="1700" b="0">
                          <a:solidFill>
                            <a:srgbClr val="111111"/>
                          </a:solidFill>
                          <a:latin typeface="Calibri"/>
                        </a:defRPr>
                      </a:pPr>
                      <a:r>
                        <a:t>0.279</a:t>
                      </a:r>
                    </a:p>
                  </a:txBody>
                  <a:tcPr marL="82296" marT="45720" marB="36576">
                    <a:solidFill>
                      <a:srgbClr val="FFFFFF"/>
                    </a:solidFill>
                  </a:tcPr>
                </a:tc>
                <a:tc>
                  <a:txBody>
                    <a:bodyPr/>
                    <a:lstStyle/>
                    <a:p>
                      <a:pPr>
                        <a:defRPr sz="1700" b="0">
                          <a:solidFill>
                            <a:srgbClr val="111111"/>
                          </a:solidFill>
                          <a:latin typeface="Calibri"/>
                        </a:defRPr>
                      </a:pPr>
                      <a:r>
                        <a:t>0.396</a:t>
                      </a:r>
                    </a:p>
                  </a:txBody>
                  <a:tcPr marL="82296" marT="45720" marB="36576">
                    <a:solidFill>
                      <a:srgbClr val="FFFFFF"/>
                    </a:solidFill>
                  </a:tcPr>
                </a:tc>
              </a:tr>
              <a:tr h="402336">
                <a:tc>
                  <a:txBody>
                    <a:bodyPr/>
                    <a:lstStyle/>
                    <a:p>
                      <a:pPr>
                        <a:defRPr sz="1700" b="1">
                          <a:solidFill>
                            <a:srgbClr val="2F6B8A"/>
                          </a:solidFill>
                          <a:latin typeface="Calibri"/>
                        </a:defRPr>
                      </a:pPr>
                      <a:r>
                        <a:t>Fable / Rhiza</a:t>
                      </a:r>
                    </a:p>
                  </a:txBody>
                  <a:tcPr marL="82296" marT="45720" marB="36576">
                    <a:solidFill>
                      <a:srgbClr val="FFFFFF"/>
                    </a:solidFill>
                  </a:tcPr>
                </a:tc>
                <a:tc>
                  <a:txBody>
                    <a:bodyPr/>
                    <a:lstStyle/>
                    <a:p>
                      <a:pPr>
                        <a:defRPr sz="1700" b="0">
                          <a:solidFill>
                            <a:srgbClr val="111111"/>
                          </a:solidFill>
                          <a:latin typeface="Calibri"/>
                        </a:defRPr>
                      </a:pPr>
                      <a:r>
                        <a:t>0.281</a:t>
                      </a:r>
                    </a:p>
                  </a:txBody>
                  <a:tcPr marL="82296" marT="45720" marB="36576">
                    <a:solidFill>
                      <a:srgbClr val="FFFFFF"/>
                    </a:solidFill>
                  </a:tcPr>
                </a:tc>
                <a:tc>
                  <a:txBody>
                    <a:bodyPr/>
                    <a:lstStyle/>
                    <a:p>
                      <a:pPr>
                        <a:defRPr sz="1700" b="0">
                          <a:solidFill>
                            <a:srgbClr val="111111"/>
                          </a:solidFill>
                          <a:latin typeface="Calibri"/>
                        </a:defRPr>
                      </a:pPr>
                      <a:r>
                        <a:t>0.404</a:t>
                      </a:r>
                    </a:p>
                  </a:txBody>
                  <a:tcPr marL="82296" marT="45720" marB="36576">
                    <a:solidFill>
                      <a:srgbClr val="FFFFFF"/>
                    </a:solidFill>
                  </a:tcPr>
                </a:tc>
              </a:tr>
              <a:tr h="402336">
                <a:tc>
                  <a:txBody>
                    <a:bodyPr/>
                    <a:lstStyle/>
                    <a:p>
                      <a:pPr>
                        <a:defRPr sz="1700" b="1">
                          <a:solidFill>
                            <a:srgbClr val="8A1C1C"/>
                          </a:solidFill>
                          <a:latin typeface="Calibri"/>
                        </a:defRPr>
                      </a:pPr>
                      <a:r>
                        <a:t>Fable / ACCORD</a:t>
                      </a:r>
                    </a:p>
                  </a:txBody>
                  <a:tcPr marL="82296" marT="45720" marB="36576">
                    <a:solidFill>
                      <a:srgbClr val="FFFFFF"/>
                    </a:solidFill>
                  </a:tcPr>
                </a:tc>
                <a:tc>
                  <a:txBody>
                    <a:bodyPr/>
                    <a:lstStyle/>
                    <a:p>
                      <a:pPr>
                        <a:defRPr sz="1700" b="0">
                          <a:solidFill>
                            <a:srgbClr val="111111"/>
                          </a:solidFill>
                          <a:latin typeface="Calibri"/>
                        </a:defRPr>
                      </a:pPr>
                      <a:r>
                        <a:t>0.279</a:t>
                      </a:r>
                    </a:p>
                  </a:txBody>
                  <a:tcPr marL="82296" marT="45720" marB="36576">
                    <a:solidFill>
                      <a:srgbClr val="FFFFFF"/>
                    </a:solidFill>
                  </a:tcPr>
                </a:tc>
                <a:tc>
                  <a:txBody>
                    <a:bodyPr/>
                    <a:lstStyle/>
                    <a:p>
                      <a:pPr>
                        <a:defRPr sz="1700" b="0">
                          <a:solidFill>
                            <a:srgbClr val="111111"/>
                          </a:solidFill>
                          <a:latin typeface="Calibri"/>
                        </a:defRPr>
                      </a:pPr>
                      <a:r>
                        <a:t>0.412</a:t>
                      </a:r>
                    </a:p>
                  </a:txBody>
                  <a:tcPr marL="82296" marT="45720" marB="36576">
                    <a:solidFill>
                      <a:srgbClr val="FFFFFF"/>
                    </a:solidFill>
                  </a:tcPr>
                </a:tc>
              </a:tr>
            </a:tbl>
          </a:graphicData>
        </a:graphic>
      </p:graphicFrame>
      <p:sp>
        <p:nvSpPr>
          <p:cNvPr id="6" name="TextBox 5"/>
          <p:cNvSpPr txBox="1"/>
          <p:nvPr/>
        </p:nvSpPr>
        <p:spPr>
          <a:xfrm>
            <a:off x="548640" y="498348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All three beat raw ECMWF; initial forecast accuracy is similar across arms.</a:t>
            </a:r>
          </a:p>
          <a:p>
            <a:pPr>
              <a:spcAft>
                <a:spcPts val="1000"/>
              </a:spcAft>
              <a:defRPr sz="1800" b="0">
                <a:solidFill>
                  <a:srgbClr val="111111"/>
                </a:solidFill>
                <a:latin typeface="Calibri"/>
              </a:defRPr>
            </a:pPr>
            <a:r>
              <a:t>The simple baseline wins on the follow-up. No ACCORD accuracy advantage established.</a:t>
            </a:r>
          </a:p>
        </p:txBody>
      </p:sp>
      <p:sp>
        <p:nvSpPr>
          <p:cNvPr id="7" name="TextBox 6"/>
          <p:cNvSpPr txBox="1"/>
          <p:nvPr/>
        </p:nvSpPr>
        <p:spPr>
          <a:xfrm>
            <a:off x="548640" y="6035040"/>
            <a:ext cx="11064240" cy="274320"/>
          </a:xfrm>
          <a:prstGeom prst="rect">
            <a:avLst/>
          </a:prstGeom>
          <a:noFill/>
        </p:spPr>
        <p:txBody>
          <a:bodyPr wrap="square" lIns="0" rIns="0">
            <a:spAutoFit/>
          </a:bodyPr>
          <a:lstStyle/>
          <a:p>
            <a:pPr>
              <a:spcAft>
                <a:spcPts val="1000"/>
              </a:spcAft>
              <a:defRPr sz="1100" b="0">
                <a:solidFill>
                  <a:srgbClr val="6B6B6B"/>
                </a:solidFill>
                <a:latin typeface="Calibri"/>
              </a:defRPr>
            </a:pPr>
            <a:r>
              <a:t>Two previously inspected years per batch; general skill and calibration remain unproven. Rhiza’s predictor scored, but workflow replay failed.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Toward auto-science</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Make each experiment leave behind something the next agent can use.</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20</a:t>
            </a:r>
          </a:p>
        </p:txBody>
      </p:sp>
      <p:sp>
        <p:nvSpPr>
          <p:cNvPr id="5" name="TextBox 4"/>
          <p:cNvSpPr txBox="1"/>
          <p:nvPr/>
        </p:nvSpPr>
        <p:spPr>
          <a:xfrm>
            <a:off x="548640" y="2423160"/>
            <a:ext cx="11064240" cy="594360"/>
          </a:xfrm>
          <a:prstGeom prst="rect">
            <a:avLst/>
          </a:prstGeom>
          <a:noFill/>
        </p:spPr>
        <p:txBody>
          <a:bodyPr wrap="square" lIns="0" rIns="0">
            <a:spAutoFit/>
          </a:bodyPr>
          <a:lstStyle/>
          <a:p>
            <a:pPr>
              <a:spcAft>
                <a:spcPts val="1000"/>
              </a:spcAft>
              <a:defRPr sz="2700" b="1">
                <a:solidFill>
                  <a:srgbClr val="111111"/>
                </a:solidFill>
                <a:latin typeface="Calibri"/>
              </a:defRPr>
            </a:pPr>
            <a:r>
              <a:t>Research  →  Hypothesis  →  Experiment  →  Evaluate</a:t>
            </a:r>
          </a:p>
        </p:txBody>
      </p:sp>
      <p:sp>
        <p:nvSpPr>
          <p:cNvPr id="6" name="TextBox 5"/>
          <p:cNvSpPr txBox="1"/>
          <p:nvPr/>
        </p:nvSpPr>
        <p:spPr>
          <a:xfrm>
            <a:off x="548640" y="3657600"/>
            <a:ext cx="11064240" cy="640080"/>
          </a:xfrm>
          <a:prstGeom prst="rect">
            <a:avLst/>
          </a:prstGeom>
          <a:noFill/>
        </p:spPr>
        <p:txBody>
          <a:bodyPr wrap="square" lIns="0" rIns="0">
            <a:spAutoFit/>
          </a:bodyPr>
          <a:lstStyle/>
          <a:p>
            <a:pPr>
              <a:spcAft>
                <a:spcPts val="1000"/>
              </a:spcAft>
              <a:defRPr sz="2300" b="0">
                <a:solidFill>
                  <a:srgbClr val="111111"/>
                </a:solidFill>
                <a:latin typeface="Calibri"/>
              </a:defRPr>
            </a:pPr>
            <a:r>
              <a:t>Keep tested code, data, fitted models, findings and failed attempts.</a:t>
            </a:r>
          </a:p>
        </p:txBody>
      </p:sp>
      <p:sp>
        <p:nvSpPr>
          <p:cNvPr id="7" name="TextBox 6"/>
          <p:cNvSpPr txBox="1"/>
          <p:nvPr/>
        </p:nvSpPr>
        <p:spPr>
          <a:xfrm>
            <a:off x="548640" y="4572000"/>
            <a:ext cx="11064240" cy="640080"/>
          </a:xfrm>
          <a:prstGeom prst="rect">
            <a:avLst/>
          </a:prstGeom>
          <a:noFill/>
        </p:spPr>
        <p:txBody>
          <a:bodyPr wrap="square" lIns="0" rIns="0">
            <a:spAutoFit/>
          </a:bodyPr>
          <a:lstStyle/>
          <a:p>
            <a:pPr>
              <a:spcAft>
                <a:spcPts val="1000"/>
              </a:spcAft>
              <a:defRPr sz="2300" b="0">
                <a:solidFill>
                  <a:srgbClr val="111111"/>
                </a:solidFill>
                <a:latin typeface="Calibri"/>
              </a:defRPr>
            </a:pPr>
            <a:r>
              <a:t>Use that shared record to choose and run the next experiment.</a:t>
            </a:r>
          </a:p>
        </p:txBody>
      </p:sp>
      <p:sp>
        <p:nvSpPr>
          <p:cNvPr id="8" name="TextBox 7"/>
          <p:cNvSpPr txBox="1"/>
          <p:nvPr/>
        </p:nvSpPr>
        <p:spPr>
          <a:xfrm>
            <a:off x="548640" y="5760720"/>
            <a:ext cx="11064240" cy="365760"/>
          </a:xfrm>
          <a:prstGeom prst="rect">
            <a:avLst/>
          </a:prstGeom>
          <a:noFill/>
        </p:spPr>
        <p:txBody>
          <a:bodyPr wrap="square" lIns="0" rIns="0">
            <a:spAutoFit/>
          </a:bodyPr>
          <a:lstStyle/>
          <a:p>
            <a:pPr>
              <a:spcAft>
                <a:spcPts val="1000"/>
              </a:spcAft>
              <a:defRPr sz="1600" b="0">
                <a:solidFill>
                  <a:srgbClr val="555555"/>
                </a:solidFill>
                <a:latin typeface="Calibri"/>
              </a:defRPr>
            </a:pPr>
            <a:r>
              <a:t>Today: measure completion, cost and reuse. Next: test whether scientific improvements accumulate.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